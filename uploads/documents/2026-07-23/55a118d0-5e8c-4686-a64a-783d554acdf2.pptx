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Lst>
  <p:sldIdLst>
    <p:sldId id="264" r:id="rId4"/>
    <p:sldId id="263" r:id="rId5"/>
    <p:sldId id="257" r:id="rId6"/>
    <p:sldId id="258" r:id="rId7"/>
    <p:sldId id="259" r:id="rId8"/>
    <p:sldId id="260" r:id="rId9"/>
    <p:sldId id="261" r:id="rId10"/>
    <p:sldId id="265" r:id="rId11"/>
    <p:sldId id="270" r:id="rId12"/>
    <p:sldId id="271" r:id="rId13"/>
    <p:sldId id="272" r:id="rId14"/>
    <p:sldId id="277" r:id="rId15"/>
    <p:sldId id="269" r:id="rId16"/>
    <p:sldId id="278" r:id="rId17"/>
    <p:sldId id="279" r:id="rId18"/>
    <p:sldId id="280" r:id="rId19"/>
    <p:sldId id="275" r:id="rId20"/>
    <p:sldId id="276" r:id="rId21"/>
    <p:sldId id="267" r:id="rId22"/>
    <p:sldId id="281" r:id="rId23"/>
    <p:sldId id="282" r:id="rId24"/>
    <p:sldId id="283" r:id="rId25"/>
    <p:sldId id="284" r:id="rId26"/>
    <p:sldId id="285" r:id="rId27"/>
    <p:sldId id="292" r:id="rId28"/>
    <p:sldId id="286" r:id="rId29"/>
    <p:sldId id="287" r:id="rId30"/>
    <p:sldId id="288" r:id="rId31"/>
    <p:sldId id="289" r:id="rId32"/>
    <p:sldId id="290" r:id="rId33"/>
    <p:sldId id="291" r:id="rId34"/>
    <p:sldId id="298" r:id="rId35"/>
    <p:sldId id="293" r:id="rId36"/>
    <p:sldId id="294" r:id="rId37"/>
    <p:sldId id="295" r:id="rId38"/>
    <p:sldId id="296" r:id="rId39"/>
    <p:sldId id="297" r:id="rId40"/>
    <p:sldId id="262" r:id="rId4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1584AE-3BDA-2D40-9AB6-9A5CA8B79C93}" v="230" dt="2026-07-17T07:41:48.285"/>
    <p1510:client id="{29F4B52E-FF1D-AB2F-2A07-966071153A3E}" v="24" dt="2026-07-17T07:18:05.933"/>
    <p1510:client id="{5D65A21D-167A-13A9-4349-622AAB573DC8}" v="443" dt="2026-07-17T10:02:16.291"/>
    <p1510:client id="{9B7B8896-E8EC-1295-437D-2BED7EE38FD2}" v="112" dt="2026-07-17T10:13:53.955"/>
    <p1510:client id="{DD73C2C1-3839-40AB-25B8-6E22930CEA1F}" v="280" dt="2026-07-17T09:31:11.9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microsoft.com/office/2015/10/relationships/revisionInfo" Target="revisionInfo.xml"/><Relationship Id="rId20" Type="http://schemas.openxmlformats.org/officeDocument/2006/relationships/slide" Target="slides/slide17.xml"/><Relationship Id="rId41"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5BD34FF9-B7BC-4F87-BCAF-652495B2C1AB}"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Tree>
    <p:extLst>
      <p:ext uri="{BB962C8B-B14F-4D97-AF65-F5344CB8AC3E}">
        <p14:creationId xmlns:p14="http://schemas.microsoft.com/office/powerpoint/2010/main" val="22480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1152D-1735-4039-5C36-0DC0791BC8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22954-D232-6FD0-4113-F7E9B468142E}"/>
              </a:ext>
            </a:extLst>
          </p:cNvPr>
          <p:cNvSpPr>
            <a:spLocks noGrp="1"/>
          </p:cNvSpPr>
          <p:nvPr>
            <p:ph sz="half" idx="1"/>
          </p:nvPr>
        </p:nvSpPr>
        <p:spPr>
          <a:xfrm>
            <a:off x="246492" y="1014592"/>
            <a:ext cx="5738190" cy="55054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2EF9B-D674-A8A1-57DD-A551BF6223C3}"/>
              </a:ext>
            </a:extLst>
          </p:cNvPr>
          <p:cNvSpPr>
            <a:spLocks noGrp="1"/>
          </p:cNvSpPr>
          <p:nvPr>
            <p:ph sz="half" idx="2"/>
          </p:nvPr>
        </p:nvSpPr>
        <p:spPr>
          <a:xfrm>
            <a:off x="6321287" y="1014592"/>
            <a:ext cx="5756743" cy="55054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3164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608781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09EE-316B-7C5C-7BEB-4E5461E5FC28}"/>
              </a:ext>
            </a:extLst>
          </p:cNvPr>
          <p:cNvSpPr>
            <a:spLocks noGrp="1"/>
          </p:cNvSpPr>
          <p:nvPr>
            <p:ph type="title"/>
          </p:nvPr>
        </p:nvSpPr>
        <p:spPr>
          <a:xfrm>
            <a:off x="310101" y="110684"/>
            <a:ext cx="11721600" cy="7488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9F9312F-CCE0-70CB-446C-293199107905}"/>
              </a:ext>
            </a:extLst>
          </p:cNvPr>
          <p:cNvSpPr>
            <a:spLocks noGrp="1"/>
          </p:cNvSpPr>
          <p:nvPr>
            <p:ph idx="1"/>
          </p:nvPr>
        </p:nvSpPr>
        <p:spPr>
          <a:xfrm>
            <a:off x="182879" y="985962"/>
            <a:ext cx="11848821" cy="5510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83259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sp>
        <p:nvSpPr>
          <p:cNvPr id="30" name="Rectangle 5"/>
          <p:cNvSpPr/>
          <p:nvPr/>
        </p:nvSpPr>
        <p:spPr>
          <a:xfrm>
            <a:off x="274320" y="6515280"/>
            <a:ext cx="2913120" cy="330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07920">
              <a:lnSpc>
                <a:spcPct val="100000"/>
              </a:lnSpc>
            </a:pPr>
            <a:r>
              <a:rPr lang="en-US" sz="1200" b="0" u="none" strike="noStrike">
                <a:solidFill>
                  <a:schemeClr val="dk1">
                    <a:lumMod val="95000"/>
                    <a:lumOff val="5000"/>
                  </a:schemeClr>
                </a:solidFill>
                <a:effectLst/>
                <a:uFillTx/>
                <a:latin typeface="Calibri"/>
                <a:ea typeface="Calibri"/>
              </a:rPr>
              <a:t>© 2026 Aithent.           All Rights Reserved.</a:t>
            </a:r>
            <a:endParaRPr lang="en-IN" sz="1200" b="0" u="none" strike="noStrike">
              <a:solidFill>
                <a:srgbClr val="000000"/>
              </a:solidFill>
              <a:effectLst/>
              <a:uFillTx/>
              <a:latin typeface="Arial"/>
            </a:endParaRPr>
          </a:p>
        </p:txBody>
      </p:sp>
      <p:sp>
        <p:nvSpPr>
          <p:cNvPr id="31" name="Rectangle 4"/>
          <p:cNvSpPr/>
          <p:nvPr/>
        </p:nvSpPr>
        <p:spPr>
          <a:xfrm>
            <a:off x="11578320" y="6450840"/>
            <a:ext cx="498960" cy="45972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fld id="{0223170B-8863-4EEE-A2D8-ACB6B3BC6C70}" type="slidenum">
              <a:rPr lang="en-US" sz="1800" b="0" u="none" strike="noStrike">
                <a:solidFill>
                  <a:schemeClr val="dk1"/>
                </a:solidFill>
                <a:effectLst/>
                <a:uFillTx/>
                <a:latin typeface="Calibri"/>
              </a:rPr>
              <a:t>‹#›</a:t>
            </a:fld>
            <a:endParaRPr lang="en-IN" sz="1800" b="0" u="none" strike="noStrike">
              <a:solidFill>
                <a:srgbClr val="000000"/>
              </a:solidFill>
              <a:effectLst/>
              <a:uFillTx/>
              <a:latin typeface="Arial"/>
            </a:endParaRPr>
          </a:p>
        </p:txBody>
      </p:sp>
      <p:sp>
        <p:nvSpPr>
          <p:cNvPr id="32" name="Right Triangle 3"/>
          <p:cNvSpPr/>
          <p:nvPr/>
        </p:nvSpPr>
        <p:spPr>
          <a:xfrm rot="5400000">
            <a:off x="-170280" y="171000"/>
            <a:ext cx="819360" cy="476280"/>
          </a:xfrm>
          <a:prstGeom prst="rtTriangle">
            <a:avLst/>
          </a:prstGeom>
          <a:gradFill rotWithShape="0">
            <a:gsLst>
              <a:gs pos="0">
                <a:srgbClr val="9F484B"/>
              </a:gs>
              <a:gs pos="32856">
                <a:srgbClr val="533A7B"/>
              </a:gs>
              <a:gs pos="81000">
                <a:srgbClr val="6F2E56"/>
              </a:gs>
              <a:gs pos="83000">
                <a:srgbClr val="86334F"/>
              </a:gs>
            </a:gsLst>
            <a:lin ang="81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IN" sz="1800" b="0" u="none" strike="noStrike">
              <a:solidFill>
                <a:schemeClr val="lt1"/>
              </a:solidFill>
              <a:effectLst/>
              <a:uFillTx/>
              <a:latin typeface="Aptos"/>
            </a:endParaRPr>
          </a:p>
        </p:txBody>
      </p:sp>
      <p:sp>
        <p:nvSpPr>
          <p:cNvPr id="33" name="PlaceHolder 1"/>
          <p:cNvSpPr>
            <a:spLocks noGrp="1"/>
          </p:cNvSpPr>
          <p:nvPr>
            <p:ph type="title"/>
          </p:nvPr>
        </p:nvSpPr>
        <p:spPr>
          <a:xfrm>
            <a:off x="309960" y="110520"/>
            <a:ext cx="11720880" cy="7480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3600" b="0" u="none" strike="noStrike">
                <a:solidFill>
                  <a:schemeClr val="dk1"/>
                </a:solidFill>
                <a:effectLst/>
                <a:uFillTx/>
                <a:latin typeface="Calibri"/>
                <a:ea typeface="Calibri"/>
              </a:defRPr>
            </a:lvl1pPr>
          </a:lstStyle>
          <a:p>
            <a:pPr indent="0" algn="l" defTabSz="914400">
              <a:lnSpc>
                <a:spcPct val="90000"/>
              </a:lnSpc>
              <a:buNone/>
              <a:tabLst>
                <a:tab pos="0" algn="l"/>
              </a:tabLst>
            </a:pPr>
            <a:r>
              <a:rPr lang="en-US" sz="3600" b="0" u="none" strike="noStrike">
                <a:solidFill>
                  <a:schemeClr val="dk1"/>
                </a:solidFill>
                <a:effectLst/>
                <a:uFillTx/>
                <a:latin typeface="Calibri"/>
                <a:ea typeface="Calibri"/>
              </a:rPr>
              <a:t>Click to edit Master title style</a:t>
            </a:r>
            <a:endParaRPr lang="en-US" sz="3600" b="0" u="none" strike="noStrike">
              <a:solidFill>
                <a:schemeClr val="dk1"/>
              </a:solidFill>
              <a:effectLst/>
              <a:uFillTx/>
              <a:latin typeface="Calibri"/>
            </a:endParaRPr>
          </a:p>
        </p:txBody>
      </p:sp>
      <p:sp>
        <p:nvSpPr>
          <p:cNvPr id="34" name="PlaceHolder 2"/>
          <p:cNvSpPr>
            <a:spLocks noGrp="1"/>
          </p:cNvSpPr>
          <p:nvPr>
            <p:ph type="body"/>
          </p:nvPr>
        </p:nvSpPr>
        <p:spPr>
          <a:xfrm>
            <a:off x="182880" y="986040"/>
            <a:ext cx="11847960" cy="55094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ea typeface="Calibri"/>
              </a:defRPr>
            </a:lvl1pPr>
            <a:lvl2pPr lvl="1" algn="l" defTabSz="914400">
              <a:lnSpc>
                <a:spcPct val="90000"/>
              </a:lnSpc>
              <a:spcBef>
                <a:spcPts val="499"/>
              </a:spcBef>
              <a:buClr>
                <a:srgbClr val="000000"/>
              </a:buClr>
              <a:buSzPct val="80000"/>
              <a:buFont typeface="Wingdings" charset="2"/>
              <a:buChar char=""/>
              <a:defRPr lang="en-US" sz="2400" b="0" u="none" strike="noStrike">
                <a:solidFill>
                  <a:schemeClr val="dk1"/>
                </a:solidFill>
                <a:effectLst/>
                <a:uFillTx/>
                <a:latin typeface="Calibri"/>
                <a:ea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ea typeface="Calibri"/>
              </a:defRPr>
            </a:lvl3pPr>
            <a:lvl4pPr lvl="3" algn="l" defTabSz="914400">
              <a:lnSpc>
                <a:spcPct val="90000"/>
              </a:lnSpc>
              <a:spcBef>
                <a:spcPts val="499"/>
              </a:spcBef>
              <a:buClr>
                <a:srgbClr val="000000"/>
              </a:buClr>
              <a:buFont typeface="Wingdings" charset="2"/>
              <a:buChar char=""/>
              <a:defRPr lang="en-US" sz="1800" b="0" u="none" strike="noStrike">
                <a:solidFill>
                  <a:schemeClr val="dk1"/>
                </a:solidFill>
                <a:effectLst/>
                <a:uFillTx/>
                <a:latin typeface="Calibri"/>
                <a:ea typeface="Calibri"/>
              </a:defRPr>
            </a:lvl4pPr>
            <a:lvl5pPr lvl="4" algn="l" defTabSz="914400">
              <a:lnSpc>
                <a:spcPct val="90000"/>
              </a:lnSpc>
              <a:spcBef>
                <a:spcPts val="499"/>
              </a:spcBef>
              <a:buClr>
                <a:srgbClr val="000000"/>
              </a:buClr>
              <a:buFont typeface="Arial"/>
              <a:buChar char="•"/>
              <a:defRPr lang="en-US" sz="1600" b="0" u="none" strike="noStrike">
                <a:solidFill>
                  <a:schemeClr val="dk1"/>
                </a:solidFill>
                <a:effectLst/>
                <a:uFillTx/>
                <a:latin typeface="Calibri"/>
                <a:ea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ea typeface="Calibri"/>
              </a:rPr>
              <a:t>Click to edit Master text styles</a:t>
            </a:r>
            <a:endParaRPr lang="en-US" sz="2800" b="0" u="none" strike="noStrike">
              <a:solidFill>
                <a:schemeClr val="dk1"/>
              </a:solidFill>
              <a:effectLst/>
              <a:uFillTx/>
              <a:latin typeface="Calibri"/>
            </a:endParaRPr>
          </a:p>
          <a:p>
            <a:pPr marL="800280" lvl="1" indent="-343080" algn="l" defTabSz="914400">
              <a:lnSpc>
                <a:spcPct val="90000"/>
              </a:lnSpc>
              <a:spcBef>
                <a:spcPts val="499"/>
              </a:spcBef>
              <a:buClr>
                <a:srgbClr val="000000"/>
              </a:buClr>
              <a:buSzPct val="80000"/>
              <a:buFont typeface="Wingdings" charset="2"/>
              <a:buChar char=""/>
            </a:pPr>
            <a:r>
              <a:rPr lang="en-US" sz="2400" b="0" u="none" strike="noStrike">
                <a:solidFill>
                  <a:schemeClr val="dk1"/>
                </a:solidFill>
                <a:effectLst/>
                <a:uFillTx/>
                <a:latin typeface="Calibri"/>
                <a:ea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ea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Wingdings" charset="2"/>
              <a:buChar char=""/>
            </a:pPr>
            <a:r>
              <a:rPr lang="en-US" sz="1800" b="0" u="none" strike="noStrike">
                <a:solidFill>
                  <a:schemeClr val="dk1"/>
                </a:solidFill>
                <a:effectLst/>
                <a:uFillTx/>
                <a:latin typeface="Calibri"/>
                <a:ea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600" b="0" u="none" strike="noStrike">
                <a:solidFill>
                  <a:schemeClr val="dk1"/>
                </a:solidFill>
                <a:effectLst/>
                <a:uFillTx/>
                <a:latin typeface="Calibri"/>
                <a:ea typeface="Calibri"/>
              </a:rPr>
              <a:t>Fifth level</a:t>
            </a:r>
            <a:endParaRPr lang="en-US" sz="1600" b="0" u="none" strike="noStrike">
              <a:solidFill>
                <a:schemeClr val="dk1"/>
              </a:solidFill>
              <a:effectLst/>
              <a:uFillTx/>
              <a:latin typeface="Calibri"/>
            </a:endParaRPr>
          </a:p>
        </p:txBody>
      </p:sp>
    </p:spTree>
    <p:extLst>
      <p:ext uri="{BB962C8B-B14F-4D97-AF65-F5344CB8AC3E}">
        <p14:creationId xmlns:p14="http://schemas.microsoft.com/office/powerpoint/2010/main" val="107543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B6EBD82A-A982-4802-8F0D-65CAFB5B4431}"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5"/>
          <p:cNvSpPr/>
          <p:nvPr/>
        </p:nvSpPr>
        <p:spPr>
          <a:xfrm>
            <a:off x="274320" y="6515280"/>
            <a:ext cx="2912760" cy="3304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07920">
              <a:lnSpc>
                <a:spcPct val="100000"/>
              </a:lnSpc>
            </a:pPr>
            <a:r>
              <a:rPr lang="en-US" sz="1200" b="0" strike="noStrike" spc="-1">
                <a:solidFill>
                  <a:schemeClr val="dk1">
                    <a:lumMod val="95000"/>
                    <a:lumOff val="5000"/>
                  </a:schemeClr>
                </a:solidFill>
                <a:latin typeface="Calibri"/>
                <a:ea typeface="Calibri"/>
              </a:rPr>
              <a:t>© 2026 Aithent.           All Rights Reserved.</a:t>
            </a:r>
            <a:endParaRPr lang="en-IN" sz="1200" b="0" strike="noStrike" spc="-1">
              <a:solidFill>
                <a:srgbClr val="000000"/>
              </a:solidFill>
              <a:latin typeface="Arial"/>
            </a:endParaRPr>
          </a:p>
        </p:txBody>
      </p:sp>
      <p:sp>
        <p:nvSpPr>
          <p:cNvPr id="14" name="Rectangle 4"/>
          <p:cNvSpPr/>
          <p:nvPr/>
        </p:nvSpPr>
        <p:spPr>
          <a:xfrm>
            <a:off x="11578320" y="6450840"/>
            <a:ext cx="498600" cy="45936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fld id="{B4F0D072-606B-4B44-95A8-25CF1E79B349}" type="slidenum">
              <a:rPr lang="en-US" sz="1800" b="0" strike="noStrike" spc="-1">
                <a:solidFill>
                  <a:schemeClr val="dk1"/>
                </a:solidFill>
                <a:latin typeface="Calibri"/>
              </a:rPr>
              <a:t>‹#›</a:t>
            </a:fld>
            <a:endParaRPr lang="en-IN" sz="1800" b="0" strike="noStrike" spc="-1">
              <a:solidFill>
                <a:srgbClr val="000000"/>
              </a:solidFill>
              <a:latin typeface="Arial"/>
            </a:endParaRPr>
          </a:p>
        </p:txBody>
      </p:sp>
      <p:sp>
        <p:nvSpPr>
          <p:cNvPr id="2" name="Right Triangle 3"/>
          <p:cNvSpPr/>
          <p:nvPr/>
        </p:nvSpPr>
        <p:spPr>
          <a:xfrm rot="5400000">
            <a:off x="-169560" y="170640"/>
            <a:ext cx="819000" cy="475920"/>
          </a:xfrm>
          <a:prstGeom prst="rtTriangle">
            <a:avLst/>
          </a:prstGeom>
          <a:gradFill rotWithShape="0">
            <a:gsLst>
              <a:gs pos="0">
                <a:srgbClr val="9F484B"/>
              </a:gs>
              <a:gs pos="32856">
                <a:srgbClr val="533A7B"/>
              </a:gs>
              <a:gs pos="81000">
                <a:srgbClr val="6F2E56"/>
              </a:gs>
              <a:gs pos="83000">
                <a:srgbClr val="86334F"/>
              </a:gs>
            </a:gsLst>
            <a:lin ang="81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IN" sz="1800" b="0" strike="noStrike" spc="-1">
              <a:solidFill>
                <a:schemeClr val="lt1"/>
              </a:solidFill>
              <a:latin typeface="Aptos"/>
            </a:endParaRPr>
          </a:p>
        </p:txBody>
      </p:sp>
      <p:sp>
        <p:nvSpPr>
          <p:cNvPr id="3" name="Rectangle 19"/>
          <p:cNvSpPr/>
          <p:nvPr/>
        </p:nvSpPr>
        <p:spPr>
          <a:xfrm>
            <a:off x="274320" y="6258600"/>
            <a:ext cx="11916720" cy="598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 b="0" strike="noStrike" spc="-1">
              <a:solidFill>
                <a:schemeClr val="lt1"/>
              </a:solidFill>
              <a:latin typeface="Aptos"/>
            </a:endParaRPr>
          </a:p>
        </p:txBody>
      </p:sp>
      <p:sp>
        <p:nvSpPr>
          <p:cNvPr id="4" name="Rectangle 10"/>
          <p:cNvSpPr/>
          <p:nvPr/>
        </p:nvSpPr>
        <p:spPr>
          <a:xfrm>
            <a:off x="8426520" y="6073200"/>
            <a:ext cx="3110040" cy="724680"/>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IN" sz="1800" b="0" strike="noStrike" spc="-1">
              <a:solidFill>
                <a:schemeClr val="lt1"/>
              </a:solidFill>
              <a:latin typeface="Aptos"/>
            </a:endParaRPr>
          </a:p>
        </p:txBody>
      </p:sp>
      <p:sp>
        <p:nvSpPr>
          <p:cNvPr id="5" name="Rectangle 6"/>
          <p:cNvSpPr/>
          <p:nvPr/>
        </p:nvSpPr>
        <p:spPr>
          <a:xfrm>
            <a:off x="0" y="0"/>
            <a:ext cx="1903320" cy="945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 b="0" strike="noStrike" spc="-1">
              <a:solidFill>
                <a:schemeClr val="lt1"/>
              </a:solidFill>
              <a:latin typeface="Aptos"/>
            </a:endParaRPr>
          </a:p>
        </p:txBody>
      </p:sp>
      <p:pic>
        <p:nvPicPr>
          <p:cNvPr id="6" name="Picture 2"/>
          <p:cNvPicPr/>
          <p:nvPr/>
        </p:nvPicPr>
        <p:blipFill>
          <a:blip r:embed="rId4"/>
          <a:stretch/>
        </p:blipFill>
        <p:spPr>
          <a:xfrm>
            <a:off x="0" y="-4680"/>
            <a:ext cx="12199320" cy="6861600"/>
          </a:xfrm>
          <a:prstGeom prst="rect">
            <a:avLst/>
          </a:prstGeom>
          <a:ln w="0">
            <a:noFill/>
          </a:ln>
        </p:spPr>
      </p:pic>
      <p:pic>
        <p:nvPicPr>
          <p:cNvPr id="7" name="Picture 3"/>
          <p:cNvPicPr/>
          <p:nvPr/>
        </p:nvPicPr>
        <p:blipFill>
          <a:blip r:embed="rId5"/>
          <a:stretch/>
        </p:blipFill>
        <p:spPr>
          <a:xfrm>
            <a:off x="7305120" y="0"/>
            <a:ext cx="4894200" cy="5832720"/>
          </a:xfrm>
          <a:prstGeom prst="rect">
            <a:avLst/>
          </a:prstGeom>
          <a:ln w="0">
            <a:noFill/>
          </a:ln>
        </p:spPr>
      </p:pic>
      <p:sp>
        <p:nvSpPr>
          <p:cNvPr id="8"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9" name="PlaceHolder 2"/>
          <p:cNvSpPr>
            <a:spLocks noGrp="1"/>
          </p:cNvSpPr>
          <p:nvPr>
            <p:ph type="ftr" idx="1"/>
          </p:nvPr>
        </p:nvSpPr>
        <p:spPr>
          <a:xfrm>
            <a:off x="4038480" y="6356520"/>
            <a:ext cx="4113720" cy="36396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IN" sz="1400" b="0" strike="noStrike" spc="-1">
                <a:solidFill>
                  <a:srgbClr val="000000"/>
                </a:solidFill>
                <a:latin typeface="Times New Roman"/>
              </a:defRPr>
            </a:lvl1pPr>
          </a:lstStyle>
          <a:p>
            <a:pPr indent="0" algn="ctr">
              <a:lnSpc>
                <a:spcPct val="100000"/>
              </a:lnSpc>
              <a:buNone/>
              <a:tabLst>
                <a:tab pos="0" algn="l"/>
              </a:tabLst>
            </a:pPr>
            <a:r>
              <a:rPr lang="en-IN" sz="1400" b="0" strike="noStrike" spc="-1">
                <a:solidFill>
                  <a:srgbClr val="000000"/>
                </a:solidFill>
                <a:latin typeface="Times New Roman"/>
              </a:rPr>
              <a:t>&lt;footer&gt;</a:t>
            </a:r>
          </a:p>
        </p:txBody>
      </p:sp>
      <p:sp>
        <p:nvSpPr>
          <p:cNvPr id="10" name="PlaceHolder 3"/>
          <p:cNvSpPr>
            <a:spLocks noGrp="1"/>
          </p:cNvSpPr>
          <p:nvPr>
            <p:ph type="sldNum" idx="2"/>
          </p:nvPr>
        </p:nvSpPr>
        <p:spPr>
          <a:xfrm>
            <a:off x="8610480" y="6356520"/>
            <a:ext cx="2742120" cy="3639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strike="noStrike" spc="-1">
                <a:solidFill>
                  <a:schemeClr val="dk1"/>
                </a:solidFill>
                <a:latin typeface="Aptos"/>
              </a:defRPr>
            </a:lvl1pPr>
          </a:lstStyle>
          <a:p>
            <a:pPr indent="0" defTabSz="914400">
              <a:lnSpc>
                <a:spcPct val="100000"/>
              </a:lnSpc>
              <a:buNone/>
              <a:tabLst>
                <a:tab pos="0" algn="l"/>
              </a:tabLst>
            </a:pPr>
            <a:fld id="{7AE30AC4-B78D-4FF1-867A-0B694B361068}" type="slidenum">
              <a:rPr lang="en-US" sz="1800" b="0" strike="noStrike" spc="-1">
                <a:solidFill>
                  <a:schemeClr val="dk1"/>
                </a:solidFill>
                <a:latin typeface="Aptos"/>
              </a:rPr>
              <a:t>‹#›</a:t>
            </a:fld>
            <a:endParaRPr lang="en-IN" sz="1800" b="0" strike="noStrike" spc="-1">
              <a:solidFill>
                <a:srgbClr val="000000"/>
              </a:solidFill>
              <a:latin typeface="Times New Roman"/>
            </a:endParaRPr>
          </a:p>
        </p:txBody>
      </p:sp>
      <p:sp>
        <p:nvSpPr>
          <p:cNvPr id="11" name="PlaceHolder 4"/>
          <p:cNvSpPr>
            <a:spLocks noGrp="1"/>
          </p:cNvSpPr>
          <p:nvPr>
            <p:ph type="dt" idx="3"/>
          </p:nvPr>
        </p:nvSpPr>
        <p:spPr>
          <a:xfrm>
            <a:off x="838080" y="6356520"/>
            <a:ext cx="2742120" cy="363960"/>
          </a:xfrm>
          <a:prstGeom prst="rect">
            <a:avLst/>
          </a:prstGeom>
          <a:noFill/>
          <a:ln w="0">
            <a:noFill/>
          </a:ln>
        </p:spPr>
        <p:txBody>
          <a:bodyPr lIns="90000" tIns="45000" rIns="90000" bIns="45000" anchor="t">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12"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5"/>
          <p:cNvSpPr/>
          <p:nvPr/>
        </p:nvSpPr>
        <p:spPr>
          <a:xfrm>
            <a:off x="274320" y="6515280"/>
            <a:ext cx="2912760" cy="3304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07920">
              <a:lnSpc>
                <a:spcPct val="100000"/>
              </a:lnSpc>
            </a:pPr>
            <a:r>
              <a:rPr lang="en-US" sz="1200" b="0" strike="noStrike" spc="-1">
                <a:solidFill>
                  <a:schemeClr val="dk1">
                    <a:lumMod val="95000"/>
                    <a:lumOff val="5000"/>
                  </a:schemeClr>
                </a:solidFill>
                <a:latin typeface="Calibri"/>
                <a:ea typeface="Calibri"/>
              </a:rPr>
              <a:t>© 2026 Aithent.           All Rights Reserved.</a:t>
            </a:r>
            <a:endParaRPr lang="en-IN" sz="1200" b="0" strike="noStrike" spc="-1">
              <a:solidFill>
                <a:srgbClr val="000000"/>
              </a:solidFill>
              <a:latin typeface="Arial"/>
            </a:endParaRPr>
          </a:p>
        </p:txBody>
      </p:sp>
      <p:sp>
        <p:nvSpPr>
          <p:cNvPr id="16" name="Rectangle 4"/>
          <p:cNvSpPr/>
          <p:nvPr/>
        </p:nvSpPr>
        <p:spPr>
          <a:xfrm>
            <a:off x="11578320" y="6450840"/>
            <a:ext cx="498600" cy="45936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fld id="{F4ACE548-798A-4CD8-A2DE-61CE5DA0E948}" type="slidenum">
              <a:rPr lang="en-US" sz="1800" b="0" strike="noStrike" spc="-1">
                <a:solidFill>
                  <a:schemeClr val="dk1"/>
                </a:solidFill>
                <a:latin typeface="Calibri"/>
              </a:rPr>
              <a:t>‹#›</a:t>
            </a:fld>
            <a:endParaRPr lang="en-IN" sz="1800" b="0" strike="noStrike" spc="-1">
              <a:solidFill>
                <a:srgbClr val="000000"/>
              </a:solidFill>
              <a:latin typeface="Arial"/>
            </a:endParaRPr>
          </a:p>
        </p:txBody>
      </p:sp>
      <p:sp>
        <p:nvSpPr>
          <p:cNvPr id="17" name="Right Triangle 3"/>
          <p:cNvSpPr/>
          <p:nvPr/>
        </p:nvSpPr>
        <p:spPr>
          <a:xfrm rot="5400000">
            <a:off x="-169560" y="170640"/>
            <a:ext cx="819000" cy="475920"/>
          </a:xfrm>
          <a:prstGeom prst="rtTriangle">
            <a:avLst/>
          </a:prstGeom>
          <a:gradFill rotWithShape="0">
            <a:gsLst>
              <a:gs pos="0">
                <a:srgbClr val="9F484B"/>
              </a:gs>
              <a:gs pos="32856">
                <a:srgbClr val="533A7B"/>
              </a:gs>
              <a:gs pos="81000">
                <a:srgbClr val="6F2E56"/>
              </a:gs>
              <a:gs pos="83000">
                <a:srgbClr val="86334F"/>
              </a:gs>
            </a:gsLst>
            <a:lin ang="81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IN" sz="1800" b="0" strike="noStrike" spc="-1">
              <a:solidFill>
                <a:schemeClr val="lt1"/>
              </a:solidFill>
              <a:latin typeface="Aptos"/>
            </a:endParaRPr>
          </a:p>
        </p:txBody>
      </p:sp>
      <p:sp>
        <p:nvSpPr>
          <p:cNvPr id="18"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19"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 id="2147483663" r:id="rId2"/>
    <p:sldLayoutId id="2147483664" r:id="rId3"/>
    <p:sldLayoutId id="2147483665" r:id="rId4"/>
    <p:sldLayoutId id="214748366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5"/>
          <p:cNvSpPr/>
          <p:nvPr/>
        </p:nvSpPr>
        <p:spPr>
          <a:xfrm>
            <a:off x="274320" y="6515280"/>
            <a:ext cx="2912760" cy="3304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907920">
              <a:lnSpc>
                <a:spcPct val="100000"/>
              </a:lnSpc>
            </a:pPr>
            <a:r>
              <a:rPr lang="en-US" sz="1200" b="0" strike="noStrike" spc="-1">
                <a:solidFill>
                  <a:schemeClr val="dk1">
                    <a:lumMod val="95000"/>
                    <a:lumOff val="5000"/>
                  </a:schemeClr>
                </a:solidFill>
                <a:latin typeface="Calibri"/>
                <a:ea typeface="Calibri"/>
              </a:rPr>
              <a:t>© 2026 Aithent.           All Rights Reserved.</a:t>
            </a:r>
            <a:endParaRPr lang="en-IN" sz="1200" b="0" strike="noStrike" spc="-1">
              <a:solidFill>
                <a:srgbClr val="000000"/>
              </a:solidFill>
              <a:latin typeface="Arial"/>
            </a:endParaRPr>
          </a:p>
        </p:txBody>
      </p:sp>
      <p:sp>
        <p:nvSpPr>
          <p:cNvPr id="23" name="Rectangle 4"/>
          <p:cNvSpPr/>
          <p:nvPr/>
        </p:nvSpPr>
        <p:spPr>
          <a:xfrm>
            <a:off x="11578320" y="6450840"/>
            <a:ext cx="498600" cy="45936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fld id="{19F56A63-FE07-404B-A331-015FA55F77B4}" type="slidenum">
              <a:rPr lang="en-US" sz="1800" b="0" strike="noStrike" spc="-1">
                <a:solidFill>
                  <a:schemeClr val="dk1"/>
                </a:solidFill>
                <a:latin typeface="Calibri"/>
              </a:rPr>
              <a:t>‹#›</a:t>
            </a:fld>
            <a:endParaRPr lang="en-IN" sz="1800" b="0" strike="noStrike" spc="-1">
              <a:solidFill>
                <a:srgbClr val="000000"/>
              </a:solidFill>
              <a:latin typeface="Arial"/>
            </a:endParaRPr>
          </a:p>
        </p:txBody>
      </p:sp>
      <p:sp>
        <p:nvSpPr>
          <p:cNvPr id="24" name="Right Triangle 3"/>
          <p:cNvSpPr/>
          <p:nvPr/>
        </p:nvSpPr>
        <p:spPr>
          <a:xfrm rot="5400000">
            <a:off x="-169560" y="170640"/>
            <a:ext cx="819000" cy="475920"/>
          </a:xfrm>
          <a:prstGeom prst="rtTriangle">
            <a:avLst/>
          </a:prstGeom>
          <a:gradFill rotWithShape="0">
            <a:gsLst>
              <a:gs pos="0">
                <a:srgbClr val="9F484B"/>
              </a:gs>
              <a:gs pos="32856">
                <a:srgbClr val="533A7B"/>
              </a:gs>
              <a:gs pos="81000">
                <a:srgbClr val="6F2E56"/>
              </a:gs>
              <a:gs pos="83000">
                <a:srgbClr val="86334F"/>
              </a:gs>
            </a:gsLst>
            <a:lin ang="81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IN" sz="1800" b="0" strike="noStrike" spc="-1">
              <a:solidFill>
                <a:schemeClr val="lt1"/>
              </a:solidFill>
              <a:latin typeface="Aptos"/>
            </a:endParaRPr>
          </a:p>
        </p:txBody>
      </p:sp>
      <p:sp>
        <p:nvSpPr>
          <p:cNvPr id="25" name="Rectangle 6"/>
          <p:cNvSpPr/>
          <p:nvPr/>
        </p:nvSpPr>
        <p:spPr>
          <a:xfrm>
            <a:off x="137160" y="6239160"/>
            <a:ext cx="12053880" cy="617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 b="0" strike="noStrike" spc="-1">
              <a:solidFill>
                <a:schemeClr val="lt1"/>
              </a:solidFill>
              <a:latin typeface="Aptos"/>
            </a:endParaRPr>
          </a:p>
        </p:txBody>
      </p:sp>
      <p:sp>
        <p:nvSpPr>
          <p:cNvPr id="26" name="Rectangle 7"/>
          <p:cNvSpPr/>
          <p:nvPr/>
        </p:nvSpPr>
        <p:spPr>
          <a:xfrm>
            <a:off x="0" y="0"/>
            <a:ext cx="11916720" cy="1286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 b="0" strike="noStrike" spc="-1">
              <a:solidFill>
                <a:schemeClr val="lt1"/>
              </a:solidFill>
              <a:latin typeface="Aptos"/>
            </a:endParaRPr>
          </a:p>
        </p:txBody>
      </p:sp>
      <p:sp>
        <p:nvSpPr>
          <p:cNvPr id="27" name="Rectangle 2"/>
          <p:cNvSpPr/>
          <p:nvPr/>
        </p:nvSpPr>
        <p:spPr>
          <a:xfrm>
            <a:off x="0" y="1964160"/>
            <a:ext cx="12191040" cy="1112040"/>
          </a:xfrm>
          <a:prstGeom prst="rect">
            <a:avLst/>
          </a:prstGeom>
          <a:solidFill>
            <a:srgbClr val="9B323D"/>
          </a:solidFill>
          <a:ln>
            <a:solidFill>
              <a:srgbClr val="9B323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300000"/>
              </a:lnSpc>
              <a:tabLst>
                <a:tab pos="0" algn="l"/>
              </a:tabLst>
            </a:pPr>
            <a:r>
              <a:rPr lang="en-IN" sz="4800" b="1" strike="noStrike" spc="-1">
                <a:solidFill>
                  <a:schemeClr val="lt1"/>
                </a:solidFill>
                <a:latin typeface="Calibri"/>
                <a:ea typeface="Calibri"/>
              </a:rPr>
              <a:t>Thank You</a:t>
            </a:r>
            <a:endParaRPr lang="en-IN" sz="4800" b="0" strike="noStrike" spc="-1">
              <a:solidFill>
                <a:srgbClr val="FFFFFF"/>
              </a:solidFill>
              <a:latin typeface="Arial"/>
            </a:endParaRPr>
          </a:p>
          <a:p>
            <a:pPr algn="ctr" defTabSz="914400">
              <a:lnSpc>
                <a:spcPct val="300000"/>
              </a:lnSpc>
              <a:tabLst>
                <a:tab pos="0" algn="l"/>
              </a:tabLst>
            </a:pPr>
            <a:endParaRPr lang="en-IN" sz="2000" b="0" strike="noStrike" spc="-1">
              <a:solidFill>
                <a:srgbClr val="FFFFFF"/>
              </a:solidFill>
              <a:latin typeface="Arial"/>
            </a:endParaRPr>
          </a:p>
        </p:txBody>
      </p:sp>
      <p:sp>
        <p:nvSpPr>
          <p:cNvPr id="28" name="PlaceHolder 1"/>
          <p:cNvSpPr>
            <a:spLocks noGrp="1"/>
          </p:cNvSpPr>
          <p:nvPr>
            <p:ph type="ftr" idx="4"/>
          </p:nvPr>
        </p:nvSpPr>
        <p:spPr>
          <a:xfrm>
            <a:off x="4038480" y="6356520"/>
            <a:ext cx="4113720" cy="36396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IN" sz="1400" b="0" strike="noStrike" spc="-1">
                <a:solidFill>
                  <a:srgbClr val="000000"/>
                </a:solidFill>
                <a:latin typeface="Times New Roman"/>
              </a:defRPr>
            </a:lvl1pPr>
          </a:lstStyle>
          <a:p>
            <a:pPr indent="0" algn="ctr">
              <a:lnSpc>
                <a:spcPct val="100000"/>
              </a:lnSpc>
              <a:buNone/>
              <a:tabLst>
                <a:tab pos="0" algn="l"/>
              </a:tabLst>
            </a:pPr>
            <a:r>
              <a:rPr lang="en-IN" sz="1400" b="0" strike="noStrike" spc="-1">
                <a:solidFill>
                  <a:srgbClr val="000000"/>
                </a:solidFill>
                <a:latin typeface="Times New Roman"/>
              </a:rPr>
              <a:t>&lt;footer&gt;</a:t>
            </a:r>
          </a:p>
        </p:txBody>
      </p:sp>
      <p:sp>
        <p:nvSpPr>
          <p:cNvPr id="29" name="PlaceHolder 2"/>
          <p:cNvSpPr>
            <a:spLocks noGrp="1"/>
          </p:cNvSpPr>
          <p:nvPr>
            <p:ph type="sldNum" idx="5"/>
          </p:nvPr>
        </p:nvSpPr>
        <p:spPr>
          <a:xfrm>
            <a:off x="8610480" y="6356520"/>
            <a:ext cx="2742120" cy="3639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strike="noStrike" spc="-1">
                <a:solidFill>
                  <a:schemeClr val="dk1"/>
                </a:solidFill>
                <a:latin typeface="Aptos"/>
              </a:defRPr>
            </a:lvl1pPr>
          </a:lstStyle>
          <a:p>
            <a:pPr indent="0" defTabSz="914400">
              <a:lnSpc>
                <a:spcPct val="100000"/>
              </a:lnSpc>
              <a:buNone/>
              <a:tabLst>
                <a:tab pos="0" algn="l"/>
              </a:tabLst>
            </a:pPr>
            <a:fld id="{395ED1AA-863C-4CDF-B965-0BC1D6119FA4}" type="slidenum">
              <a:rPr lang="en-US" sz="1800" b="0" strike="noStrike" spc="-1">
                <a:solidFill>
                  <a:schemeClr val="dk1"/>
                </a:solidFill>
                <a:latin typeface="Aptos"/>
              </a:rPr>
              <a:t>‹#›</a:t>
            </a:fld>
            <a:endParaRPr lang="en-IN" sz="1800" b="0" strike="noStrike" spc="-1">
              <a:solidFill>
                <a:srgbClr val="000000"/>
              </a:solidFill>
              <a:latin typeface="Times New Roman"/>
            </a:endParaRPr>
          </a:p>
        </p:txBody>
      </p:sp>
      <p:sp>
        <p:nvSpPr>
          <p:cNvPr id="30" name="PlaceHolder 3"/>
          <p:cNvSpPr>
            <a:spLocks noGrp="1"/>
          </p:cNvSpPr>
          <p:nvPr>
            <p:ph type="dt" idx="6"/>
          </p:nvPr>
        </p:nvSpPr>
        <p:spPr>
          <a:xfrm>
            <a:off x="838080" y="6356520"/>
            <a:ext cx="2742120" cy="363960"/>
          </a:xfrm>
          <a:prstGeom prst="rect">
            <a:avLst/>
          </a:prstGeom>
          <a:noFill/>
          <a:ln w="0">
            <a:noFill/>
          </a:ln>
        </p:spPr>
        <p:txBody>
          <a:bodyPr lIns="90000" tIns="45000" rIns="90000" bIns="45000" anchor="t">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31"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32"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subTitle"/>
          </p:nvPr>
        </p:nvSpPr>
        <p:spPr>
          <a:xfrm>
            <a:off x="378000" y="3202200"/>
            <a:ext cx="4784760" cy="563400"/>
          </a:xfrm>
          <a:prstGeom prst="rect">
            <a:avLst/>
          </a:prstGeom>
          <a:noFill/>
          <a:ln w="0">
            <a:noFill/>
          </a:ln>
        </p:spPr>
        <p:txBody>
          <a:bodyPr lIns="91440" tIns="45720" rIns="91440" bIns="45720" anchor="t">
            <a:noAutofit/>
          </a:bodyPr>
          <a:lstStyle/>
          <a:p>
            <a:pPr defTabSz="914400">
              <a:lnSpc>
                <a:spcPct val="90000"/>
              </a:lnSpc>
              <a:spcBef>
                <a:spcPts val="1001"/>
              </a:spcBef>
              <a:tabLst>
                <a:tab pos="0" algn="l"/>
              </a:tabLst>
            </a:pPr>
            <a:r>
              <a:rPr lang="en-IN" sz="2400" spc="-1">
                <a:solidFill>
                  <a:schemeClr val="dk1"/>
                </a:solidFill>
                <a:latin typeface="Calibri"/>
                <a:ea typeface="Calibri"/>
              </a:rPr>
              <a:t>Jan</a:t>
            </a:r>
            <a:r>
              <a:rPr lang="en-IN" sz="2400" b="0" strike="noStrike" spc="-1">
                <a:solidFill>
                  <a:schemeClr val="dk1"/>
                </a:solidFill>
                <a:latin typeface="Calibri"/>
                <a:ea typeface="Calibri"/>
              </a:rPr>
              <a:t> 2026 – </a:t>
            </a:r>
            <a:r>
              <a:rPr lang="en-IN" sz="2400" spc="-1">
                <a:solidFill>
                  <a:schemeClr val="dk1"/>
                </a:solidFill>
                <a:latin typeface="Calibri"/>
                <a:ea typeface="Calibri"/>
              </a:rPr>
              <a:t>Jun2026</a:t>
            </a:r>
            <a:r>
              <a:rPr lang="en-IN" sz="2400" b="0" strike="noStrike" spc="-1">
                <a:solidFill>
                  <a:schemeClr val="dk1"/>
                </a:solidFill>
                <a:latin typeface="Calibri"/>
                <a:ea typeface="Calibri"/>
              </a:rPr>
              <a:t> </a:t>
            </a:r>
            <a:endParaRPr lang="en-IN" sz="2400" b="0" strike="noStrike" spc="-1">
              <a:solidFill>
                <a:schemeClr val="dk1"/>
              </a:solidFill>
              <a:latin typeface="Arial"/>
            </a:endParaRPr>
          </a:p>
        </p:txBody>
      </p:sp>
      <p:sp>
        <p:nvSpPr>
          <p:cNvPr id="54" name="PlaceHolder 2"/>
          <p:cNvSpPr>
            <a:spLocks noGrp="1"/>
          </p:cNvSpPr>
          <p:nvPr>
            <p:ph type="title"/>
          </p:nvPr>
        </p:nvSpPr>
        <p:spPr>
          <a:xfrm>
            <a:off x="354240" y="2353320"/>
            <a:ext cx="6845400" cy="848160"/>
          </a:xfrm>
          <a:prstGeom prst="rect">
            <a:avLst/>
          </a:prstGeom>
          <a:noFill/>
          <a:ln w="0">
            <a:noFill/>
          </a:ln>
        </p:spPr>
        <p:txBody>
          <a:bodyPr lIns="91440" tIns="45720" rIns="91440" bIns="45720" anchor="b">
            <a:noAutofit/>
          </a:bodyPr>
          <a:lstStyle/>
          <a:p>
            <a:pPr>
              <a:tabLst>
                <a:tab pos="0" algn="l"/>
              </a:tabLst>
            </a:pPr>
            <a:r>
              <a:rPr lang="en-IN" sz="5000" b="1" spc="-1">
                <a:solidFill>
                  <a:srgbClr val="9B323D"/>
                </a:solidFill>
                <a:latin typeface="Calibri"/>
                <a:ea typeface="Calibri"/>
              </a:rPr>
              <a:t>UI/UX Teams Updates</a:t>
            </a:r>
            <a:endParaRPr lang="en-IN" sz="5000" b="1" spc="-1">
              <a:solidFill>
                <a:srgbClr val="9B323D"/>
              </a:solidFill>
              <a:latin typeface="Calibri"/>
              <a:ea typeface="Calibri"/>
              <a:cs typeface="Calibri"/>
            </a:endParaRPr>
          </a:p>
        </p:txBody>
      </p:sp>
      <p:sp>
        <p:nvSpPr>
          <p:cNvPr id="55" name="Subtitle 2"/>
          <p:cNvSpPr/>
          <p:nvPr/>
        </p:nvSpPr>
        <p:spPr>
          <a:xfrm>
            <a:off x="388080" y="4537440"/>
            <a:ext cx="4169160" cy="83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spcBef>
                <a:spcPts val="1001"/>
              </a:spcBef>
              <a:tabLst>
                <a:tab pos="0" algn="l"/>
              </a:tabLst>
            </a:pPr>
            <a:r>
              <a:rPr lang="en-US" sz="1600" b="0" strike="noStrike" spc="-1">
                <a:solidFill>
                  <a:schemeClr val="dk1">
                    <a:lumMod val="85000"/>
                    <a:lumOff val="15000"/>
                  </a:schemeClr>
                </a:solidFill>
                <a:latin typeface="Calibri"/>
              </a:rPr>
              <a:t>Presented by:</a:t>
            </a:r>
            <a:r>
              <a:rPr lang="en-US" sz="1600" spc="-1">
                <a:solidFill>
                  <a:schemeClr val="dk1">
                    <a:lumMod val="85000"/>
                    <a:lumOff val="15000"/>
                  </a:schemeClr>
                </a:solidFill>
                <a:latin typeface="Calibri"/>
              </a:rPr>
              <a:t> GUI Team</a:t>
            </a:r>
            <a:endParaRPr lang="en-IN" sz="1600" b="0" strike="noStrike" spc="-1">
              <a:solidFill>
                <a:schemeClr val="dk1">
                  <a:lumMod val="85000"/>
                  <a:lumOff val="15000"/>
                </a:schemeClr>
              </a:solidFill>
              <a:latin typeface="Arial"/>
            </a:endParaRPr>
          </a:p>
          <a:p>
            <a:pPr defTabSz="914400">
              <a:lnSpc>
                <a:spcPct val="100000"/>
              </a:lnSpc>
              <a:spcBef>
                <a:spcPts val="1001"/>
              </a:spcBef>
              <a:tabLst>
                <a:tab pos="0" algn="l"/>
              </a:tabLst>
            </a:pPr>
            <a:r>
              <a:rPr lang="en-US" sz="1600" b="0" strike="noStrike" spc="-1">
                <a:solidFill>
                  <a:schemeClr val="dk1">
                    <a:lumMod val="85000"/>
                    <a:lumOff val="15000"/>
                  </a:schemeClr>
                </a:solidFill>
                <a:latin typeface="Calibri"/>
              </a:rPr>
              <a:t>Date: </a:t>
            </a:r>
            <a:endParaRPr lang="en-IN" sz="1600" b="0" strike="noStrike" spc="-1">
              <a:solidFill>
                <a:srgbClr val="000000"/>
              </a:solidFill>
              <a:latin typeface="Arial"/>
            </a:endParaRPr>
          </a:p>
        </p:txBody>
      </p:sp>
      <p:pic>
        <p:nvPicPr>
          <p:cNvPr id="56" name="Image 1"/>
          <p:cNvPicPr/>
          <p:nvPr/>
        </p:nvPicPr>
        <p:blipFill>
          <a:blip r:embed="rId2"/>
          <a:stretch/>
        </p:blipFill>
        <p:spPr>
          <a:xfrm>
            <a:off x="447480" y="551880"/>
            <a:ext cx="2375280" cy="791280"/>
          </a:xfrm>
          <a:prstGeom prst="rect">
            <a:avLst/>
          </a:prstGeom>
          <a:ln w="0">
            <a:noFill/>
          </a:ln>
        </p:spPr>
      </p:pic>
    </p:spTree>
    <p:extLst>
      <p:ext uri="{BB962C8B-B14F-4D97-AF65-F5344CB8AC3E}">
        <p14:creationId xmlns:p14="http://schemas.microsoft.com/office/powerpoint/2010/main" val="2227647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EA8BB-1B66-9766-FBB2-339AB937D050}"/>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1EBD883-C2C0-301E-AEEE-F048841D3A5B}"/>
              </a:ext>
            </a:extLst>
          </p:cNvPr>
          <p:cNvSpPr/>
          <p:nvPr/>
        </p:nvSpPr>
        <p:spPr>
          <a:xfrm>
            <a:off x="565621" y="1685414"/>
            <a:ext cx="11060976" cy="3485977"/>
          </a:xfrm>
          <a:prstGeom prst="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5000" b="1">
                <a:latin typeface="Calibri"/>
                <a:ea typeface="Calibri"/>
                <a:cs typeface="Calibri"/>
              </a:rPr>
              <a:t>Website</a:t>
            </a:r>
            <a:endParaRPr lang="en-US" sz="5000">
              <a:latin typeface="Calibri"/>
              <a:ea typeface="Calibri"/>
              <a:cs typeface="Calibri"/>
            </a:endParaRPr>
          </a:p>
        </p:txBody>
      </p:sp>
    </p:spTree>
    <p:extLst>
      <p:ext uri="{BB962C8B-B14F-4D97-AF65-F5344CB8AC3E}">
        <p14:creationId xmlns:p14="http://schemas.microsoft.com/office/powerpoint/2010/main" val="12890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723617" y="393549"/>
            <a:ext cx="11306863" cy="7477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IN" sz="3600" b="1" strike="noStrike" spc="-1">
                <a:solidFill>
                  <a:schemeClr val="dk1"/>
                </a:solidFill>
                <a:latin typeface="Calibri"/>
                <a:ea typeface="Calibri"/>
              </a:rPr>
              <a:t>Agenda</a:t>
            </a:r>
            <a:endParaRPr lang="en-IN" sz="3600" b="0" strike="noStrike" spc="-1">
              <a:solidFill>
                <a:srgbClr val="000000"/>
              </a:solidFill>
              <a:latin typeface="Arial"/>
            </a:endParaRPr>
          </a:p>
        </p:txBody>
      </p:sp>
      <p:sp>
        <p:nvSpPr>
          <p:cNvPr id="58" name="PlaceHolder 2"/>
          <p:cNvSpPr>
            <a:spLocks noGrp="1"/>
          </p:cNvSpPr>
          <p:nvPr>
            <p:ph/>
          </p:nvPr>
        </p:nvSpPr>
        <p:spPr>
          <a:xfrm>
            <a:off x="727165" y="1269069"/>
            <a:ext cx="11303315" cy="5509080"/>
          </a:xfrm>
          <a:prstGeom prst="rect">
            <a:avLst/>
          </a:prstGeom>
          <a:noFill/>
          <a:ln w="0">
            <a:noFill/>
          </a:ln>
        </p:spPr>
        <p:txBody>
          <a:bodyPr lIns="91440" tIns="45720" rIns="91440" bIns="45720" anchor="t">
            <a:noAutofit/>
          </a:bodyPr>
          <a:lstStyle/>
          <a:p>
            <a:pPr marL="228600" indent="-228600">
              <a:spcBef>
                <a:spcPts val="1851"/>
              </a:spcBef>
              <a:spcAft>
                <a:spcPts val="850"/>
              </a:spcAft>
              <a:buClr>
                <a:srgbClr val="000000"/>
              </a:buClr>
              <a:buFont typeface="Arial"/>
              <a:buAutoNum type="arabicParenR"/>
            </a:pPr>
            <a:r>
              <a:rPr lang="en-IN" sz="2200" b="0" strike="noStrike" spc="-1" err="1">
                <a:solidFill>
                  <a:schemeClr val="dk1"/>
                </a:solidFill>
                <a:latin typeface="Calibri"/>
                <a:ea typeface="Calibri"/>
              </a:rPr>
              <a:t>Aithent</a:t>
            </a:r>
            <a:r>
              <a:rPr lang="en-IN" sz="2200" b="0" strike="noStrike" spc="-1">
                <a:solidFill>
                  <a:schemeClr val="dk1"/>
                </a:solidFill>
                <a:latin typeface="Calibri"/>
                <a:ea typeface="Calibri"/>
              </a:rPr>
              <a:t> Website — Progress </a:t>
            </a:r>
            <a:r>
              <a:rPr lang="en-IN" sz="2200" spc="-1">
                <a:solidFill>
                  <a:schemeClr val="dk1"/>
                </a:solidFill>
                <a:latin typeface="Calibri"/>
                <a:ea typeface="Calibri"/>
              </a:rPr>
              <a:t>and </a:t>
            </a:r>
            <a:r>
              <a:rPr lang="en-IN" sz="2200" b="0" strike="noStrike" spc="-1">
                <a:solidFill>
                  <a:schemeClr val="dk1"/>
                </a:solidFill>
                <a:latin typeface="Calibri"/>
                <a:ea typeface="Calibri"/>
              </a:rPr>
              <a:t>Comparison</a:t>
            </a:r>
            <a:endParaRPr lang="en-IN" sz="2200" spc="-1">
              <a:solidFill>
                <a:schemeClr val="dk1"/>
              </a:solidFill>
              <a:latin typeface="Arial"/>
              <a:ea typeface="Calibri"/>
              <a:cs typeface="Arial"/>
            </a:endParaRPr>
          </a:p>
          <a:p>
            <a:pPr marL="228600" indent="-228600">
              <a:spcBef>
                <a:spcPts val="1851"/>
              </a:spcBef>
              <a:spcAft>
                <a:spcPts val="850"/>
              </a:spcAft>
              <a:buClr>
                <a:srgbClr val="000000"/>
              </a:buClr>
              <a:buAutoNum type="arabicParenR"/>
            </a:pPr>
            <a:r>
              <a:rPr lang="en-IN" sz="2200" b="0" strike="noStrike" spc="-1">
                <a:solidFill>
                  <a:schemeClr val="dk1"/>
                </a:solidFill>
                <a:latin typeface="Calibri"/>
                <a:ea typeface="Calibri"/>
              </a:rPr>
              <a:t>AI Integration — Chatbot</a:t>
            </a:r>
            <a:r>
              <a:rPr lang="en-IN" sz="2200" spc="-1">
                <a:solidFill>
                  <a:schemeClr val="dk1"/>
                </a:solidFill>
                <a:latin typeface="Calibri"/>
                <a:ea typeface="Calibri"/>
              </a:rPr>
              <a:t> and</a:t>
            </a:r>
            <a:r>
              <a:rPr lang="en-IN" sz="2200" b="0" strike="noStrike" spc="-1">
                <a:solidFill>
                  <a:schemeClr val="dk1"/>
                </a:solidFill>
                <a:latin typeface="Calibri"/>
                <a:ea typeface="Calibri"/>
              </a:rPr>
              <a:t> Strategy Across Websites</a:t>
            </a:r>
            <a:endParaRPr lang="en-IN" sz="2200" b="0" strike="noStrike" spc="-1">
              <a:solidFill>
                <a:schemeClr val="dk1"/>
              </a:solidFill>
              <a:latin typeface="Arial"/>
              <a:cs typeface="Arial"/>
            </a:endParaRPr>
          </a:p>
          <a:p>
            <a:pPr marL="228600" indent="-228600" defTabSz="914400">
              <a:lnSpc>
                <a:spcPct val="90000"/>
              </a:lnSpc>
              <a:spcBef>
                <a:spcPts val="1851"/>
              </a:spcBef>
              <a:spcAft>
                <a:spcPts val="850"/>
              </a:spcAft>
              <a:buClr>
                <a:srgbClr val="000000"/>
              </a:buClr>
              <a:buFont typeface="Arial"/>
              <a:buAutoNum type="arabicParenR"/>
            </a:pPr>
            <a:r>
              <a:rPr lang="en-IN" sz="2200" b="0" strike="noStrike" spc="-1" err="1">
                <a:solidFill>
                  <a:schemeClr val="dk1"/>
                </a:solidFill>
                <a:latin typeface="Calibri"/>
                <a:ea typeface="Calibri"/>
              </a:rPr>
              <a:t>QuinteFT</a:t>
            </a:r>
            <a:r>
              <a:rPr lang="en-IN" sz="2200" b="0" strike="noStrike" spc="-1">
                <a:solidFill>
                  <a:schemeClr val="dk1"/>
                </a:solidFill>
                <a:latin typeface="Calibri"/>
                <a:ea typeface="Calibri"/>
              </a:rPr>
              <a:t>, A2ORU &amp; Upcoming Projects (</a:t>
            </a:r>
            <a:r>
              <a:rPr lang="en-IN" sz="2200" b="0" strike="noStrike" spc="-1" err="1">
                <a:solidFill>
                  <a:schemeClr val="dk1"/>
                </a:solidFill>
                <a:latin typeface="Calibri"/>
                <a:ea typeface="Calibri"/>
              </a:rPr>
              <a:t>StafaCT</a:t>
            </a:r>
            <a:r>
              <a:rPr lang="en-IN" sz="2200" b="0" strike="noStrike" spc="-1">
                <a:solidFill>
                  <a:schemeClr val="dk1"/>
                </a:solidFill>
                <a:latin typeface="Calibri"/>
                <a:ea typeface="Calibri"/>
              </a:rPr>
              <a:t>, IDS, </a:t>
            </a:r>
            <a:r>
              <a:rPr lang="en-IN" sz="2200" b="0" strike="noStrike" spc="-1" err="1">
                <a:solidFill>
                  <a:schemeClr val="dk1"/>
                </a:solidFill>
                <a:latin typeface="Calibri"/>
                <a:ea typeface="Calibri"/>
              </a:rPr>
              <a:t>nCartes</a:t>
            </a:r>
            <a:r>
              <a:rPr lang="en-IN" sz="2200" b="0" strike="noStrike" spc="-1">
                <a:solidFill>
                  <a:schemeClr val="dk1"/>
                </a:solidFill>
                <a:latin typeface="Calibri"/>
                <a:ea typeface="Calibri"/>
              </a:rPr>
              <a:t>)</a:t>
            </a:r>
            <a:endParaRPr lang="en-IN" sz="2200" b="0" strike="noStrike" spc="-1">
              <a:solidFill>
                <a:schemeClr val="dk1"/>
              </a:solidFill>
              <a:latin typeface="Arial"/>
            </a:endParaRPr>
          </a:p>
          <a:p>
            <a:pPr marL="228600" indent="-228600" defTabSz="914400">
              <a:lnSpc>
                <a:spcPct val="90000"/>
              </a:lnSpc>
              <a:spcBef>
                <a:spcPts val="1851"/>
              </a:spcBef>
              <a:spcAft>
                <a:spcPts val="850"/>
              </a:spcAft>
              <a:buClr>
                <a:srgbClr val="000000"/>
              </a:buClr>
              <a:buFont typeface="Arial"/>
              <a:buAutoNum type="arabicParenR"/>
            </a:pPr>
            <a:r>
              <a:rPr lang="en-IN" sz="2200" b="0" strike="noStrike" spc="-1">
                <a:solidFill>
                  <a:schemeClr val="dk1"/>
                </a:solidFill>
                <a:latin typeface="Calibri"/>
                <a:ea typeface="Calibri"/>
              </a:rPr>
              <a:t>Roadmap &amp; Summary</a:t>
            </a:r>
            <a:endParaRPr lang="en-IN" sz="22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643789" y="350006"/>
            <a:ext cx="11386691" cy="747720"/>
          </a:xfrm>
          <a:prstGeom prst="rect">
            <a:avLst/>
          </a:prstGeom>
          <a:noFill/>
          <a:ln w="0">
            <a:noFill/>
          </a:ln>
        </p:spPr>
        <p:txBody>
          <a:bodyPr lIns="91440" tIns="45720" rIns="91440" bIns="45720" anchor="ctr">
            <a:noAutofit/>
          </a:bodyPr>
          <a:lstStyle/>
          <a:p>
            <a:pPr indent="0" defTabSz="914400">
              <a:lnSpc>
                <a:spcPct val="90000"/>
              </a:lnSpc>
              <a:spcBef>
                <a:spcPts val="1191"/>
              </a:spcBef>
              <a:spcAft>
                <a:spcPts val="992"/>
              </a:spcAft>
              <a:buNone/>
              <a:tabLst>
                <a:tab pos="0" algn="l"/>
              </a:tabLst>
            </a:pPr>
            <a:r>
              <a:rPr lang="en-IN" sz="3600" b="1" strike="noStrike" spc="-1">
                <a:solidFill>
                  <a:schemeClr val="dk1"/>
                </a:solidFill>
                <a:latin typeface="Calibri"/>
                <a:ea typeface="Calibri"/>
              </a:rPr>
              <a:t>Aithent Website — Progress, Comparison</a:t>
            </a:r>
            <a:endParaRPr lang="en-IN" sz="3600" b="0" strike="noStrike" spc="-1">
              <a:solidFill>
                <a:srgbClr val="000000"/>
              </a:solidFill>
              <a:latin typeface="Arial"/>
            </a:endParaRPr>
          </a:p>
        </p:txBody>
      </p:sp>
      <p:sp>
        <p:nvSpPr>
          <p:cNvPr id="60" name="PlaceHolder 2"/>
          <p:cNvSpPr>
            <a:spLocks noGrp="1"/>
          </p:cNvSpPr>
          <p:nvPr>
            <p:ph/>
          </p:nvPr>
        </p:nvSpPr>
        <p:spPr>
          <a:xfrm>
            <a:off x="719909" y="1232783"/>
            <a:ext cx="11238000" cy="5509080"/>
          </a:xfrm>
          <a:prstGeom prst="rect">
            <a:avLst/>
          </a:prstGeom>
          <a:noFill/>
          <a:ln w="0">
            <a:noFill/>
          </a:ln>
        </p:spPr>
        <p:txBody>
          <a:bodyPr lIns="91440" tIns="45720" rIns="91440" bIns="45720" anchor="t">
            <a:noAutofit/>
          </a:bodyPr>
          <a:lstStyle/>
          <a:p>
            <a:pPr indent="0" defTabSz="914400">
              <a:lnSpc>
                <a:spcPct val="90000"/>
              </a:lnSpc>
              <a:spcBef>
                <a:spcPts val="1191"/>
              </a:spcBef>
              <a:spcAft>
                <a:spcPts val="992"/>
              </a:spcAft>
              <a:buNone/>
              <a:tabLst>
                <a:tab pos="0" algn="l"/>
              </a:tabLst>
            </a:pPr>
            <a:r>
              <a:rPr lang="en-IN" sz="2600" b="1" strike="noStrike" spc="-1">
                <a:solidFill>
                  <a:schemeClr val="dk1"/>
                </a:solidFill>
                <a:latin typeface="Calibri"/>
                <a:ea typeface="Calibri"/>
              </a:rPr>
              <a:t>Progress Since Last Visit:</a:t>
            </a:r>
            <a:endParaRPr lang="en-IN" sz="2600" b="0" strike="noStrike" spc="-1">
              <a:solidFill>
                <a:srgbClr val="000000"/>
              </a:solidFill>
              <a:latin typeface="Arial"/>
            </a:endParaRPr>
          </a:p>
          <a:p>
            <a:pPr marL="882650" lvl="1" indent="-342900" defTabSz="914400">
              <a:lnSpc>
                <a:spcPct val="90000"/>
              </a:lnSpc>
              <a:spcBef>
                <a:spcPts val="1191"/>
              </a:spcBef>
              <a:spcAft>
                <a:spcPts val="992"/>
              </a:spcAft>
              <a:buClr>
                <a:srgbClr val="000000"/>
              </a:buClr>
              <a:buSzPct val="75000"/>
              <a:buFont typeface="Arial"/>
              <a:buChar char="•"/>
              <a:tabLst>
                <a:tab pos="0" algn="l"/>
              </a:tabLst>
            </a:pPr>
            <a:r>
              <a:rPr lang="en-IN" sz="2100" b="0" strike="noStrike" spc="-1">
                <a:solidFill>
                  <a:schemeClr val="dk1"/>
                </a:solidFill>
                <a:latin typeface="Calibri"/>
                <a:ea typeface="Calibri"/>
              </a:rPr>
              <a:t>Presented the Figma prototype last visit, incorporating feedback on product listings and content structure</a:t>
            </a:r>
            <a:endParaRPr lang="en-IN" sz="2100" b="0" strike="noStrike" spc="-1">
              <a:solidFill>
                <a:srgbClr val="000000"/>
              </a:solidFill>
              <a:latin typeface="Arial"/>
              <a:cs typeface="Arial"/>
            </a:endParaRPr>
          </a:p>
          <a:p>
            <a:pPr marL="863600" lvl="1" indent="-323850" defTabSz="914400">
              <a:lnSpc>
                <a:spcPct val="90000"/>
              </a:lnSpc>
              <a:spcBef>
                <a:spcPts val="1191"/>
              </a:spcBef>
              <a:spcAft>
                <a:spcPts val="992"/>
              </a:spcAft>
              <a:buClr>
                <a:srgbClr val="000000"/>
              </a:buClr>
              <a:buSzPct val="75000"/>
              <a:buFont typeface="Arial" charset="2"/>
              <a:buChar char="•"/>
              <a:tabLst>
                <a:tab pos="0" algn="l"/>
              </a:tabLst>
            </a:pPr>
            <a:r>
              <a:rPr lang="en-IN" sz="2100" b="0" strike="noStrike" spc="-1">
                <a:solidFill>
                  <a:schemeClr val="dk1"/>
                </a:solidFill>
                <a:latin typeface="Calibri"/>
                <a:ea typeface="Calibri"/>
              </a:rPr>
              <a:t>Development is now substantially complete and ready for review</a:t>
            </a:r>
            <a:endParaRPr lang="en-IN" sz="2100" b="0" strike="noStrike" spc="-1">
              <a:solidFill>
                <a:srgbClr val="000000"/>
              </a:solidFill>
              <a:latin typeface="Arial"/>
              <a:cs typeface="Arial"/>
            </a:endParaRPr>
          </a:p>
          <a:p>
            <a:pPr indent="0" defTabSz="914400">
              <a:lnSpc>
                <a:spcPct val="90000"/>
              </a:lnSpc>
              <a:spcBef>
                <a:spcPts val="1191"/>
              </a:spcBef>
              <a:spcAft>
                <a:spcPts val="992"/>
              </a:spcAft>
              <a:buNone/>
              <a:tabLst>
                <a:tab pos="0" algn="l"/>
              </a:tabLst>
            </a:pPr>
            <a:r>
              <a:rPr lang="en-IN" sz="2600" b="1" strike="noStrike" spc="-1">
                <a:solidFill>
                  <a:schemeClr val="dk1"/>
                </a:solidFill>
                <a:latin typeface="Calibri"/>
                <a:ea typeface="Calibri"/>
              </a:rPr>
              <a:t>Current vs. New Website:</a:t>
            </a:r>
            <a:endParaRPr lang="en-IN" sz="2600" b="0" strike="noStrike" spc="-1">
              <a:solidFill>
                <a:srgbClr val="000000"/>
              </a:solidFill>
              <a:latin typeface="Arial"/>
            </a:endParaRPr>
          </a:p>
          <a:p>
            <a:pPr indent="0" defTabSz="914400">
              <a:lnSpc>
                <a:spcPct val="90000"/>
              </a:lnSpc>
              <a:spcBef>
                <a:spcPts val="1417"/>
              </a:spcBef>
              <a:buNone/>
              <a:tabLst>
                <a:tab pos="0" algn="l"/>
              </a:tabLst>
            </a:pPr>
            <a:endParaRPr lang="en-IN" sz="2100" b="0" strike="noStrike" spc="-1">
              <a:solidFill>
                <a:srgbClr val="000000"/>
              </a:solidFill>
              <a:latin typeface="Arial"/>
            </a:endParaRPr>
          </a:p>
          <a:p>
            <a:pPr indent="0" defTabSz="914400">
              <a:lnSpc>
                <a:spcPct val="90000"/>
              </a:lnSpc>
              <a:spcBef>
                <a:spcPts val="1417"/>
              </a:spcBef>
              <a:buNone/>
              <a:tabLst>
                <a:tab pos="0" algn="l"/>
              </a:tabLst>
            </a:pPr>
            <a:endParaRPr lang="en-IN" sz="2200" b="0" strike="noStrike" spc="-1">
              <a:solidFill>
                <a:srgbClr val="000000"/>
              </a:solidFill>
              <a:latin typeface="Arial"/>
            </a:endParaRPr>
          </a:p>
        </p:txBody>
      </p:sp>
      <p:graphicFrame>
        <p:nvGraphicFramePr>
          <p:cNvPr id="61" name="Table 60"/>
          <p:cNvGraphicFramePr/>
          <p:nvPr>
            <p:extLst>
              <p:ext uri="{D42A27DB-BD31-4B8C-83A1-F6EECF244321}">
                <p14:modId xmlns:p14="http://schemas.microsoft.com/office/powerpoint/2010/main" val="827876635"/>
              </p:ext>
            </p:extLst>
          </p:nvPr>
        </p:nvGraphicFramePr>
        <p:xfrm>
          <a:off x="863599" y="3780971"/>
          <a:ext cx="8686009" cy="2457000"/>
        </p:xfrm>
        <a:graphic>
          <a:graphicData uri="http://schemas.openxmlformats.org/drawingml/2006/table">
            <a:tbl>
              <a:tblPr/>
              <a:tblGrid>
                <a:gridCol w="4342325">
                  <a:extLst>
                    <a:ext uri="{9D8B030D-6E8A-4147-A177-3AD203B41FA5}">
                      <a16:colId xmlns:a16="http://schemas.microsoft.com/office/drawing/2014/main" val="20000"/>
                    </a:ext>
                  </a:extLst>
                </a:gridCol>
                <a:gridCol w="4343684">
                  <a:extLst>
                    <a:ext uri="{9D8B030D-6E8A-4147-A177-3AD203B41FA5}">
                      <a16:colId xmlns:a16="http://schemas.microsoft.com/office/drawing/2014/main" val="20001"/>
                    </a:ext>
                  </a:extLst>
                </a:gridCol>
              </a:tblGrid>
              <a:tr h="491400">
                <a:tc>
                  <a:txBody>
                    <a:bodyPr/>
                    <a:lstStyle/>
                    <a:p>
                      <a:r>
                        <a:rPr lang="en-IN" sz="1600" b="1" strike="noStrike" spc="-1">
                          <a:solidFill>
                            <a:srgbClr val="000000"/>
                          </a:solidFill>
                          <a:latin typeface="Arial"/>
                        </a:rPr>
                        <a:t>  Current Website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r>
                        <a:rPr lang="en-IN" sz="1600" b="1" strike="noStrike" spc="-1">
                          <a:solidFill>
                            <a:srgbClr val="000000"/>
                          </a:solidFill>
                          <a:latin typeface="Arial"/>
                        </a:rPr>
                        <a:t>  New Website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91400">
                <a:tc>
                  <a:txBody>
                    <a:bodyPr/>
                    <a:lstStyle/>
                    <a:p>
                      <a:r>
                        <a:rPr lang="en-IN" sz="1600" b="0" strike="noStrike" spc="-1">
                          <a:solidFill>
                            <a:srgbClr val="000000"/>
                          </a:solidFill>
                          <a:latin typeface="Arial"/>
                        </a:rPr>
                        <a:t>  Outdated product data</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r>
                        <a:rPr lang="en-IN" sz="1600" b="0" strike="noStrike" spc="-1">
                          <a:solidFill>
                            <a:srgbClr val="000000"/>
                          </a:solidFill>
                          <a:latin typeface="Arial"/>
                        </a:rPr>
                        <a:t>  Modern, trend-aligned design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91400">
                <a:tc>
                  <a:txBody>
                    <a:bodyPr/>
                    <a:lstStyle/>
                    <a:p>
                      <a:r>
                        <a:rPr lang="en-IN" sz="1600" b="0" strike="noStrike" spc="-1">
                          <a:solidFill>
                            <a:srgbClr val="000000"/>
                          </a:solidFill>
                          <a:latin typeface="Arial"/>
                        </a:rPr>
                        <a:t>  Dated design vs. industry benchmarks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r>
                        <a:rPr lang="en-IN" sz="1600" b="0" strike="noStrike" spc="-1">
                          <a:solidFill>
                            <a:srgbClr val="000000"/>
                          </a:solidFill>
                          <a:latin typeface="Arial"/>
                        </a:rPr>
                        <a:t>  Lead-gen contact form (email + database)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91400">
                <a:tc>
                  <a:txBody>
                    <a:bodyPr/>
                    <a:lstStyle/>
                    <a:p>
                      <a:r>
                        <a:rPr lang="en-IN" sz="1600" b="0" strike="noStrike" spc="-1">
                          <a:solidFill>
                            <a:srgbClr val="000000"/>
                          </a:solidFill>
                          <a:latin typeface="Arial"/>
                        </a:rPr>
                        <a:t>  Below-standard performance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r>
                        <a:rPr lang="en-IN" sz="1600" b="0" strike="noStrike" spc="-1">
                          <a:solidFill>
                            <a:srgbClr val="000000"/>
                          </a:solidFill>
                          <a:latin typeface="Arial"/>
                        </a:rPr>
                        <a:t>  Flexible, component-based layout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91400">
                <a:tc>
                  <a:txBody>
                    <a:bodyPr/>
                    <a:lstStyle/>
                    <a:p>
                      <a:r>
                        <a:rPr lang="en-IN" sz="1600" b="0" strike="noStrike" spc="-1">
                          <a:solidFill>
                            <a:srgbClr val="000000"/>
                          </a:solidFill>
                          <a:latin typeface="Arial"/>
                        </a:rPr>
                        <a:t>  Not fully optimized for mobile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r>
                        <a:rPr lang="en-IN" sz="1600" b="0" strike="noStrike" spc="-1">
                          <a:solidFill>
                            <a:srgbClr val="000000"/>
                          </a:solidFill>
                          <a:latin typeface="Arial"/>
                        </a:rPr>
                        <a:t>  Fully responsive, faster load times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745388" y="400806"/>
            <a:ext cx="11285092" cy="747720"/>
          </a:xfrm>
          <a:prstGeom prst="rect">
            <a:avLst/>
          </a:prstGeom>
          <a:noFill/>
          <a:ln w="0">
            <a:noFill/>
          </a:ln>
        </p:spPr>
        <p:txBody>
          <a:bodyPr lIns="91440" tIns="45720" rIns="91440" bIns="45720" anchor="ctr">
            <a:noAutofit/>
          </a:bodyPr>
          <a:lstStyle/>
          <a:p>
            <a:pPr indent="0" defTabSz="914400">
              <a:lnSpc>
                <a:spcPct val="90000"/>
              </a:lnSpc>
              <a:spcBef>
                <a:spcPts val="1191"/>
              </a:spcBef>
              <a:spcAft>
                <a:spcPts val="992"/>
              </a:spcAft>
              <a:buNone/>
              <a:tabLst>
                <a:tab pos="0" algn="l"/>
              </a:tabLst>
            </a:pPr>
            <a:r>
              <a:rPr lang="en-IN" sz="3600" b="1" strike="noStrike" spc="-1">
                <a:solidFill>
                  <a:schemeClr val="dk1"/>
                </a:solidFill>
                <a:latin typeface="Calibri"/>
                <a:ea typeface="Calibri"/>
              </a:rPr>
              <a:t>AI Integration — Chatbot &amp; Strategy </a:t>
            </a:r>
            <a:endParaRPr lang="en-IN" sz="3600" b="0" strike="noStrike" spc="-1">
              <a:solidFill>
                <a:srgbClr val="000000"/>
              </a:solidFill>
              <a:latin typeface="Arial"/>
            </a:endParaRPr>
          </a:p>
        </p:txBody>
      </p:sp>
      <p:sp>
        <p:nvSpPr>
          <p:cNvPr id="63" name="PlaceHolder 2"/>
          <p:cNvSpPr>
            <a:spLocks noGrp="1"/>
          </p:cNvSpPr>
          <p:nvPr>
            <p:ph/>
          </p:nvPr>
        </p:nvSpPr>
        <p:spPr>
          <a:xfrm>
            <a:off x="748937" y="1276326"/>
            <a:ext cx="11281543" cy="5509080"/>
          </a:xfrm>
          <a:prstGeom prst="rect">
            <a:avLst/>
          </a:prstGeom>
          <a:noFill/>
          <a:ln w="0">
            <a:noFill/>
          </a:ln>
        </p:spPr>
        <p:txBody>
          <a:bodyPr lIns="91440" tIns="45720" rIns="91440" bIns="45720" anchor="t">
            <a:noAutofit/>
          </a:bodyPr>
          <a:lstStyle/>
          <a:p>
            <a:pPr indent="0" defTabSz="914400">
              <a:lnSpc>
                <a:spcPct val="90000"/>
              </a:lnSpc>
              <a:spcBef>
                <a:spcPts val="1191"/>
              </a:spcBef>
              <a:spcAft>
                <a:spcPts val="992"/>
              </a:spcAft>
              <a:buNone/>
              <a:tabLst>
                <a:tab pos="0" algn="l"/>
              </a:tabLst>
            </a:pPr>
            <a:r>
              <a:rPr lang="en-IN" sz="2200" b="1" strike="noStrike" spc="-1" dirty="0">
                <a:solidFill>
                  <a:schemeClr val="dk1"/>
                </a:solidFill>
                <a:latin typeface="Calibri"/>
                <a:ea typeface="Calibri"/>
              </a:rPr>
              <a:t>Next Phase — AI Chatbot (</a:t>
            </a:r>
            <a:r>
              <a:rPr lang="en-IN" sz="2200" b="1" strike="noStrike" spc="-1" dirty="0" err="1">
                <a:solidFill>
                  <a:schemeClr val="dk1"/>
                </a:solidFill>
                <a:latin typeface="Calibri"/>
                <a:ea typeface="Calibri"/>
              </a:rPr>
              <a:t>Aithent</a:t>
            </a:r>
            <a:r>
              <a:rPr lang="en-IN" sz="2200" b="1" strike="noStrike" spc="-1" dirty="0">
                <a:solidFill>
                  <a:schemeClr val="dk1"/>
                </a:solidFill>
                <a:latin typeface="Calibri"/>
                <a:ea typeface="Calibri"/>
              </a:rPr>
              <a:t> Website):</a:t>
            </a:r>
            <a:endParaRPr lang="en-IN" sz="2200" b="0" strike="noStrike" spc="-1" dirty="0">
              <a:solidFill>
                <a:schemeClr val="dk1"/>
              </a:solidFill>
              <a:latin typeface="Arial"/>
            </a:endParaRPr>
          </a:p>
          <a:p>
            <a:pPr marL="863600" lvl="1" indent="-323850" defTabSz="914400">
              <a:lnSpc>
                <a:spcPct val="90000"/>
              </a:lnSpc>
              <a:spcBef>
                <a:spcPts val="1134"/>
              </a:spcBef>
              <a:buClr>
                <a:srgbClr val="000000"/>
              </a:buClr>
              <a:buSzPct val="75000"/>
              <a:buFont typeface="Arial" charset="2"/>
              <a:buChar char="•"/>
              <a:tabLst>
                <a:tab pos="0" algn="l"/>
              </a:tabLst>
            </a:pPr>
            <a:r>
              <a:rPr lang="en-IN" sz="2000" b="0" strike="noStrike" spc="-1">
                <a:solidFill>
                  <a:schemeClr val="dk1"/>
                </a:solidFill>
                <a:latin typeface="Calibri"/>
                <a:ea typeface="Calibri"/>
              </a:rPr>
              <a:t>To be integrated once content and SEO are finalized</a:t>
            </a:r>
            <a:endParaRPr lang="en-IN" sz="2000" b="0" strike="noStrike" spc="-1">
              <a:solidFill>
                <a:srgbClr val="000000"/>
              </a:solidFill>
              <a:latin typeface="Arial"/>
              <a:cs typeface="Arial"/>
            </a:endParaRPr>
          </a:p>
          <a:p>
            <a:pPr marL="882650" lvl="1" indent="-342900" defTabSz="914400">
              <a:lnSpc>
                <a:spcPct val="90000"/>
              </a:lnSpc>
              <a:spcBef>
                <a:spcPts val="1134"/>
              </a:spcBef>
              <a:buClr>
                <a:srgbClr val="000000"/>
              </a:buClr>
              <a:buSzPct val="75000"/>
              <a:buFont typeface="Arial"/>
              <a:buChar char="•"/>
              <a:tabLst>
                <a:tab pos="0" algn="l"/>
              </a:tabLst>
            </a:pPr>
            <a:r>
              <a:rPr lang="en-IN" sz="2000" b="0" strike="noStrike" spc="-1">
                <a:solidFill>
                  <a:schemeClr val="dk1"/>
                </a:solidFill>
                <a:latin typeface="Calibri"/>
                <a:ea typeface="Calibri"/>
              </a:rPr>
              <a:t>Trained on full website content to answer product/service queries, guide visitors to relevant pages, and support lead qualification</a:t>
            </a:r>
            <a:endParaRPr lang="en-IN" sz="2000" b="0" strike="noStrike" spc="-1">
              <a:solidFill>
                <a:srgbClr val="000000"/>
              </a:solidFill>
              <a:latin typeface="Arial"/>
              <a:cs typeface="Arial"/>
            </a:endParaRPr>
          </a:p>
          <a:p>
            <a:pPr marL="863600" lvl="1" indent="-323850" defTabSz="914400">
              <a:lnSpc>
                <a:spcPct val="90000"/>
              </a:lnSpc>
              <a:spcBef>
                <a:spcPts val="1134"/>
              </a:spcBef>
              <a:buClr>
                <a:srgbClr val="000000"/>
              </a:buClr>
              <a:buSzPct val="75000"/>
              <a:buFont typeface="Arial" charset="2"/>
              <a:buChar char="•"/>
              <a:tabLst>
                <a:tab pos="0" algn="l"/>
              </a:tabLst>
            </a:pPr>
            <a:r>
              <a:rPr lang="en-IN" sz="2000" b="1" strike="noStrike" spc="-1">
                <a:solidFill>
                  <a:schemeClr val="dk1"/>
                </a:solidFill>
                <a:latin typeface="Calibri"/>
                <a:ea typeface="Calibri"/>
              </a:rPr>
              <a:t>Business Value:</a:t>
            </a:r>
            <a:r>
              <a:rPr lang="en-IN" sz="2000" b="0" strike="noStrike" spc="-1">
                <a:solidFill>
                  <a:schemeClr val="dk1"/>
                </a:solidFill>
                <a:latin typeface="Calibri"/>
                <a:ea typeface="Calibri"/>
              </a:rPr>
              <a:t> Better customer experience, reduced support load, 24/7 lead capture</a:t>
            </a:r>
            <a:endParaRPr lang="en-IN" sz="2000" b="0" strike="noStrike" spc="-1">
              <a:solidFill>
                <a:srgbClr val="000000"/>
              </a:solidFill>
              <a:latin typeface="Arial"/>
              <a:cs typeface="Arial"/>
            </a:endParaRPr>
          </a:p>
          <a:p>
            <a:pPr indent="0" defTabSz="914400">
              <a:lnSpc>
                <a:spcPct val="90000"/>
              </a:lnSpc>
              <a:spcBef>
                <a:spcPts val="1134"/>
              </a:spcBef>
              <a:buNone/>
              <a:tabLst>
                <a:tab pos="0" algn="l"/>
              </a:tabLst>
            </a:pPr>
            <a:endParaRPr lang="en-IN" sz="2200" b="0" strike="noStrike" spc="-1">
              <a:solidFill>
                <a:srgbClr val="000000"/>
              </a:solidFill>
              <a:latin typeface="Arial"/>
            </a:endParaRPr>
          </a:p>
          <a:p>
            <a:pPr indent="0" defTabSz="914400">
              <a:lnSpc>
                <a:spcPct val="90000"/>
              </a:lnSpc>
              <a:spcBef>
                <a:spcPts val="1191"/>
              </a:spcBef>
              <a:spcAft>
                <a:spcPts val="992"/>
              </a:spcAft>
              <a:buNone/>
              <a:tabLst>
                <a:tab pos="0" algn="l"/>
              </a:tabLst>
            </a:pPr>
            <a:r>
              <a:rPr lang="en-IN" sz="2200" b="1" strike="noStrike" spc="-1">
                <a:solidFill>
                  <a:schemeClr val="dk1"/>
                </a:solidFill>
                <a:latin typeface="Calibri"/>
                <a:ea typeface="Calibri"/>
              </a:rPr>
              <a:t>AI Strategy Across Our Websites:</a:t>
            </a:r>
            <a:endParaRPr lang="en-IN" sz="2200" b="0" strike="noStrike" spc="-1">
              <a:solidFill>
                <a:srgbClr val="000000"/>
              </a:solidFill>
              <a:latin typeface="Arial"/>
            </a:endParaRPr>
          </a:p>
          <a:p>
            <a:pPr marL="800100" lvl="1" indent="-342900" defTabSz="914400">
              <a:lnSpc>
                <a:spcPct val="90000"/>
              </a:lnSpc>
              <a:spcBef>
                <a:spcPts val="1191"/>
              </a:spcBef>
              <a:spcAft>
                <a:spcPts val="992"/>
              </a:spcAft>
              <a:buClr>
                <a:srgbClr val="000000"/>
              </a:buClr>
              <a:buSzPct val="80000"/>
              <a:buFont typeface="Arial" charset="2"/>
              <a:buChar char="•"/>
              <a:tabLst>
                <a:tab pos="0" algn="l"/>
              </a:tabLst>
            </a:pPr>
            <a:r>
              <a:rPr lang="en-IN" sz="1800" b="0" strike="noStrike" spc="-1">
                <a:solidFill>
                  <a:schemeClr val="dk1"/>
                </a:solidFill>
                <a:latin typeface="Calibri"/>
                <a:ea typeface="Calibri"/>
              </a:rPr>
              <a:t>AI already enables custom, enterprise-level functionality on the new </a:t>
            </a:r>
            <a:r>
              <a:rPr lang="en-IN" sz="1800" b="0" strike="noStrike" spc="-1" err="1">
                <a:solidFill>
                  <a:schemeClr val="dk1"/>
                </a:solidFill>
                <a:latin typeface="Calibri"/>
                <a:ea typeface="Calibri"/>
              </a:rPr>
              <a:t>Aithent</a:t>
            </a:r>
            <a:r>
              <a:rPr lang="en-IN" sz="1800" b="0" strike="noStrike" spc="-1">
                <a:solidFill>
                  <a:schemeClr val="dk1"/>
                </a:solidFill>
                <a:latin typeface="Calibri"/>
                <a:ea typeface="Calibri"/>
              </a:rPr>
              <a:t> website</a:t>
            </a:r>
            <a:endParaRPr lang="en-IN" sz="1800" b="0" strike="noStrike" spc="-1">
              <a:solidFill>
                <a:schemeClr val="dk1"/>
              </a:solidFill>
              <a:latin typeface="Arial"/>
              <a:cs typeface="Arial"/>
            </a:endParaRPr>
          </a:p>
          <a:p>
            <a:pPr marL="800100" lvl="1" indent="-342900" defTabSz="914400">
              <a:lnSpc>
                <a:spcPct val="90000"/>
              </a:lnSpc>
              <a:spcBef>
                <a:spcPts val="1191"/>
              </a:spcBef>
              <a:spcAft>
                <a:spcPts val="992"/>
              </a:spcAft>
              <a:buClr>
                <a:srgbClr val="000000"/>
              </a:buClr>
              <a:buSzPct val="80000"/>
              <a:buFont typeface="Arial" charset="2"/>
              <a:buChar char="•"/>
              <a:tabLst>
                <a:tab pos="0" algn="l"/>
              </a:tabLst>
            </a:pPr>
            <a:r>
              <a:rPr lang="en-IN" sz="1800" b="0" strike="noStrike" spc="-1">
                <a:solidFill>
                  <a:schemeClr val="dk1"/>
                </a:solidFill>
                <a:latin typeface="Calibri"/>
                <a:ea typeface="Calibri"/>
              </a:rPr>
              <a:t>Supports smarter content delivery and personalized user experience</a:t>
            </a:r>
            <a:endParaRPr lang="en-IN" sz="1800" b="0" strike="noStrike" spc="-1">
              <a:solidFill>
                <a:srgbClr val="000000"/>
              </a:solidFill>
              <a:latin typeface="Arial"/>
              <a:cs typeface="Arial"/>
            </a:endParaRPr>
          </a:p>
          <a:p>
            <a:pPr marL="800100" lvl="1" indent="-342900" defTabSz="914400">
              <a:lnSpc>
                <a:spcPct val="90000"/>
              </a:lnSpc>
              <a:spcBef>
                <a:spcPts val="1191"/>
              </a:spcBef>
              <a:spcAft>
                <a:spcPts val="992"/>
              </a:spcAft>
              <a:buClr>
                <a:srgbClr val="000000"/>
              </a:buClr>
              <a:buSzPct val="80000"/>
              <a:buFont typeface="Arial" charset="2"/>
              <a:buChar char="•"/>
              <a:tabLst>
                <a:tab pos="0" algn="l"/>
              </a:tabLst>
            </a:pPr>
            <a:r>
              <a:rPr lang="en-IN" sz="1800" b="0" strike="noStrike" spc="-1">
                <a:solidFill>
                  <a:schemeClr val="dk1"/>
                </a:solidFill>
                <a:latin typeface="Calibri"/>
                <a:ea typeface="Calibri"/>
              </a:rPr>
              <a:t>Chatbot and other AI capabilities planned to extend across other company websites going forward</a:t>
            </a:r>
            <a:endParaRPr lang="en-IN" sz="1800" b="0" strike="noStrike" spc="-1">
              <a:solidFill>
                <a:srgbClr val="000000"/>
              </a:solidFill>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672817" y="335491"/>
            <a:ext cx="11357663" cy="747720"/>
          </a:xfrm>
          <a:prstGeom prst="rect">
            <a:avLst/>
          </a:prstGeom>
          <a:noFill/>
          <a:ln w="0">
            <a:noFill/>
          </a:ln>
        </p:spPr>
        <p:txBody>
          <a:bodyPr lIns="91440" tIns="45720" rIns="91440" bIns="45720" anchor="ctr">
            <a:noAutofit/>
          </a:bodyPr>
          <a:lstStyle/>
          <a:p>
            <a:pPr indent="0" defTabSz="914400">
              <a:lnSpc>
                <a:spcPct val="90000"/>
              </a:lnSpc>
              <a:spcBef>
                <a:spcPts val="1191"/>
              </a:spcBef>
              <a:spcAft>
                <a:spcPts val="992"/>
              </a:spcAft>
              <a:buNone/>
              <a:tabLst>
                <a:tab pos="0" algn="l"/>
              </a:tabLst>
            </a:pPr>
            <a:r>
              <a:rPr lang="en-IN" sz="3600" b="1" strike="noStrike" spc="-1">
                <a:solidFill>
                  <a:schemeClr val="dk1"/>
                </a:solidFill>
                <a:latin typeface="Calibri"/>
                <a:ea typeface="Calibri"/>
              </a:rPr>
              <a:t>QuinteFT, A2ORU &amp; Upcoming Projects </a:t>
            </a:r>
            <a:endParaRPr lang="en-IN" sz="3600" b="0" strike="noStrike" spc="-1">
              <a:solidFill>
                <a:srgbClr val="000000"/>
              </a:solidFill>
              <a:latin typeface="Arial"/>
            </a:endParaRPr>
          </a:p>
        </p:txBody>
      </p:sp>
      <p:sp>
        <p:nvSpPr>
          <p:cNvPr id="65" name="PlaceHolder 3"/>
          <p:cNvSpPr txBox="1"/>
          <p:nvPr/>
        </p:nvSpPr>
        <p:spPr>
          <a:xfrm>
            <a:off x="676365" y="1211371"/>
            <a:ext cx="11354115" cy="5509080"/>
          </a:xfrm>
          <a:prstGeom prst="rect">
            <a:avLst/>
          </a:prstGeom>
          <a:noFill/>
          <a:ln w="0">
            <a:noFill/>
          </a:ln>
        </p:spPr>
        <p:txBody>
          <a:bodyPr lIns="91440" tIns="45720" rIns="91440" bIns="45720" anchor="t">
            <a:noAutofit/>
          </a:bodyPr>
          <a:lstStyle/>
          <a:p>
            <a:pPr defTabSz="914400">
              <a:lnSpc>
                <a:spcPct val="90000"/>
              </a:lnSpc>
              <a:spcBef>
                <a:spcPts val="1191"/>
              </a:spcBef>
              <a:spcAft>
                <a:spcPts val="992"/>
              </a:spcAft>
              <a:tabLst>
                <a:tab pos="0" algn="l"/>
              </a:tabLst>
            </a:pPr>
            <a:r>
              <a:rPr lang="en-IN" b="1" strike="noStrike" spc="-1" dirty="0" err="1">
                <a:solidFill>
                  <a:schemeClr val="dk1"/>
                </a:solidFill>
                <a:latin typeface="Calibri"/>
                <a:ea typeface="Calibri"/>
              </a:rPr>
              <a:t>QuinteFT</a:t>
            </a:r>
            <a:r>
              <a:rPr lang="en-IN" b="1" strike="noStrike" spc="-1" dirty="0">
                <a:solidFill>
                  <a:schemeClr val="dk1"/>
                </a:solidFill>
                <a:latin typeface="Calibri"/>
                <a:ea typeface="Calibri"/>
              </a:rPr>
              <a:t> Website:</a:t>
            </a:r>
            <a:endParaRPr lang="en-IN" b="0" strike="noStrike" spc="-1" dirty="0">
              <a:solidFill>
                <a:schemeClr val="dk1"/>
              </a:solidFill>
              <a:latin typeface="Calibri"/>
              <a:ea typeface="Calibri"/>
              <a:cs typeface="Calibri"/>
            </a:endParaRPr>
          </a:p>
          <a:p>
            <a:pPr marL="863600" lvl="1" indent="-323850" defTabSz="914400">
              <a:lnSpc>
                <a:spcPct val="90000"/>
              </a:lnSpc>
              <a:spcBef>
                <a:spcPts val="1134"/>
              </a:spcBef>
              <a:buClr>
                <a:srgbClr val="000000"/>
              </a:buClr>
              <a:buSzPct val="75000"/>
              <a:buFont typeface="Arial" charset="2"/>
              <a:buChar char="•"/>
              <a:tabLst>
                <a:tab pos="0" algn="l"/>
              </a:tabLst>
            </a:pPr>
            <a:r>
              <a:rPr lang="en-IN" b="0" strike="noStrike" spc="-1">
                <a:solidFill>
                  <a:schemeClr val="dk1"/>
                </a:solidFill>
                <a:latin typeface="Calibri"/>
                <a:ea typeface="Calibri"/>
              </a:rPr>
              <a:t>Significantly more stable, with reduced downtime</a:t>
            </a:r>
            <a:endParaRPr lang="en-IN" b="0" strike="noStrike" spc="-1">
              <a:solidFill>
                <a:schemeClr val="dk1"/>
              </a:solidFill>
              <a:latin typeface="Calibri"/>
              <a:ea typeface="Calibri"/>
              <a:cs typeface="Calibri"/>
            </a:endParaRPr>
          </a:p>
          <a:p>
            <a:pPr marL="863600" lvl="1" indent="-323850" defTabSz="914400">
              <a:lnSpc>
                <a:spcPct val="90000"/>
              </a:lnSpc>
              <a:spcBef>
                <a:spcPts val="1134"/>
              </a:spcBef>
              <a:buClr>
                <a:srgbClr val="000000"/>
              </a:buClr>
              <a:buSzPct val="75000"/>
              <a:buFont typeface="Arial" charset="2"/>
              <a:buChar char="•"/>
              <a:tabLst>
                <a:tab pos="0" algn="l"/>
              </a:tabLst>
            </a:pPr>
            <a:r>
              <a:rPr lang="en-IN" b="1" strike="noStrike" spc="-1">
                <a:solidFill>
                  <a:schemeClr val="dk1"/>
                </a:solidFill>
                <a:latin typeface="Calibri"/>
                <a:ea typeface="Calibri"/>
              </a:rPr>
              <a:t>Next Step:</a:t>
            </a:r>
            <a:r>
              <a:rPr lang="en-IN" b="0" strike="noStrike" spc="-1">
                <a:solidFill>
                  <a:schemeClr val="dk1"/>
                </a:solidFill>
                <a:latin typeface="Calibri"/>
                <a:ea typeface="Calibri"/>
              </a:rPr>
              <a:t> Implement a CDN to improve load speed and global accessibility</a:t>
            </a:r>
            <a:endParaRPr lang="en-IN" b="0" strike="noStrike" spc="-1">
              <a:solidFill>
                <a:schemeClr val="dk1"/>
              </a:solidFill>
              <a:latin typeface="Calibri"/>
              <a:ea typeface="Calibri"/>
              <a:cs typeface="Calibri"/>
            </a:endParaRPr>
          </a:p>
          <a:p>
            <a:pPr defTabSz="914400">
              <a:lnSpc>
                <a:spcPct val="90000"/>
              </a:lnSpc>
              <a:spcBef>
                <a:spcPts val="1191"/>
              </a:spcBef>
              <a:spcAft>
                <a:spcPts val="992"/>
              </a:spcAft>
              <a:tabLst>
                <a:tab pos="0" algn="l"/>
              </a:tabLst>
            </a:pPr>
            <a:r>
              <a:rPr lang="en-IN" b="1" strike="noStrike" spc="-1">
                <a:solidFill>
                  <a:schemeClr val="dk1"/>
                </a:solidFill>
                <a:latin typeface="Calibri"/>
                <a:ea typeface="Calibri"/>
              </a:rPr>
              <a:t>A2ORU Website:</a:t>
            </a:r>
            <a:endParaRPr lang="en-IN" b="0" strike="noStrike" spc="-1">
              <a:solidFill>
                <a:schemeClr val="dk1"/>
              </a:solidFill>
              <a:latin typeface="Calibri"/>
              <a:ea typeface="Calibri"/>
              <a:cs typeface="Calibri"/>
            </a:endParaRPr>
          </a:p>
          <a:p>
            <a:pPr marL="742950" lvl="1" indent="-285750" defTabSz="914400">
              <a:lnSpc>
                <a:spcPct val="90000"/>
              </a:lnSpc>
              <a:spcBef>
                <a:spcPts val="1191"/>
              </a:spcBef>
              <a:spcAft>
                <a:spcPts val="992"/>
              </a:spcAft>
              <a:buClr>
                <a:srgbClr val="000000"/>
              </a:buClr>
              <a:buSzPct val="80000"/>
              <a:buFont typeface="Arial"/>
              <a:buChar char="•"/>
              <a:tabLst>
                <a:tab pos="0" algn="l"/>
              </a:tabLst>
            </a:pPr>
            <a:r>
              <a:rPr lang="en-IN" sz="1800" b="0" strike="noStrike" spc="-1">
                <a:solidFill>
                  <a:schemeClr val="dk1"/>
                </a:solidFill>
                <a:latin typeface="Calibri"/>
                <a:ea typeface="Calibri"/>
              </a:rPr>
              <a:t>Delivered as a single-page site showcasing product purpose, features, and benefits</a:t>
            </a:r>
            <a:endParaRPr lang="en-IN" sz="1800" b="0" strike="noStrike" spc="-1">
              <a:solidFill>
                <a:schemeClr val="dk1"/>
              </a:solidFill>
              <a:latin typeface="Calibri"/>
              <a:ea typeface="Calibri"/>
              <a:cs typeface="Calibri"/>
            </a:endParaRPr>
          </a:p>
          <a:p>
            <a:pPr marL="800100" lvl="1" indent="-342900" defTabSz="914400">
              <a:lnSpc>
                <a:spcPct val="90000"/>
              </a:lnSpc>
              <a:spcBef>
                <a:spcPts val="1191"/>
              </a:spcBef>
              <a:spcAft>
                <a:spcPts val="992"/>
              </a:spcAft>
              <a:buClr>
                <a:srgbClr val="000000"/>
              </a:buClr>
              <a:buSzPct val="80000"/>
              <a:buFont typeface="Arial" charset="2"/>
              <a:buChar char="•"/>
              <a:tabLst>
                <a:tab pos="0" algn="l"/>
              </a:tabLst>
            </a:pPr>
            <a:r>
              <a:rPr lang="en-IN" sz="1800" b="0" strike="noStrike" spc="-1">
                <a:solidFill>
                  <a:schemeClr val="dk1"/>
                </a:solidFill>
                <a:latin typeface="Calibri"/>
                <a:ea typeface="Calibri"/>
              </a:rPr>
              <a:t>Built for fast understanding and quicker prospect decision-making</a:t>
            </a:r>
            <a:endParaRPr lang="en-IN" sz="1800" b="0" strike="noStrike" spc="-1">
              <a:solidFill>
                <a:schemeClr val="dk1"/>
              </a:solidFill>
              <a:latin typeface="Calibri"/>
              <a:ea typeface="Calibri"/>
              <a:cs typeface="Calibri"/>
            </a:endParaRPr>
          </a:p>
          <a:p>
            <a:pPr defTabSz="914400">
              <a:lnSpc>
                <a:spcPct val="90000"/>
              </a:lnSpc>
              <a:spcBef>
                <a:spcPts val="1191"/>
              </a:spcBef>
              <a:spcAft>
                <a:spcPts val="992"/>
              </a:spcAft>
              <a:tabLst>
                <a:tab pos="0" algn="l"/>
              </a:tabLst>
            </a:pPr>
            <a:r>
              <a:rPr lang="en-IN" b="1" strike="noStrike" spc="-1">
                <a:solidFill>
                  <a:schemeClr val="dk1"/>
                </a:solidFill>
                <a:latin typeface="Calibri"/>
                <a:ea typeface="Calibri"/>
              </a:rPr>
              <a:t>A2ORU Website:</a:t>
            </a:r>
            <a:endParaRPr lang="en-IN" b="0" strike="noStrike" spc="-1">
              <a:solidFill>
                <a:schemeClr val="dk1"/>
              </a:solidFill>
              <a:latin typeface="Calibri"/>
              <a:ea typeface="Calibri"/>
              <a:cs typeface="Calibri"/>
            </a:endParaRPr>
          </a:p>
          <a:p>
            <a:pPr marL="717550" lvl="2" indent="-285750" defTabSz="914400">
              <a:lnSpc>
                <a:spcPct val="90000"/>
              </a:lnSpc>
              <a:spcBef>
                <a:spcPts val="1417"/>
              </a:spcBef>
              <a:spcAft>
                <a:spcPts val="567"/>
              </a:spcAft>
              <a:buClr>
                <a:srgbClr val="000000"/>
              </a:buClr>
              <a:buSzPct val="45000"/>
              <a:buFont typeface="Arial"/>
              <a:buChar char="•"/>
              <a:tabLst>
                <a:tab pos="0" algn="l"/>
              </a:tabLst>
            </a:pPr>
            <a:r>
              <a:rPr lang="en-IN" sz="1800" b="1" strike="noStrike" spc="-1">
                <a:solidFill>
                  <a:schemeClr val="dk1"/>
                </a:solidFill>
                <a:latin typeface="Calibri"/>
                <a:ea typeface="Calibri"/>
              </a:rPr>
              <a:t>Why:</a:t>
            </a:r>
            <a:r>
              <a:rPr lang="en-IN" sz="1800" b="0" strike="noStrike" spc="-1">
                <a:solidFill>
                  <a:schemeClr val="dk1"/>
                </a:solidFill>
                <a:latin typeface="Calibri"/>
                <a:ea typeface="Calibri"/>
              </a:rPr>
              <a:t> Current sites don't reflect current branding or industry standards</a:t>
            </a:r>
            <a:endParaRPr lang="en-IN" sz="1800" b="0" strike="noStrike" spc="-1">
              <a:solidFill>
                <a:schemeClr val="dk1"/>
              </a:solidFill>
              <a:latin typeface="Calibri"/>
              <a:ea typeface="Calibri"/>
              <a:cs typeface="Calibri"/>
            </a:endParaRPr>
          </a:p>
          <a:p>
            <a:pPr marL="647700" lvl="2" indent="-215900" defTabSz="914400">
              <a:lnSpc>
                <a:spcPct val="90000"/>
              </a:lnSpc>
              <a:spcBef>
                <a:spcPts val="1417"/>
              </a:spcBef>
              <a:spcAft>
                <a:spcPts val="567"/>
              </a:spcAft>
              <a:buClr>
                <a:srgbClr val="000000"/>
              </a:buClr>
              <a:buSzPct val="45000"/>
              <a:buFont typeface="Arial" charset="2"/>
              <a:buChar char="•"/>
              <a:tabLst>
                <a:tab pos="0" algn="l"/>
              </a:tabLst>
            </a:pPr>
            <a:r>
              <a:rPr lang="en-IN" sz="1800" b="1" strike="noStrike" spc="-1" dirty="0">
                <a:solidFill>
                  <a:schemeClr val="dk1"/>
                </a:solidFill>
                <a:latin typeface="Calibri"/>
                <a:ea typeface="Calibri"/>
              </a:rPr>
              <a:t>Approach:</a:t>
            </a:r>
            <a:r>
              <a:rPr lang="en-IN" sz="1800" b="0" strike="noStrike" spc="-1" dirty="0">
                <a:solidFill>
                  <a:schemeClr val="dk1"/>
                </a:solidFill>
                <a:latin typeface="Calibri"/>
                <a:ea typeface="Calibri"/>
              </a:rPr>
              <a:t> Redesign using the same modern standards applied to </a:t>
            </a:r>
            <a:r>
              <a:rPr lang="en-IN" sz="1800" b="0" strike="noStrike" spc="-1" dirty="0" err="1">
                <a:solidFill>
                  <a:schemeClr val="dk1"/>
                </a:solidFill>
                <a:latin typeface="Calibri"/>
                <a:ea typeface="Calibri"/>
              </a:rPr>
              <a:t>Aithent</a:t>
            </a:r>
            <a:r>
              <a:rPr lang="en-IN" sz="1800" b="0" strike="noStrike" spc="-1" dirty="0">
                <a:solidFill>
                  <a:schemeClr val="dk1"/>
                </a:solidFill>
                <a:latin typeface="Calibri"/>
                <a:ea typeface="Calibri"/>
              </a:rPr>
              <a:t> and Quinte — improved messaging, navigation, and CTAs</a:t>
            </a:r>
            <a:endParaRPr lang="en-IN" sz="1800" b="0" strike="noStrike" spc="-1" dirty="0">
              <a:solidFill>
                <a:schemeClr val="dk1"/>
              </a:solidFill>
              <a:latin typeface="Calibri"/>
              <a:ea typeface="Calibri"/>
              <a:cs typeface="Calibri"/>
            </a:endParaRPr>
          </a:p>
          <a:p>
            <a:pPr marL="647700" lvl="2" indent="-215900" defTabSz="914400">
              <a:lnSpc>
                <a:spcPct val="90000"/>
              </a:lnSpc>
              <a:spcBef>
                <a:spcPts val="1417"/>
              </a:spcBef>
              <a:spcAft>
                <a:spcPts val="567"/>
              </a:spcAft>
              <a:buClr>
                <a:srgbClr val="000000"/>
              </a:buClr>
              <a:buSzPct val="45000"/>
              <a:buFont typeface="Arial" charset="2"/>
              <a:buChar char="•"/>
              <a:tabLst>
                <a:tab pos="0" algn="l"/>
              </a:tabLst>
            </a:pPr>
            <a:r>
              <a:rPr lang="en-IN" sz="1800" b="1" strike="noStrike" spc="-1">
                <a:solidFill>
                  <a:schemeClr val="dk1"/>
                </a:solidFill>
                <a:latin typeface="Calibri"/>
                <a:ea typeface="Calibri"/>
              </a:rPr>
              <a:t>Expected Impact:</a:t>
            </a:r>
            <a:r>
              <a:rPr lang="en-IN" sz="1800" b="0" strike="noStrike" spc="-1">
                <a:solidFill>
                  <a:schemeClr val="dk1"/>
                </a:solidFill>
                <a:latin typeface="Calibri"/>
                <a:ea typeface="Calibri"/>
              </a:rPr>
              <a:t> Stronger brand consistency and improved lead generation</a:t>
            </a:r>
            <a:endParaRPr lang="en-IN" sz="1800" b="0" strike="noStrike" spc="-1">
              <a:solidFill>
                <a:schemeClr val="dk1"/>
              </a:solidFill>
              <a:latin typeface="Calibri"/>
              <a:ea typeface="Calibri"/>
              <a:cs typeface="Calibri"/>
            </a:endParaRPr>
          </a:p>
          <a:p>
            <a:pPr defTabSz="914400">
              <a:lnSpc>
                <a:spcPct val="90000"/>
              </a:lnSpc>
              <a:spcBef>
                <a:spcPts val="1191"/>
              </a:spcBef>
              <a:spcAft>
                <a:spcPts val="992"/>
              </a:spcAft>
              <a:tabLst>
                <a:tab pos="0" algn="l"/>
              </a:tabLst>
            </a:pPr>
            <a:endParaRPr lang="en-IN" b="0" strike="noStrike" spc="-1">
              <a:solidFill>
                <a:srgbClr val="000000"/>
              </a:solidFill>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694589" y="466120"/>
            <a:ext cx="11270577" cy="747720"/>
          </a:xfrm>
          <a:prstGeom prst="rect">
            <a:avLst/>
          </a:prstGeom>
          <a:noFill/>
          <a:ln w="0">
            <a:noFill/>
          </a:ln>
        </p:spPr>
        <p:txBody>
          <a:bodyPr lIns="91440" tIns="45720" rIns="91440" bIns="45720" anchor="ctr">
            <a:noAutofit/>
          </a:bodyPr>
          <a:lstStyle/>
          <a:p>
            <a:pPr indent="0" defTabSz="914400">
              <a:lnSpc>
                <a:spcPct val="90000"/>
              </a:lnSpc>
              <a:spcBef>
                <a:spcPts val="1191"/>
              </a:spcBef>
              <a:spcAft>
                <a:spcPts val="992"/>
              </a:spcAft>
              <a:buNone/>
              <a:tabLst>
                <a:tab pos="0" algn="l"/>
              </a:tabLst>
            </a:pPr>
            <a:r>
              <a:rPr lang="en-IN" b="1">
                <a:latin typeface="Calibri"/>
                <a:ea typeface="Calibri"/>
                <a:cs typeface="Calibri"/>
              </a:rPr>
              <a:t>Roadmap &amp; Timeline </a:t>
            </a:r>
          </a:p>
        </p:txBody>
      </p:sp>
      <p:graphicFrame>
        <p:nvGraphicFramePr>
          <p:cNvPr id="67" name="Table 66"/>
          <p:cNvGraphicFramePr/>
          <p:nvPr>
            <p:extLst>
              <p:ext uri="{D42A27DB-BD31-4B8C-83A1-F6EECF244321}">
                <p14:modId xmlns:p14="http://schemas.microsoft.com/office/powerpoint/2010/main" val="1957446743"/>
              </p:ext>
            </p:extLst>
          </p:nvPr>
        </p:nvGraphicFramePr>
        <p:xfrm>
          <a:off x="834571" y="1465942"/>
          <a:ext cx="8639686" cy="4647600"/>
        </p:xfrm>
        <a:graphic>
          <a:graphicData uri="http://schemas.openxmlformats.org/drawingml/2006/table">
            <a:tbl>
              <a:tblPr/>
              <a:tblGrid>
                <a:gridCol w="2162432">
                  <a:extLst>
                    <a:ext uri="{9D8B030D-6E8A-4147-A177-3AD203B41FA5}">
                      <a16:colId xmlns:a16="http://schemas.microsoft.com/office/drawing/2014/main" val="20000"/>
                    </a:ext>
                  </a:extLst>
                </a:gridCol>
                <a:gridCol w="3783454">
                  <a:extLst>
                    <a:ext uri="{9D8B030D-6E8A-4147-A177-3AD203B41FA5}">
                      <a16:colId xmlns:a16="http://schemas.microsoft.com/office/drawing/2014/main" val="20001"/>
                    </a:ext>
                  </a:extLst>
                </a:gridCol>
                <a:gridCol w="2693800">
                  <a:extLst>
                    <a:ext uri="{9D8B030D-6E8A-4147-A177-3AD203B41FA5}">
                      <a16:colId xmlns:a16="http://schemas.microsoft.com/office/drawing/2014/main" val="20002"/>
                    </a:ext>
                  </a:extLst>
                </a:gridCol>
              </a:tblGrid>
              <a:tr h="673200">
                <a:tc>
                  <a:txBody>
                    <a:bodyPr/>
                    <a:lstStyle/>
                    <a:p>
                      <a:pPr>
                        <a:lnSpc>
                          <a:spcPct val="100000"/>
                        </a:lnSpc>
                      </a:pPr>
                      <a:r>
                        <a:rPr lang="en-IN" sz="1600" b="1" strike="noStrike" spc="-1">
                          <a:solidFill>
                            <a:srgbClr val="000000"/>
                          </a:solidFill>
                          <a:latin typeface="Calibri"/>
                          <a:ea typeface="Calibri"/>
                          <a:cs typeface="Calibri"/>
                        </a:rPr>
                        <a:t>Website</a:t>
                      </a:r>
                      <a:endParaRPr lang="en-IN" sz="1600" b="0" strike="noStrike" spc="-1">
                        <a:solidFill>
                          <a:srgbClr val="000000"/>
                        </a:solidFill>
                        <a:latin typeface="Calibri"/>
                        <a:ea typeface="Calibri"/>
                        <a:cs typeface="Calibri"/>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1" strike="noStrike" spc="-1">
                          <a:solidFill>
                            <a:srgbClr val="000000"/>
                          </a:solidFill>
                          <a:latin typeface="Calibri"/>
                          <a:ea typeface="Calibri"/>
                          <a:cs typeface="Calibri"/>
                        </a:rPr>
                        <a:t>Status</a:t>
                      </a:r>
                      <a:endParaRPr lang="en-IN" sz="1600" b="0" strike="noStrike" spc="-1">
                        <a:solidFill>
                          <a:srgbClr val="000000"/>
                        </a:solidFill>
                        <a:latin typeface="Calibri"/>
                        <a:ea typeface="Calibri"/>
                        <a:cs typeface="Calibri"/>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1" strike="noStrike" spc="-1">
                          <a:solidFill>
                            <a:srgbClr val="000000"/>
                          </a:solidFill>
                          <a:latin typeface="Calibri"/>
                          <a:ea typeface="Calibri"/>
                          <a:cs typeface="Calibri"/>
                        </a:rPr>
                        <a:t>Next Milestone</a:t>
                      </a:r>
                      <a:endParaRPr lang="en-IN" sz="1600" b="0" strike="noStrike" spc="-1">
                        <a:solidFill>
                          <a:srgbClr val="000000"/>
                        </a:solidFill>
                        <a:latin typeface="Calibri"/>
                        <a:ea typeface="Calibri"/>
                        <a:cs typeface="Calibri"/>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606240">
                <a:tc>
                  <a:txBody>
                    <a:bodyPr/>
                    <a:lstStyle/>
                    <a:p>
                      <a:pPr>
                        <a:lnSpc>
                          <a:spcPct val="100000"/>
                        </a:lnSpc>
                      </a:pPr>
                      <a:r>
                        <a:rPr lang="en-IN" sz="1600" b="0" strike="noStrike" spc="-1" dirty="0" err="1">
                          <a:solidFill>
                            <a:srgbClr val="000000"/>
                          </a:solidFill>
                          <a:latin typeface="Calibri"/>
                          <a:ea typeface="Calibri"/>
                          <a:cs typeface="Calibri"/>
                        </a:rPr>
                        <a:t>Aithent</a:t>
                      </a:r>
                      <a:r>
                        <a:rPr lang="en-IN" sz="1600" b="0" strike="noStrike" spc="-1" dirty="0">
                          <a:solidFill>
                            <a:srgbClr val="000000"/>
                          </a:solidFill>
                          <a:latin typeface="Calibri"/>
                          <a:ea typeface="Calibri"/>
                          <a:cs typeface="Calibri"/>
                        </a:rPr>
                        <a:t> </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Development In-progress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Review → Launch</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673200">
                <a:tc>
                  <a:txBody>
                    <a:bodyPr/>
                    <a:lstStyle/>
                    <a:p>
                      <a:pPr>
                        <a:lnSpc>
                          <a:spcPct val="100000"/>
                        </a:lnSpc>
                      </a:pPr>
                      <a:r>
                        <a:rPr lang="en-IN" sz="1600" b="0" strike="noStrike" spc="-1" dirty="0" err="1">
                          <a:solidFill>
                            <a:srgbClr val="000000"/>
                          </a:solidFill>
                          <a:latin typeface="Calibri"/>
                          <a:ea typeface="Calibri"/>
                          <a:cs typeface="Calibri"/>
                        </a:rPr>
                        <a:t>QuinteFT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Stable, live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CDN implementation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673200">
                <a:tc>
                  <a:txBody>
                    <a:bodyPr/>
                    <a:lstStyle/>
                    <a:p>
                      <a:pPr>
                        <a:lnSpc>
                          <a:spcPct val="100000"/>
                        </a:lnSpc>
                      </a:pPr>
                      <a:r>
                        <a:rPr lang="en-IN" sz="1600" b="0" strike="noStrike" spc="-1">
                          <a:solidFill>
                            <a:srgbClr val="000000"/>
                          </a:solidFill>
                          <a:latin typeface="Calibri"/>
                          <a:ea typeface="Calibri"/>
                          <a:cs typeface="Calibri"/>
                        </a:rPr>
                        <a:t>A2ORU</a:t>
                      </a: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Development Complete</a:t>
                      </a:r>
                    </a:p>
                  </a:txBody>
                  <a:tcPr marL="36000" marR="36000" anchor="ctr">
                    <a:lnL w="7200" cap="flat" cmpd="sng" algn="ctr">
                      <a:solidFill>
                        <a:srgbClr val="000000"/>
                      </a:solidFill>
                      <a:prstDash val="solid"/>
                      <a:round/>
                      <a:headEnd type="none" w="med" len="med"/>
                      <a:tailEnd type="none" w="med" len="me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Review → Launch</a:t>
                      </a: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3"/>
                  </a:ext>
                </a:extLst>
              </a:tr>
              <a:tr h="673200">
                <a:tc>
                  <a:txBody>
                    <a:bodyPr/>
                    <a:lstStyle/>
                    <a:p>
                      <a:pPr>
                        <a:lnSpc>
                          <a:spcPct val="100000"/>
                        </a:lnSpc>
                      </a:pPr>
                      <a:r>
                        <a:rPr lang="en-IN" sz="1600" b="0" strike="noStrike" spc="-1" dirty="0" err="1">
                          <a:solidFill>
                            <a:srgbClr val="000000"/>
                          </a:solidFill>
                          <a:latin typeface="Calibri"/>
                          <a:ea typeface="Calibri"/>
                          <a:cs typeface="Calibri"/>
                        </a:rPr>
                        <a:t>StafaCT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Planned</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673200">
                <a:tc>
                  <a:txBody>
                    <a:bodyPr/>
                    <a:lstStyle/>
                    <a:p>
                      <a:pPr>
                        <a:lnSpc>
                          <a:spcPct val="100000"/>
                        </a:lnSpc>
                      </a:pPr>
                      <a:r>
                        <a:rPr lang="en-IN" sz="1600" b="0" strike="noStrike" spc="-1">
                          <a:solidFill>
                            <a:srgbClr val="000000"/>
                          </a:solidFill>
                          <a:latin typeface="Calibri"/>
                          <a:ea typeface="Calibri"/>
                          <a:cs typeface="Calibri"/>
                        </a:rPr>
                        <a:t>IDS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Planned</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675360">
                <a:tc>
                  <a:txBody>
                    <a:bodyPr/>
                    <a:lstStyle/>
                    <a:p>
                      <a:pPr>
                        <a:lnSpc>
                          <a:spcPct val="100000"/>
                        </a:lnSpc>
                      </a:pPr>
                      <a:r>
                        <a:rPr lang="en-IN" sz="1600" b="0" strike="noStrike" spc="-1" dirty="0" err="1">
                          <a:solidFill>
                            <a:srgbClr val="000000"/>
                          </a:solidFill>
                          <a:latin typeface="Calibri"/>
                          <a:ea typeface="Calibri"/>
                          <a:cs typeface="Calibri"/>
                        </a:rPr>
                        <a:t>nCartes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Planned</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IN" sz="1600" b="0" strike="noStrike" spc="-1">
                          <a:solidFill>
                            <a:srgbClr val="000000"/>
                          </a:solidFill>
                          <a:latin typeface="Calibri"/>
                          <a:ea typeface="Calibri"/>
                          <a:cs typeface="Calibri"/>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4FF3-A844-D4C0-699F-0409268D430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1BB7926-2334-3F8A-05B9-1EE364DCEEED}"/>
              </a:ext>
            </a:extLst>
          </p:cNvPr>
          <p:cNvSpPr/>
          <p:nvPr/>
        </p:nvSpPr>
        <p:spPr>
          <a:xfrm>
            <a:off x="565621" y="1685414"/>
            <a:ext cx="11060976" cy="3485977"/>
          </a:xfrm>
          <a:prstGeom prst="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5000" b="1">
                <a:latin typeface="Calibri"/>
                <a:ea typeface="Calibri"/>
                <a:cs typeface="Calibri"/>
              </a:rPr>
              <a:t>SEO</a:t>
            </a:r>
            <a:endParaRPr lang="en-US" sz="5000">
              <a:latin typeface="Calibri"/>
              <a:ea typeface="Calibri"/>
              <a:cs typeface="Calibri"/>
            </a:endParaRPr>
          </a:p>
        </p:txBody>
      </p:sp>
    </p:spTree>
    <p:extLst>
      <p:ext uri="{BB962C8B-B14F-4D97-AF65-F5344CB8AC3E}">
        <p14:creationId xmlns:p14="http://schemas.microsoft.com/office/powerpoint/2010/main" val="2906578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680" y="208287"/>
            <a:ext cx="11204308" cy="1187982"/>
          </a:xfrm>
        </p:spPr>
        <p:txBody>
          <a:bodyPr/>
          <a:lstStyle/>
          <a:p>
            <a:r>
              <a:rPr sz="3600" b="1" err="1">
                <a:latin typeface="Calibri"/>
              </a:rPr>
              <a:t>nCartes</a:t>
            </a:r>
            <a:r>
              <a:rPr sz="3600" b="1">
                <a:latin typeface="Calibri"/>
              </a:rPr>
              <a:t> — What Was Implemented &amp; Impact</a:t>
            </a:r>
            <a:endParaRPr lang="en-US" sz="3600" b="1">
              <a:latin typeface="Calibri"/>
              <a:ea typeface="Calibri"/>
              <a:cs typeface="Calibri"/>
            </a:endParaRPr>
          </a:p>
        </p:txBody>
      </p:sp>
      <p:sp>
        <p:nvSpPr>
          <p:cNvPr id="3" name="Content Placeholder 2"/>
          <p:cNvSpPr>
            <a:spLocks noGrp="1"/>
          </p:cNvSpPr>
          <p:nvPr>
            <p:ph sz="half" idx="1"/>
          </p:nvPr>
        </p:nvSpPr>
        <p:spPr>
          <a:xfrm>
            <a:off x="827063" y="1268592"/>
            <a:ext cx="5484190" cy="5505478"/>
          </a:xfrm>
        </p:spPr>
        <p:txBody>
          <a:bodyPr wrap="square"/>
          <a:lstStyle/>
          <a:p>
            <a:pPr>
              <a:spcAft>
                <a:spcPts val="800"/>
              </a:spcAft>
              <a:buNone/>
            </a:pPr>
            <a:r>
              <a:rPr sz="1800" b="1">
                <a:latin typeface="Calibri"/>
              </a:rPr>
              <a:t>Implemented</a:t>
            </a:r>
            <a:endParaRPr lang="en-US" sz="1800" b="1">
              <a:latin typeface="Calibri"/>
              <a:ea typeface="Calibri"/>
              <a:cs typeface="Calibri"/>
            </a:endParaRPr>
          </a:p>
          <a:p>
            <a:pPr>
              <a:lnSpc>
                <a:spcPct val="105000"/>
              </a:lnSpc>
              <a:spcBef>
                <a:spcPts val="600"/>
              </a:spcBef>
              <a:spcAft>
                <a:spcPts val="600"/>
              </a:spcAft>
            </a:pPr>
            <a:r>
              <a:rPr sz="1800" b="0">
                <a:solidFill>
                  <a:srgbClr val="000000"/>
                </a:solidFill>
                <a:latin typeface="Calibri"/>
              </a:rPr>
              <a:t>Fixed H1/H2 heading structure across all priority pages</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Resolved 3 duplicate pages (now 0); canonical tags set correctly</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Implemented UCP JSON-LD schema, robots.txt &amp; llms.txt for AI search visibility (ChatGPT, AI Overview)</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Validated schema via Google Rich Results Test (desktop &amp; mobile)</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Built and published new branded email templates for </a:t>
            </a:r>
            <a:r>
              <a:rPr sz="1800" b="0" err="1">
                <a:solidFill>
                  <a:srgbClr val="000000"/>
                </a:solidFill>
                <a:latin typeface="Calibri"/>
              </a:rPr>
              <a:t>nCartes</a:t>
            </a:r>
            <a:r>
              <a:rPr sz="1800" b="0">
                <a:solidFill>
                  <a:srgbClr val="000000"/>
                </a:solidFill>
                <a:latin typeface="Calibri"/>
              </a:rPr>
              <a:t> campaigns</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Planned third-party listings on G2, Capterra, </a:t>
            </a:r>
            <a:r>
              <a:rPr sz="1800" b="0" err="1">
                <a:solidFill>
                  <a:srgbClr val="000000"/>
                </a:solidFill>
                <a:latin typeface="Calibri"/>
              </a:rPr>
              <a:t>Wikidata</a:t>
            </a:r>
            <a:r>
              <a:rPr sz="1800" b="0">
                <a:solidFill>
                  <a:srgbClr val="000000"/>
                </a:solidFill>
                <a:latin typeface="Calibri"/>
              </a:rPr>
              <a:t> &amp; Wikipedia</a:t>
            </a:r>
            <a:endParaRPr sz="1800" b="0">
              <a:solidFill>
                <a:srgbClr val="000000"/>
              </a:solidFill>
              <a:latin typeface="Calibri"/>
              <a:ea typeface="Calibri"/>
              <a:cs typeface="Calibri"/>
            </a:endParaRPr>
          </a:p>
        </p:txBody>
      </p:sp>
      <p:sp>
        <p:nvSpPr>
          <p:cNvPr id="4" name="Content Placeholder 3"/>
          <p:cNvSpPr>
            <a:spLocks noGrp="1"/>
          </p:cNvSpPr>
          <p:nvPr>
            <p:ph sz="half" idx="2"/>
          </p:nvPr>
        </p:nvSpPr>
        <p:spPr>
          <a:xfrm>
            <a:off x="6691401" y="1268592"/>
            <a:ext cx="5096343" cy="5505478"/>
          </a:xfrm>
        </p:spPr>
        <p:txBody>
          <a:bodyPr wrap="square">
            <a:normAutofit/>
          </a:bodyPr>
          <a:lstStyle/>
          <a:p>
            <a:pPr>
              <a:spcAft>
                <a:spcPts val="800"/>
              </a:spcAft>
              <a:buNone/>
            </a:pPr>
            <a:r>
              <a:rPr sz="1800" b="1">
                <a:latin typeface="Calibri"/>
              </a:rPr>
              <a:t>Impact</a:t>
            </a:r>
          </a:p>
          <a:p>
            <a:pPr>
              <a:lnSpc>
                <a:spcPct val="105000"/>
              </a:lnSpc>
              <a:spcBef>
                <a:spcPts val="600"/>
              </a:spcBef>
              <a:spcAft>
                <a:spcPts val="600"/>
              </a:spcAft>
            </a:pPr>
            <a:r>
              <a:rPr sz="1800" b="0">
                <a:solidFill>
                  <a:srgbClr val="000000"/>
                </a:solidFill>
                <a:latin typeface="Calibri"/>
              </a:rPr>
              <a:t>Organic keywords grew from 5 → 16 (Feb to Jul 2026)</a:t>
            </a:r>
          </a:p>
          <a:p>
            <a:pPr>
              <a:lnSpc>
                <a:spcPct val="105000"/>
              </a:lnSpc>
              <a:spcBef>
                <a:spcPts val="600"/>
              </a:spcBef>
              <a:spcAft>
                <a:spcPts val="600"/>
              </a:spcAft>
            </a:pPr>
            <a:r>
              <a:rPr sz="1800" b="0">
                <a:solidFill>
                  <a:srgbClr val="000000"/>
                </a:solidFill>
                <a:latin typeface="Calibri"/>
              </a:rPr>
              <a:t>Backlinks grew from 71 → 304; referring domains 55 → 97</a:t>
            </a:r>
          </a:p>
          <a:p>
            <a:pPr>
              <a:lnSpc>
                <a:spcPct val="105000"/>
              </a:lnSpc>
              <a:spcBef>
                <a:spcPts val="600"/>
              </a:spcBef>
              <a:spcAft>
                <a:spcPts val="600"/>
              </a:spcAft>
            </a:pPr>
            <a:r>
              <a:rPr sz="1800" b="0">
                <a:solidFill>
                  <a:srgbClr val="000000"/>
                </a:solidFill>
                <a:latin typeface="Calibri"/>
              </a:rPr>
              <a:t>Authority score improved from 3 → 9</a:t>
            </a:r>
          </a:p>
          <a:p>
            <a:pPr>
              <a:lnSpc>
                <a:spcPct val="105000"/>
              </a:lnSpc>
              <a:spcBef>
                <a:spcPts val="600"/>
              </a:spcBef>
              <a:spcAft>
                <a:spcPts val="600"/>
              </a:spcAft>
            </a:pPr>
            <a:r>
              <a:rPr sz="1800" b="0">
                <a:solidFill>
                  <a:srgbClr val="000000"/>
                </a:solidFill>
                <a:latin typeface="Calibri"/>
              </a:rPr>
              <a:t>New non-branded industry keywords now ranking (e.g. EHR-EDC integration, CTMS for sponsors), reaching buyers beyond brand-name search</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Search impressions and click-through rate trending up month over month</a:t>
            </a:r>
          </a:p>
          <a:p>
            <a:pPr>
              <a:lnSpc>
                <a:spcPct val="105000"/>
              </a:lnSpc>
              <a:spcBef>
                <a:spcPts val="600"/>
              </a:spcBef>
              <a:spcAft>
                <a:spcPts val="600"/>
              </a:spcAft>
            </a:pPr>
            <a:r>
              <a:rPr sz="1800" b="0">
                <a:solidFill>
                  <a:srgbClr val="000000"/>
                </a:solidFill>
                <a:latin typeface="Calibri"/>
              </a:rPr>
              <a:t>Site now eligible to surface in AI-powered search &amp; recommendation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708" y="367943"/>
            <a:ext cx="10667281" cy="1144440"/>
          </a:xfrm>
        </p:spPr>
        <p:txBody>
          <a:bodyPr/>
          <a:lstStyle/>
          <a:p>
            <a:r>
              <a:rPr sz="3600" b="1">
                <a:latin typeface="Calibri"/>
              </a:rPr>
              <a:t>IDS, Analytics &amp; Communications — What Was Implemented &amp; Impact</a:t>
            </a:r>
            <a:endParaRPr lang="en-US" sz="3600" b="1">
              <a:latin typeface="Calibri"/>
              <a:ea typeface="Calibri"/>
              <a:cs typeface="Calibri"/>
            </a:endParaRPr>
          </a:p>
        </p:txBody>
      </p:sp>
      <p:sp>
        <p:nvSpPr>
          <p:cNvPr id="3" name="Content Placeholder 2"/>
          <p:cNvSpPr>
            <a:spLocks noGrp="1"/>
          </p:cNvSpPr>
          <p:nvPr>
            <p:ph sz="half" idx="1"/>
          </p:nvPr>
        </p:nvSpPr>
        <p:spPr>
          <a:xfrm>
            <a:off x="856090" y="1682250"/>
            <a:ext cx="5230191" cy="4612850"/>
          </a:xfrm>
        </p:spPr>
        <p:txBody>
          <a:bodyPr wrap="square"/>
          <a:lstStyle/>
          <a:p>
            <a:pPr>
              <a:spcAft>
                <a:spcPts val="800"/>
              </a:spcAft>
              <a:buNone/>
            </a:pPr>
            <a:r>
              <a:rPr sz="1800" b="1">
                <a:latin typeface="Calibri"/>
              </a:rPr>
              <a:t>IDS (On-Page SEO)</a:t>
            </a:r>
            <a:endParaRPr lang="en-US" sz="1800" b="1">
              <a:latin typeface="Calibri"/>
              <a:ea typeface="Calibri"/>
              <a:cs typeface="Calibri"/>
            </a:endParaRPr>
          </a:p>
          <a:p>
            <a:pPr>
              <a:lnSpc>
                <a:spcPct val="105000"/>
              </a:lnSpc>
              <a:spcBef>
                <a:spcPts val="600"/>
              </a:spcBef>
              <a:spcAft>
                <a:spcPts val="600"/>
              </a:spcAft>
            </a:pPr>
            <a:r>
              <a:rPr sz="1800" b="0">
                <a:solidFill>
                  <a:srgbClr val="000000"/>
                </a:solidFill>
                <a:latin typeface="Calibri"/>
              </a:rPr>
              <a:t>Optimized meta titles &amp; descriptions with targeted keywords</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Fixed H1/H2 heading structure</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Resolved duplicate URLs via canonicalization &amp; 301 redirects</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Updated robots.txt &amp; sitemap.xml</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Impact: Stronger SEO foundation; increased opportunity to rank for investigational drug services &amp; accountability software keywords</a:t>
            </a:r>
            <a:endParaRPr sz="1800" b="0">
              <a:solidFill>
                <a:srgbClr val="000000"/>
              </a:solidFill>
              <a:latin typeface="Calibri"/>
              <a:ea typeface="Calibri"/>
              <a:cs typeface="Calibri"/>
            </a:endParaRPr>
          </a:p>
        </p:txBody>
      </p:sp>
      <p:sp>
        <p:nvSpPr>
          <p:cNvPr id="4" name="Content Placeholder 3"/>
          <p:cNvSpPr>
            <a:spLocks noGrp="1"/>
          </p:cNvSpPr>
          <p:nvPr>
            <p:ph sz="half" idx="2"/>
          </p:nvPr>
        </p:nvSpPr>
        <p:spPr>
          <a:xfrm>
            <a:off x="6560772" y="1682249"/>
            <a:ext cx="5045545" cy="4874108"/>
          </a:xfrm>
        </p:spPr>
        <p:txBody>
          <a:bodyPr wrap="square"/>
          <a:lstStyle/>
          <a:p>
            <a:pPr>
              <a:spcAft>
                <a:spcPts val="800"/>
              </a:spcAft>
              <a:buNone/>
            </a:pPr>
            <a:r>
              <a:rPr sz="1800" b="1">
                <a:latin typeface="Calibri"/>
              </a:rPr>
              <a:t>Analytics &amp; Communications</a:t>
            </a:r>
            <a:endParaRPr lang="en-US" sz="1800" b="1">
              <a:latin typeface="Calibri"/>
              <a:ea typeface="Calibri"/>
              <a:cs typeface="Calibri"/>
            </a:endParaRPr>
          </a:p>
          <a:p>
            <a:pPr>
              <a:lnSpc>
                <a:spcPct val="105000"/>
              </a:lnSpc>
              <a:spcBef>
                <a:spcPts val="600"/>
              </a:spcBef>
              <a:spcAft>
                <a:spcPts val="600"/>
              </a:spcAft>
            </a:pPr>
            <a:r>
              <a:rPr sz="1800" b="0">
                <a:solidFill>
                  <a:srgbClr val="000000"/>
                </a:solidFill>
                <a:latin typeface="Calibri"/>
              </a:rPr>
              <a:t>Converted manual Excel reporting into a live Data Studio dashboard (</a:t>
            </a:r>
            <a:r>
              <a:rPr sz="1800" b="0" err="1">
                <a:solidFill>
                  <a:srgbClr val="000000"/>
                </a:solidFill>
                <a:latin typeface="Calibri"/>
              </a:rPr>
              <a:t>nCartes</a:t>
            </a:r>
            <a:r>
              <a:rPr sz="1800" b="0">
                <a:solidFill>
                  <a:srgbClr val="000000"/>
                </a:solidFill>
                <a:latin typeface="Calibri"/>
              </a:rPr>
              <a:t>, </a:t>
            </a:r>
            <a:r>
              <a:rPr sz="1800" b="0" err="1">
                <a:solidFill>
                  <a:srgbClr val="000000"/>
                </a:solidFill>
                <a:latin typeface="Calibri"/>
              </a:rPr>
              <a:t>Aithent</a:t>
            </a:r>
            <a:r>
              <a:rPr sz="1800" b="0">
                <a:solidFill>
                  <a:srgbClr val="000000"/>
                </a:solidFill>
                <a:latin typeface="Calibri"/>
              </a:rPr>
              <a:t>, </a:t>
            </a:r>
            <a:r>
              <a:rPr sz="1800" b="0" err="1">
                <a:solidFill>
                  <a:srgbClr val="000000"/>
                </a:solidFill>
                <a:latin typeface="Calibri"/>
              </a:rPr>
              <a:t>QuinteFT</a:t>
            </a:r>
            <a:r>
              <a:rPr sz="1800" b="0">
                <a:solidFill>
                  <a:srgbClr val="000000"/>
                </a:solidFill>
                <a:latin typeface="Calibri"/>
              </a:rPr>
              <a:t>)</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Launched Resolve, FDS &amp; </a:t>
            </a:r>
            <a:r>
              <a:rPr sz="1800" b="0" err="1">
                <a:solidFill>
                  <a:srgbClr val="000000"/>
                </a:solidFill>
                <a:latin typeface="Calibri"/>
              </a:rPr>
              <a:t>ALiS</a:t>
            </a:r>
            <a:r>
              <a:rPr sz="1800" b="0">
                <a:solidFill>
                  <a:srgbClr val="000000"/>
                </a:solidFill>
                <a:latin typeface="Calibri"/>
              </a:rPr>
              <a:t> email campaigns (26 sent to date, incl. 3 in July)</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Started weekly internal AI newsletter on Calypso (13 editions + 1 special edition)</a:t>
            </a:r>
            <a:endParaRPr sz="1800" b="0">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Published LinkedIn posts supporting Resolve, FDS &amp; </a:t>
            </a:r>
            <a:r>
              <a:rPr sz="1800" b="0" err="1">
                <a:solidFill>
                  <a:srgbClr val="000000"/>
                </a:solidFill>
                <a:latin typeface="Calibri"/>
              </a:rPr>
              <a:t>ALiS</a:t>
            </a:r>
            <a:endParaRPr sz="1800" b="0" err="1">
              <a:solidFill>
                <a:srgbClr val="000000"/>
              </a:solidFill>
              <a:latin typeface="Calibri"/>
              <a:ea typeface="Calibri"/>
              <a:cs typeface="Calibri"/>
            </a:endParaRPr>
          </a:p>
          <a:p>
            <a:pPr>
              <a:lnSpc>
                <a:spcPct val="105000"/>
              </a:lnSpc>
              <a:spcBef>
                <a:spcPts val="600"/>
              </a:spcBef>
              <a:spcAft>
                <a:spcPts val="600"/>
              </a:spcAft>
            </a:pPr>
            <a:r>
              <a:rPr sz="1800" b="0">
                <a:solidFill>
                  <a:srgbClr val="000000"/>
                </a:solidFill>
                <a:latin typeface="Calibri"/>
              </a:rPr>
              <a:t>Impact: Manual reporting time cut from ~2 hours to a 15-minute, on-demand dashboard per site; consistent cross-team campaign visibility; ~40 clicks per newsletter edition across 394 contacts</a:t>
            </a:r>
            <a:endParaRPr sz="1800" b="0">
              <a:solidFill>
                <a:srgbClr val="000000"/>
              </a:solidFill>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908" y="433257"/>
            <a:ext cx="10790652" cy="1144440"/>
          </a:xfrm>
        </p:spPr>
        <p:txBody>
          <a:bodyPr/>
          <a:lstStyle/>
          <a:p>
            <a:r>
              <a:rPr sz="3600" b="1" err="1">
                <a:latin typeface="Calibri"/>
              </a:rPr>
              <a:t>QuinteFT</a:t>
            </a:r>
            <a:r>
              <a:rPr sz="3600" b="1">
                <a:latin typeface="Calibri"/>
              </a:rPr>
              <a:t> — What Was Implemented &amp; Impact, and Overall Business Impact</a:t>
            </a:r>
            <a:endParaRPr lang="en-US" sz="3600" b="1">
              <a:latin typeface="Calibri"/>
              <a:ea typeface="Calibri"/>
              <a:cs typeface="Calibri"/>
            </a:endParaRPr>
          </a:p>
        </p:txBody>
      </p:sp>
      <p:sp>
        <p:nvSpPr>
          <p:cNvPr id="3" name="Content Placeholder 2"/>
          <p:cNvSpPr>
            <a:spLocks noGrp="1"/>
          </p:cNvSpPr>
          <p:nvPr>
            <p:ph sz="half" idx="1"/>
          </p:nvPr>
        </p:nvSpPr>
        <p:spPr>
          <a:xfrm>
            <a:off x="805291" y="1689506"/>
            <a:ext cx="5164877" cy="4946678"/>
          </a:xfrm>
        </p:spPr>
        <p:txBody>
          <a:bodyPr wrap="square">
            <a:normAutofit fontScale="92500"/>
          </a:bodyPr>
          <a:lstStyle/>
          <a:p>
            <a:pPr>
              <a:spcAft>
                <a:spcPts val="800"/>
              </a:spcAft>
              <a:buNone/>
            </a:pPr>
            <a:r>
              <a:rPr sz="1800" b="1">
                <a:latin typeface="Calibri"/>
              </a:rPr>
              <a:t>Implemented</a:t>
            </a:r>
            <a:endParaRPr lang="en-US" sz="1800" b="1">
              <a:latin typeface="Calibri"/>
              <a:ea typeface="Calibri"/>
              <a:cs typeface="Calibri"/>
            </a:endParaRPr>
          </a:p>
          <a:p>
            <a:pPr>
              <a:lnSpc>
                <a:spcPct val="105000"/>
              </a:lnSpc>
              <a:spcBef>
                <a:spcPts val="600"/>
              </a:spcBef>
              <a:spcAft>
                <a:spcPts val="600"/>
              </a:spcAft>
            </a:pPr>
            <a:r>
              <a:rPr sz="1800" b="0">
                <a:latin typeface="Calibri"/>
              </a:rPr>
              <a:t>Fixed incorrect redirects, 404 errors and no-index pages</a:t>
            </a:r>
            <a:endParaRPr sz="1800" b="0">
              <a:latin typeface="Calibri"/>
              <a:ea typeface="Calibri"/>
              <a:cs typeface="Calibri"/>
            </a:endParaRPr>
          </a:p>
          <a:p>
            <a:pPr>
              <a:lnSpc>
                <a:spcPct val="105000"/>
              </a:lnSpc>
              <a:spcBef>
                <a:spcPts val="600"/>
              </a:spcBef>
              <a:spcAft>
                <a:spcPts val="600"/>
              </a:spcAft>
            </a:pPr>
            <a:r>
              <a:rPr sz="1800" b="0">
                <a:latin typeface="Calibri"/>
              </a:rPr>
              <a:t>Resolved 'Discovered – not indexed' and 'Crawled – not indexed' issues</a:t>
            </a:r>
            <a:endParaRPr sz="1800" b="0">
              <a:latin typeface="Calibri"/>
              <a:ea typeface="Calibri"/>
              <a:cs typeface="Calibri"/>
            </a:endParaRPr>
          </a:p>
          <a:p>
            <a:pPr>
              <a:lnSpc>
                <a:spcPct val="105000"/>
              </a:lnSpc>
              <a:spcBef>
                <a:spcPts val="600"/>
              </a:spcBef>
              <a:spcAft>
                <a:spcPts val="600"/>
              </a:spcAft>
            </a:pPr>
            <a:r>
              <a:rPr sz="1800" b="0">
                <a:latin typeface="Calibri"/>
              </a:rPr>
              <a:t>Added robots.txt and updated sitemap for correct crawling/indexing</a:t>
            </a:r>
            <a:endParaRPr sz="1800" b="0">
              <a:latin typeface="Calibri"/>
              <a:ea typeface="Calibri"/>
              <a:cs typeface="Calibri"/>
            </a:endParaRPr>
          </a:p>
          <a:p>
            <a:pPr>
              <a:lnSpc>
                <a:spcPct val="105000"/>
              </a:lnSpc>
              <a:spcBef>
                <a:spcPts val="600"/>
              </a:spcBef>
              <a:spcAft>
                <a:spcPts val="600"/>
              </a:spcAft>
            </a:pPr>
            <a:r>
              <a:rPr sz="1800" b="0">
                <a:latin typeface="Calibri"/>
              </a:rPr>
              <a:t>Disavowed toxic backlinks damaging domain authority</a:t>
            </a:r>
            <a:endParaRPr sz="1800" b="0">
              <a:latin typeface="Calibri"/>
              <a:ea typeface="Calibri"/>
              <a:cs typeface="Calibri"/>
            </a:endParaRPr>
          </a:p>
          <a:p>
            <a:pPr>
              <a:lnSpc>
                <a:spcPct val="105000"/>
              </a:lnSpc>
              <a:spcBef>
                <a:spcPts val="600"/>
              </a:spcBef>
              <a:spcAft>
                <a:spcPts val="600"/>
              </a:spcAft>
            </a:pPr>
            <a:r>
              <a:rPr sz="1800" b="0">
                <a:latin typeface="Calibri"/>
              </a:rPr>
              <a:t>Listed on </a:t>
            </a:r>
            <a:r>
              <a:rPr sz="1800" b="0" err="1">
                <a:latin typeface="Calibri"/>
              </a:rPr>
              <a:t>TrustRadius</a:t>
            </a:r>
            <a:r>
              <a:rPr sz="1800" b="0">
                <a:latin typeface="Calibri"/>
              </a:rPr>
              <a:t>, SourceForge, Clutch, </a:t>
            </a:r>
            <a:r>
              <a:rPr sz="1800" b="0" err="1">
                <a:latin typeface="Calibri"/>
              </a:rPr>
              <a:t>GoodFirms</a:t>
            </a:r>
            <a:r>
              <a:rPr sz="1800" b="0">
                <a:latin typeface="Calibri"/>
              </a:rPr>
              <a:t>, </a:t>
            </a:r>
            <a:r>
              <a:rPr sz="1800" b="0" err="1">
                <a:latin typeface="Calibri"/>
              </a:rPr>
              <a:t>SoftwareAdvice</a:t>
            </a:r>
            <a:r>
              <a:rPr sz="1800" b="0">
                <a:latin typeface="Calibri"/>
              </a:rPr>
              <a:t>, </a:t>
            </a:r>
            <a:r>
              <a:rPr sz="1800" b="0" err="1">
                <a:latin typeface="Calibri"/>
              </a:rPr>
              <a:t>SoftwareSuggest</a:t>
            </a:r>
            <a:r>
              <a:rPr sz="1800" b="0">
                <a:latin typeface="Calibri"/>
              </a:rPr>
              <a:t> &amp; Crunchbase</a:t>
            </a:r>
            <a:endParaRPr sz="1800" b="0">
              <a:latin typeface="Calibri"/>
              <a:ea typeface="Calibri"/>
              <a:cs typeface="Calibri"/>
            </a:endParaRPr>
          </a:p>
          <a:p>
            <a:pPr>
              <a:lnSpc>
                <a:spcPct val="105000"/>
              </a:lnSpc>
              <a:spcBef>
                <a:spcPts val="600"/>
              </a:spcBef>
              <a:spcAft>
                <a:spcPts val="600"/>
              </a:spcAft>
            </a:pPr>
            <a:r>
              <a:rPr sz="1800" b="0">
                <a:latin typeface="Calibri"/>
              </a:rPr>
              <a:t>Impact: Indexing errors sharply reduced post-revamp; stronger, cleaner backlink profile; improved visibility in AI-powered search and recommendation results</a:t>
            </a:r>
            <a:endParaRPr sz="1800" b="0">
              <a:latin typeface="Calibri"/>
              <a:ea typeface="Calibri"/>
              <a:cs typeface="Calibri"/>
            </a:endParaRPr>
          </a:p>
        </p:txBody>
      </p:sp>
      <p:sp>
        <p:nvSpPr>
          <p:cNvPr id="4" name="Content Placeholder 3"/>
          <p:cNvSpPr>
            <a:spLocks noGrp="1"/>
          </p:cNvSpPr>
          <p:nvPr>
            <p:ph sz="half" idx="2"/>
          </p:nvPr>
        </p:nvSpPr>
        <p:spPr>
          <a:xfrm>
            <a:off x="6502715" y="1689506"/>
            <a:ext cx="5081830" cy="4946678"/>
          </a:xfrm>
        </p:spPr>
        <p:txBody>
          <a:bodyPr wrap="square">
            <a:normAutofit fontScale="92500"/>
          </a:bodyPr>
          <a:lstStyle/>
          <a:p>
            <a:pPr>
              <a:spcAft>
                <a:spcPts val="800"/>
              </a:spcAft>
              <a:buNone/>
            </a:pPr>
            <a:r>
              <a:rPr sz="1800" b="1">
                <a:latin typeface="Calibri"/>
              </a:rPr>
              <a:t>Overall Business Impact (Dec 2025 – Jul 2026)</a:t>
            </a:r>
            <a:endParaRPr lang="en-US" sz="1800" b="1">
              <a:latin typeface="Calibri"/>
              <a:ea typeface="Calibri"/>
              <a:cs typeface="Calibri"/>
            </a:endParaRPr>
          </a:p>
          <a:p>
            <a:pPr>
              <a:lnSpc>
                <a:spcPct val="105000"/>
              </a:lnSpc>
              <a:spcBef>
                <a:spcPts val="600"/>
              </a:spcBef>
              <a:spcAft>
                <a:spcPts val="600"/>
              </a:spcAft>
            </a:pPr>
            <a:r>
              <a:rPr sz="1800" b="0">
                <a:latin typeface="Calibri"/>
              </a:rPr>
              <a:t>Improvements in organic growth for the websites, reducing reliance on paid search across all properties</a:t>
            </a:r>
            <a:endParaRPr sz="1800" b="0">
              <a:latin typeface="Calibri"/>
              <a:ea typeface="Calibri"/>
              <a:cs typeface="Calibri"/>
            </a:endParaRPr>
          </a:p>
          <a:p>
            <a:pPr>
              <a:lnSpc>
                <a:spcPct val="105000"/>
              </a:lnSpc>
              <a:spcBef>
                <a:spcPts val="600"/>
              </a:spcBef>
              <a:spcAft>
                <a:spcPts val="600"/>
              </a:spcAft>
            </a:pPr>
            <a:r>
              <a:rPr sz="1800" b="0">
                <a:latin typeface="Calibri"/>
              </a:rPr>
              <a:t>Faster, self-serve access to performance data for decision-making</a:t>
            </a:r>
            <a:endParaRPr sz="1800" b="0">
              <a:latin typeface="Calibri"/>
              <a:ea typeface="Calibri"/>
              <a:cs typeface="Calibri"/>
            </a:endParaRPr>
          </a:p>
          <a:p>
            <a:pPr>
              <a:lnSpc>
                <a:spcPct val="105000"/>
              </a:lnSpc>
              <a:spcBef>
                <a:spcPts val="600"/>
              </a:spcBef>
              <a:spcAft>
                <a:spcPts val="600"/>
              </a:spcAft>
            </a:pPr>
            <a:r>
              <a:rPr sz="1800" b="0">
                <a:latin typeface="Calibri"/>
              </a:rPr>
              <a:t>Stronger domain trust and authority through cleanup, backlink quality and third-party listings</a:t>
            </a:r>
            <a:endParaRPr sz="1800" b="0">
              <a:latin typeface="Calibri"/>
              <a:ea typeface="Calibri"/>
              <a:cs typeface="Calibri"/>
            </a:endParaRPr>
          </a:p>
          <a:p>
            <a:pPr>
              <a:lnSpc>
                <a:spcPct val="105000"/>
              </a:lnSpc>
              <a:spcBef>
                <a:spcPts val="600"/>
              </a:spcBef>
              <a:spcAft>
                <a:spcPts val="600"/>
              </a:spcAft>
            </a:pPr>
            <a:r>
              <a:rPr sz="1800" b="0">
                <a:latin typeface="Calibri"/>
              </a:rPr>
              <a:t>Websites positioned ahead of the shift to AI-powered search (ChatGPT, Gemini, AI Overview)</a:t>
            </a:r>
            <a:endParaRPr sz="1800" b="0">
              <a:latin typeface="Calibri"/>
              <a:ea typeface="Calibri"/>
              <a:cs typeface="Calibri"/>
            </a:endParaRPr>
          </a:p>
          <a:p>
            <a:pPr>
              <a:lnSpc>
                <a:spcPct val="105000"/>
              </a:lnSpc>
              <a:spcBef>
                <a:spcPts val="600"/>
              </a:spcBef>
              <a:spcAft>
                <a:spcPts val="600"/>
              </a:spcAft>
            </a:pPr>
            <a:r>
              <a:rPr sz="1800" b="0">
                <a:latin typeface="Calibri"/>
              </a:rPr>
              <a:t>Consistent, cross-product marketing communication through email and internal AI newsletter</a:t>
            </a:r>
            <a:endParaRPr sz="1800" b="0">
              <a:latin typeface="Calibri"/>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F20B-BC38-0B90-F4AB-77AEC723502B}"/>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9888733-DA81-C7E6-CDDA-C8D60426A3D8}"/>
              </a:ext>
            </a:extLst>
          </p:cNvPr>
          <p:cNvSpPr/>
          <p:nvPr/>
        </p:nvSpPr>
        <p:spPr>
          <a:xfrm>
            <a:off x="565621" y="1685414"/>
            <a:ext cx="11060976" cy="3485977"/>
          </a:xfrm>
          <a:prstGeom prst="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5000" b="1">
                <a:latin typeface="Calibri"/>
                <a:ea typeface="Calibri"/>
                <a:cs typeface="Calibri"/>
              </a:rPr>
              <a:t>ADC Library</a:t>
            </a:r>
            <a:endParaRPr lang="en-US" sz="5000" b="1">
              <a:latin typeface="Calibri"/>
              <a:ea typeface="Calibri"/>
              <a:cs typeface="Calibri"/>
            </a:endParaRPr>
          </a:p>
        </p:txBody>
      </p:sp>
    </p:spTree>
    <p:extLst>
      <p:ext uri="{BB962C8B-B14F-4D97-AF65-F5344CB8AC3E}">
        <p14:creationId xmlns:p14="http://schemas.microsoft.com/office/powerpoint/2010/main" val="2350673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C6F9-3E4A-C818-4510-0FE3962BAD21}"/>
              </a:ext>
            </a:extLst>
          </p:cNvPr>
          <p:cNvSpPr>
            <a:spLocks noGrp="1"/>
          </p:cNvSpPr>
          <p:nvPr>
            <p:ph type="title"/>
          </p:nvPr>
        </p:nvSpPr>
        <p:spPr>
          <a:xfrm>
            <a:off x="760044" y="328398"/>
            <a:ext cx="11264400" cy="748800"/>
          </a:xfrm>
        </p:spPr>
        <p:txBody>
          <a:bodyPr/>
          <a:lstStyle/>
          <a:p>
            <a:r>
              <a:rPr lang="en-IN" sz="3600" b="1">
                <a:latin typeface="Calibri"/>
                <a:ea typeface="Calibri"/>
                <a:cs typeface="Calibri"/>
              </a:rPr>
              <a:t>ADC Components – </a:t>
            </a:r>
            <a:r>
              <a:rPr lang="en-US" sz="3600" b="1">
                <a:latin typeface="Calibri"/>
                <a:ea typeface="Calibri"/>
                <a:cs typeface="Calibri"/>
              </a:rPr>
              <a:t>Updates and Improvements</a:t>
            </a:r>
            <a:endParaRPr lang="en-IN" sz="3600" b="1">
              <a:latin typeface="Calibri"/>
              <a:ea typeface="Calibri"/>
              <a:cs typeface="Calibri"/>
            </a:endParaRPr>
          </a:p>
        </p:txBody>
      </p:sp>
      <p:sp>
        <p:nvSpPr>
          <p:cNvPr id="3" name="Content Placeholder 2">
            <a:extLst>
              <a:ext uri="{FF2B5EF4-FFF2-40B4-BE49-F238E27FC236}">
                <a16:creationId xmlns:a16="http://schemas.microsoft.com/office/drawing/2014/main" id="{63F0FB6D-D5C8-3B5A-F416-FC52682D7C16}"/>
              </a:ext>
            </a:extLst>
          </p:cNvPr>
          <p:cNvSpPr>
            <a:spLocks noGrp="1"/>
          </p:cNvSpPr>
          <p:nvPr>
            <p:ph idx="1"/>
          </p:nvPr>
        </p:nvSpPr>
        <p:spPr>
          <a:xfrm>
            <a:off x="763450" y="1392363"/>
            <a:ext cx="10644136" cy="4392652"/>
          </a:xfrm>
        </p:spPr>
        <p:txBody>
          <a:bodyPr/>
          <a:lstStyle/>
          <a:p>
            <a:r>
              <a:rPr lang="en-US" sz="2200">
                <a:latin typeface="Calibri"/>
                <a:ea typeface="Calibri"/>
                <a:cs typeface="Calibri"/>
              </a:rPr>
              <a:t>Upgraded the ADC Components Library from Angular 19 to Angular 21</a:t>
            </a:r>
          </a:p>
          <a:p>
            <a:r>
              <a:rPr lang="en-US" sz="2200">
                <a:latin typeface="Calibri"/>
                <a:ea typeface="Calibri"/>
                <a:cs typeface="Calibri"/>
              </a:rPr>
              <a:t>Implemented WCAG compliance for accessibility</a:t>
            </a:r>
          </a:p>
          <a:p>
            <a:r>
              <a:rPr lang="en-US" sz="2200">
                <a:latin typeface="Calibri"/>
                <a:ea typeface="Calibri"/>
                <a:cs typeface="Calibri"/>
              </a:rPr>
              <a:t>Revamped the overall component look and feel with improved UI consistency, accessibility, spacing, typography, and modern design alignment</a:t>
            </a:r>
          </a:p>
          <a:p>
            <a:r>
              <a:rPr lang="en-US" sz="2200">
                <a:latin typeface="Calibri"/>
                <a:ea typeface="Calibri"/>
                <a:cs typeface="Calibri"/>
              </a:rPr>
              <a:t>Standardized common CSS utilities, themes, and reusable styling patterns to ensure uniform behavior across applications</a:t>
            </a:r>
          </a:p>
          <a:p>
            <a:r>
              <a:rPr lang="en-US" sz="2200">
                <a:latin typeface="Calibri"/>
                <a:ea typeface="Calibri"/>
                <a:cs typeface="Calibri"/>
              </a:rPr>
              <a:t>Centralized ADC Components Library distribution and version management using “</a:t>
            </a:r>
            <a:r>
              <a:rPr lang="en-US" sz="2200" err="1">
                <a:latin typeface="Calibri"/>
                <a:ea typeface="Calibri"/>
                <a:cs typeface="Calibri"/>
              </a:rPr>
              <a:t>Sonatype</a:t>
            </a:r>
            <a:r>
              <a:rPr lang="en-US" sz="2200">
                <a:latin typeface="Calibri"/>
                <a:ea typeface="Calibri"/>
                <a:cs typeface="Calibri"/>
              </a:rPr>
              <a:t> Nexus Repository”</a:t>
            </a:r>
          </a:p>
        </p:txBody>
      </p:sp>
    </p:spTree>
    <p:extLst>
      <p:ext uri="{BB962C8B-B14F-4D97-AF65-F5344CB8AC3E}">
        <p14:creationId xmlns:p14="http://schemas.microsoft.com/office/powerpoint/2010/main" val="1569380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3A99E-53A6-7CE7-A3B8-DBF3E3616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70478-B7EB-8F09-49B5-EE57635F358D}"/>
              </a:ext>
            </a:extLst>
          </p:cNvPr>
          <p:cNvSpPr>
            <a:spLocks noGrp="1"/>
          </p:cNvSpPr>
          <p:nvPr>
            <p:ph type="title"/>
          </p:nvPr>
        </p:nvSpPr>
        <p:spPr>
          <a:xfrm>
            <a:off x="796329" y="321141"/>
            <a:ext cx="11235372" cy="748800"/>
          </a:xfrm>
        </p:spPr>
        <p:txBody>
          <a:bodyPr/>
          <a:lstStyle/>
          <a:p>
            <a:r>
              <a:rPr lang="en-IN" sz="3600" b="1">
                <a:latin typeface="Calibri"/>
                <a:ea typeface="Calibri"/>
                <a:cs typeface="Calibri"/>
              </a:rPr>
              <a:t>ADC Components - Enhancements</a:t>
            </a:r>
          </a:p>
        </p:txBody>
      </p:sp>
      <p:sp>
        <p:nvSpPr>
          <p:cNvPr id="3" name="Content Placeholder 2">
            <a:extLst>
              <a:ext uri="{FF2B5EF4-FFF2-40B4-BE49-F238E27FC236}">
                <a16:creationId xmlns:a16="http://schemas.microsoft.com/office/drawing/2014/main" id="{5C90EA96-E8FB-F9D6-F4CD-24C5009CA874}"/>
              </a:ext>
            </a:extLst>
          </p:cNvPr>
          <p:cNvSpPr>
            <a:spLocks noGrp="1"/>
          </p:cNvSpPr>
          <p:nvPr>
            <p:ph idx="1"/>
          </p:nvPr>
        </p:nvSpPr>
        <p:spPr>
          <a:xfrm>
            <a:off x="799736" y="1312532"/>
            <a:ext cx="10586079" cy="5183682"/>
          </a:xfrm>
        </p:spPr>
        <p:txBody>
          <a:bodyPr>
            <a:normAutofit/>
          </a:bodyPr>
          <a:lstStyle/>
          <a:p>
            <a:r>
              <a:rPr lang="en-US" sz="2200">
                <a:latin typeface="Calibri"/>
                <a:ea typeface="Calibri"/>
                <a:cs typeface="Calibri"/>
              </a:rPr>
              <a:t>ADC Textbox:</a:t>
            </a:r>
          </a:p>
          <a:p>
            <a:pPr lvl="1"/>
            <a:r>
              <a:rPr lang="en-US" sz="2200">
                <a:latin typeface="Calibri"/>
                <a:ea typeface="Calibri"/>
                <a:cs typeface="Calibri"/>
              </a:rPr>
              <a:t>Configurable Label positioning and styles</a:t>
            </a:r>
          </a:p>
          <a:p>
            <a:r>
              <a:rPr lang="en-US" sz="2200">
                <a:latin typeface="Calibri"/>
                <a:ea typeface="Calibri"/>
                <a:cs typeface="Calibri"/>
              </a:rPr>
              <a:t>ADC Date-picker:</a:t>
            </a:r>
          </a:p>
          <a:p>
            <a:pPr lvl="1"/>
            <a:r>
              <a:rPr lang="en-US" sz="2200">
                <a:latin typeface="Calibri"/>
                <a:ea typeface="Calibri"/>
                <a:cs typeface="Calibri"/>
              </a:rPr>
              <a:t>Built from scratch without third-party dependency</a:t>
            </a:r>
          </a:p>
          <a:p>
            <a:pPr lvl="1"/>
            <a:r>
              <a:rPr lang="en-US" sz="2200">
                <a:latin typeface="Calibri"/>
                <a:ea typeface="Calibri"/>
                <a:cs typeface="Calibri"/>
              </a:rPr>
              <a:t>Added combined Date &amp; Time-picker</a:t>
            </a:r>
          </a:p>
          <a:p>
            <a:pPr lvl="1"/>
            <a:r>
              <a:rPr lang="en-US" sz="2200">
                <a:latin typeface="Calibri"/>
                <a:ea typeface="Calibri"/>
                <a:cs typeface="Calibri"/>
              </a:rPr>
              <a:t>Added Inline Date-picker and Date-range picker </a:t>
            </a:r>
          </a:p>
          <a:p>
            <a:r>
              <a:rPr lang="en-US" sz="2200">
                <a:latin typeface="Calibri"/>
                <a:ea typeface="Calibri"/>
                <a:cs typeface="Calibri"/>
              </a:rPr>
              <a:t>ADC Sidebar:</a:t>
            </a:r>
          </a:p>
          <a:p>
            <a:pPr lvl="1"/>
            <a:r>
              <a:rPr lang="en-US" sz="2200">
                <a:latin typeface="Calibri"/>
                <a:ea typeface="Calibri"/>
                <a:cs typeface="Calibri"/>
              </a:rPr>
              <a:t>Added child route navigation in Popover</a:t>
            </a:r>
          </a:p>
          <a:p>
            <a:r>
              <a:rPr lang="en-US" sz="2200">
                <a:latin typeface="Calibri"/>
                <a:ea typeface="Calibri"/>
                <a:cs typeface="Calibri"/>
              </a:rPr>
              <a:t>ADC Right Popup:</a:t>
            </a:r>
          </a:p>
          <a:p>
            <a:pPr lvl="1"/>
            <a:r>
              <a:rPr lang="en-US" sz="2200">
                <a:latin typeface="Calibri"/>
                <a:ea typeface="Calibri"/>
                <a:cs typeface="Calibri"/>
              </a:rPr>
              <a:t>Enhanced UI and interaction flow</a:t>
            </a:r>
          </a:p>
          <a:p>
            <a:endParaRPr lang="en-US" sz="2200">
              <a:latin typeface="Calibri"/>
              <a:ea typeface="Calibri"/>
              <a:cs typeface="Calibri"/>
            </a:endParaRPr>
          </a:p>
          <a:p>
            <a:pPr lvl="1"/>
            <a:endParaRPr lang="en-US" sz="2200">
              <a:latin typeface="Calibri"/>
              <a:ea typeface="Calibri"/>
              <a:cs typeface="Calibri"/>
            </a:endParaRPr>
          </a:p>
        </p:txBody>
      </p:sp>
    </p:spTree>
    <p:extLst>
      <p:ext uri="{BB962C8B-B14F-4D97-AF65-F5344CB8AC3E}">
        <p14:creationId xmlns:p14="http://schemas.microsoft.com/office/powerpoint/2010/main" val="107670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CD82F-A6E0-2D21-C50B-34957BE0B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7E5AC-671D-07E2-BEAC-3C275E4931BA}"/>
              </a:ext>
            </a:extLst>
          </p:cNvPr>
          <p:cNvSpPr>
            <a:spLocks noGrp="1"/>
          </p:cNvSpPr>
          <p:nvPr>
            <p:ph type="title"/>
          </p:nvPr>
        </p:nvSpPr>
        <p:spPr>
          <a:xfrm>
            <a:off x="810843" y="306627"/>
            <a:ext cx="11220858" cy="748800"/>
          </a:xfrm>
        </p:spPr>
        <p:txBody>
          <a:bodyPr/>
          <a:lstStyle/>
          <a:p>
            <a:r>
              <a:rPr lang="en-IN" sz="3600" b="1">
                <a:latin typeface="Calibri"/>
                <a:ea typeface="Calibri"/>
                <a:cs typeface="Calibri"/>
              </a:rPr>
              <a:t>ADC Components – New Creations</a:t>
            </a:r>
          </a:p>
        </p:txBody>
      </p:sp>
      <p:sp>
        <p:nvSpPr>
          <p:cNvPr id="3" name="Content Placeholder 2">
            <a:extLst>
              <a:ext uri="{FF2B5EF4-FFF2-40B4-BE49-F238E27FC236}">
                <a16:creationId xmlns:a16="http://schemas.microsoft.com/office/drawing/2014/main" id="{EA0639AC-93B2-C40D-0AC0-5E84DBFA3A86}"/>
              </a:ext>
            </a:extLst>
          </p:cNvPr>
          <p:cNvSpPr>
            <a:spLocks noGrp="1"/>
          </p:cNvSpPr>
          <p:nvPr>
            <p:ph idx="1"/>
          </p:nvPr>
        </p:nvSpPr>
        <p:spPr>
          <a:xfrm>
            <a:off x="814249" y="1181905"/>
            <a:ext cx="10600594" cy="5263510"/>
          </a:xfrm>
        </p:spPr>
        <p:txBody>
          <a:bodyPr lIns="0" tIns="0" rIns="0" bIns="0" anchor="t">
            <a:noAutofit/>
          </a:bodyPr>
          <a:lstStyle/>
          <a:p>
            <a:r>
              <a:rPr lang="en-US" sz="1800">
                <a:latin typeface="Calibri"/>
                <a:ea typeface="Calibri"/>
                <a:cs typeface="Calibri"/>
              </a:rPr>
              <a:t>ADC Editor:</a:t>
            </a:r>
          </a:p>
          <a:p>
            <a:pPr lvl="1"/>
            <a:r>
              <a:rPr lang="en-US" sz="1800">
                <a:latin typeface="Calibri"/>
                <a:ea typeface="Calibri"/>
                <a:cs typeface="Calibri"/>
              </a:rPr>
              <a:t>Created new library for editor supporting CK editor and Quill editor integrations</a:t>
            </a:r>
          </a:p>
          <a:p>
            <a:r>
              <a:rPr lang="en-US" sz="1800">
                <a:latin typeface="Calibri"/>
                <a:ea typeface="Calibri"/>
                <a:cs typeface="Calibri"/>
              </a:rPr>
              <a:t>ADC </a:t>
            </a:r>
            <a:r>
              <a:rPr lang="en-US" sz="1800" err="1">
                <a:latin typeface="Calibri"/>
                <a:ea typeface="Calibri"/>
                <a:cs typeface="Calibri"/>
              </a:rPr>
              <a:t>Topbar</a:t>
            </a:r>
            <a:endParaRPr lang="en-US" sz="1800">
              <a:latin typeface="Calibri"/>
              <a:ea typeface="Calibri"/>
              <a:cs typeface="Calibri"/>
            </a:endParaRPr>
          </a:p>
          <a:p>
            <a:pPr lvl="1"/>
            <a:r>
              <a:rPr lang="en-US" sz="1800">
                <a:latin typeface="Calibri"/>
                <a:ea typeface="Calibri"/>
                <a:cs typeface="Calibri"/>
              </a:rPr>
              <a:t>Displays a page title bar with optional metadata items, and action buttons</a:t>
            </a:r>
          </a:p>
          <a:p>
            <a:pPr lvl="1"/>
            <a:r>
              <a:rPr lang="en-US" sz="1800">
                <a:latin typeface="Calibri"/>
                <a:ea typeface="Calibri"/>
                <a:cs typeface="Calibri"/>
              </a:rPr>
              <a:t>Metadata items can be styled with highlights and made clickable</a:t>
            </a:r>
          </a:p>
          <a:p>
            <a:r>
              <a:rPr lang="en-US" sz="1800">
                <a:latin typeface="Calibri"/>
                <a:ea typeface="Calibri"/>
                <a:cs typeface="Calibri"/>
              </a:rPr>
              <a:t>ADC Portlet Container</a:t>
            </a:r>
          </a:p>
          <a:p>
            <a:pPr lvl="1"/>
            <a:r>
              <a:rPr lang="en-US" sz="1800">
                <a:latin typeface="Calibri"/>
                <a:ea typeface="Calibri"/>
                <a:cs typeface="Calibri"/>
              </a:rPr>
              <a:t>Displays a collection of portlet cards, each with an icon, title, optional header actions, and content</a:t>
            </a:r>
          </a:p>
          <a:p>
            <a:r>
              <a:rPr lang="en-US" sz="1800">
                <a:latin typeface="Calibri"/>
                <a:ea typeface="Calibri"/>
                <a:cs typeface="Calibri"/>
              </a:rPr>
              <a:t>ADC Tab view Container</a:t>
            </a:r>
          </a:p>
          <a:p>
            <a:pPr lvl="1"/>
            <a:r>
              <a:rPr lang="en-US" sz="1800">
                <a:latin typeface="Calibri"/>
                <a:ea typeface="Calibri"/>
                <a:cs typeface="Calibri"/>
              </a:rPr>
              <a:t>Displays a responsive tabbed interface with automatic overflow handling. </a:t>
            </a:r>
          </a:p>
          <a:p>
            <a:pPr lvl="1"/>
            <a:r>
              <a:rPr lang="en-US" sz="1800">
                <a:latin typeface="Calibri"/>
                <a:ea typeface="Calibri"/>
                <a:cs typeface="Calibri"/>
              </a:rPr>
              <a:t>Tabs that don't fit on screen are moved to a "More" dropdown menu.</a:t>
            </a:r>
          </a:p>
          <a:p>
            <a:r>
              <a:rPr lang="en-US" sz="1800">
                <a:latin typeface="Calibri"/>
                <a:ea typeface="Calibri"/>
                <a:cs typeface="Calibri"/>
              </a:rPr>
              <a:t>ADC Accordion Container</a:t>
            </a:r>
          </a:p>
          <a:p>
            <a:pPr lvl="1"/>
            <a:r>
              <a:rPr lang="en-US" sz="1800">
                <a:latin typeface="Calibri"/>
                <a:ea typeface="Calibri"/>
                <a:cs typeface="Calibri"/>
              </a:rPr>
              <a:t>Displays a collection of expandable/collapsible accordion panels. </a:t>
            </a:r>
          </a:p>
          <a:p>
            <a:pPr lvl="1"/>
            <a:r>
              <a:rPr lang="en-US" sz="1800">
                <a:latin typeface="Calibri"/>
                <a:ea typeface="Calibri"/>
                <a:cs typeface="Calibri"/>
              </a:rPr>
              <a:t>Each container has a header with an icon, title, count, and optional action buttons.</a:t>
            </a:r>
          </a:p>
          <a:p>
            <a:r>
              <a:rPr lang="en-US" sz="1800">
                <a:latin typeface="Calibri"/>
                <a:ea typeface="Calibri"/>
                <a:cs typeface="Calibri"/>
              </a:rPr>
              <a:t>ADC Tour</a:t>
            </a:r>
          </a:p>
          <a:p>
            <a:pPr lvl="1"/>
            <a:r>
              <a:rPr lang="en-US" sz="1800">
                <a:latin typeface="Calibri"/>
                <a:ea typeface="Calibri"/>
                <a:cs typeface="Calibri"/>
              </a:rPr>
              <a:t>Guided walkthroughs for applications</a:t>
            </a:r>
          </a:p>
        </p:txBody>
      </p:sp>
    </p:spTree>
    <p:extLst>
      <p:ext uri="{BB962C8B-B14F-4D97-AF65-F5344CB8AC3E}">
        <p14:creationId xmlns:p14="http://schemas.microsoft.com/office/powerpoint/2010/main" val="3721167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F282-0465-CCD8-8C39-60AFBCA2D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4EC6D-B080-2229-E446-C39A8E10E608}"/>
              </a:ext>
            </a:extLst>
          </p:cNvPr>
          <p:cNvSpPr>
            <a:spLocks noGrp="1"/>
          </p:cNvSpPr>
          <p:nvPr>
            <p:ph type="title"/>
          </p:nvPr>
        </p:nvSpPr>
        <p:spPr>
          <a:xfrm>
            <a:off x="774558" y="321141"/>
            <a:ext cx="11257143" cy="748800"/>
          </a:xfrm>
        </p:spPr>
        <p:txBody>
          <a:bodyPr/>
          <a:lstStyle/>
          <a:p>
            <a:r>
              <a:rPr lang="en-IN" sz="3600" b="1">
                <a:latin typeface="Calibri"/>
                <a:ea typeface="Calibri"/>
                <a:cs typeface="Calibri"/>
              </a:rPr>
              <a:t>Rich Text Editor</a:t>
            </a:r>
          </a:p>
        </p:txBody>
      </p:sp>
      <p:sp>
        <p:nvSpPr>
          <p:cNvPr id="3" name="Content Placeholder 2">
            <a:extLst>
              <a:ext uri="{FF2B5EF4-FFF2-40B4-BE49-F238E27FC236}">
                <a16:creationId xmlns:a16="http://schemas.microsoft.com/office/drawing/2014/main" id="{DC54FE2A-26F0-B5EF-8610-82F6AA9B5EC4}"/>
              </a:ext>
            </a:extLst>
          </p:cNvPr>
          <p:cNvSpPr>
            <a:spLocks noGrp="1"/>
          </p:cNvSpPr>
          <p:nvPr>
            <p:ph idx="1"/>
          </p:nvPr>
        </p:nvSpPr>
        <p:spPr>
          <a:xfrm>
            <a:off x="777964" y="1196419"/>
            <a:ext cx="10629622" cy="5510252"/>
          </a:xfrm>
        </p:spPr>
        <p:txBody>
          <a:bodyPr>
            <a:normAutofit/>
          </a:bodyPr>
          <a:lstStyle/>
          <a:p>
            <a:r>
              <a:rPr lang="en-US" sz="2000">
                <a:latin typeface="Calibri"/>
                <a:ea typeface="Calibri"/>
                <a:cs typeface="Calibri"/>
              </a:rPr>
              <a:t>Created a fully custom, enterprise-ready, reusable rich-text editor component library.</a:t>
            </a:r>
          </a:p>
          <a:p>
            <a:r>
              <a:rPr lang="en-US" sz="2000">
                <a:latin typeface="Calibri"/>
                <a:ea typeface="Calibri"/>
                <a:cs typeface="Calibri"/>
              </a:rPr>
              <a:t>Framework: Angular (V21)</a:t>
            </a:r>
          </a:p>
          <a:p>
            <a:r>
              <a:rPr lang="en-US" sz="2000">
                <a:latin typeface="Calibri"/>
                <a:ea typeface="Calibri"/>
                <a:cs typeface="Calibri"/>
              </a:rPr>
              <a:t>AI Used: Claude AI (Sonnet)</a:t>
            </a:r>
          </a:p>
          <a:p>
            <a:r>
              <a:rPr lang="en-US" sz="2000">
                <a:latin typeface="Calibri"/>
                <a:ea typeface="Calibri"/>
                <a:cs typeface="Calibri"/>
              </a:rPr>
              <a:t>Includes:</a:t>
            </a:r>
          </a:p>
          <a:p>
            <a:pPr lvl="1"/>
            <a:r>
              <a:rPr lang="en-US" sz="2000" b="1">
                <a:latin typeface="Calibri"/>
                <a:ea typeface="Calibri"/>
                <a:cs typeface="Calibri"/>
              </a:rPr>
              <a:t>Text formatting </a:t>
            </a:r>
            <a:r>
              <a:rPr lang="en-US" sz="2000">
                <a:latin typeface="Calibri"/>
                <a:ea typeface="Calibri"/>
                <a:cs typeface="Calibri"/>
              </a:rPr>
              <a:t>— bold/italic/underline/strike/sub/superscript, font family/size/weight, letter spacing, text case, color/highlight, clear formatting (now strips nested formats in one pass), inline code/mark, style presets (italic title, subtitle, special container).</a:t>
            </a:r>
          </a:p>
          <a:p>
            <a:pPr lvl="1"/>
            <a:r>
              <a:rPr lang="en-US" sz="2000" b="1">
                <a:latin typeface="Calibri"/>
                <a:ea typeface="Calibri"/>
                <a:cs typeface="Calibri"/>
              </a:rPr>
              <a:t>Block content </a:t>
            </a:r>
            <a:r>
              <a:rPr lang="en-US" sz="2000">
                <a:latin typeface="Calibri"/>
                <a:ea typeface="Calibri"/>
                <a:cs typeface="Calibri"/>
              </a:rPr>
              <a:t>— headings, bullet/ordered/multi-level lists (list-style variants), blockquote, code blocks with syntax highlighting, alignment, indent/outdent, text direction, paragraph/line spacing, horizontal rule, page breaks, table of contents, footnotes, citations.</a:t>
            </a:r>
          </a:p>
          <a:p>
            <a:pPr lvl="1"/>
            <a:r>
              <a:rPr lang="en-US" sz="2000">
                <a:latin typeface="Calibri"/>
                <a:ea typeface="Calibri"/>
                <a:cs typeface="Calibri"/>
              </a:rPr>
              <a:t>Tables, Media &amp; embeds, AI Assistant, Document tools, Page layout, Import/export (Export as (PDF, Docx, HTML, Markdown), Import as HTML/Docx file)</a:t>
            </a:r>
          </a:p>
        </p:txBody>
      </p:sp>
    </p:spTree>
    <p:extLst>
      <p:ext uri="{BB962C8B-B14F-4D97-AF65-F5344CB8AC3E}">
        <p14:creationId xmlns:p14="http://schemas.microsoft.com/office/powerpoint/2010/main" val="2353873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 name="Text 1"/>
          <p:cNvSpPr/>
          <p:nvPr/>
        </p:nvSpPr>
        <p:spPr>
          <a:xfrm>
            <a:off x="780869" y="422874"/>
            <a:ext cx="10791011"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strike="noStrike" spc="-1">
                <a:solidFill>
                  <a:srgbClr val="000000"/>
                </a:solidFill>
                <a:latin typeface="Calibri"/>
                <a:ea typeface="Calibri"/>
                <a:cs typeface="Calibri"/>
              </a:rPr>
              <a:t>ADC Table — Complete Feature Delivery Status</a:t>
            </a:r>
            <a:endParaRPr lang="en-IN" sz="3600" b="0" strike="noStrike" spc="-1">
              <a:solidFill>
                <a:srgbClr val="000000"/>
              </a:solidFill>
              <a:latin typeface="Calibri"/>
              <a:ea typeface="Calibri"/>
              <a:cs typeface="Calibri"/>
            </a:endParaRPr>
          </a:p>
        </p:txBody>
      </p:sp>
      <p:sp>
        <p:nvSpPr>
          <p:cNvPr id="97" name="Text 3"/>
          <p:cNvSpPr/>
          <p:nvPr/>
        </p:nvSpPr>
        <p:spPr>
          <a:xfrm>
            <a:off x="780867" y="1417320"/>
            <a:ext cx="10894065"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000000"/>
                </a:solidFill>
                <a:latin typeface="Calibri"/>
                <a:ea typeface="Calibri"/>
                <a:cs typeface="Calibri"/>
              </a:rPr>
              <a:t>Coverage:  </a:t>
            </a:r>
            <a:r>
              <a:rPr lang="en-US" sz="1100" b="0" i="1" strike="noStrike" spc="-1">
                <a:solidFill>
                  <a:srgbClr val="000000"/>
                </a:solidFill>
                <a:latin typeface="Calibri"/>
                <a:ea typeface="Calibri"/>
                <a:cs typeface="Calibri"/>
              </a:rPr>
              <a:t>All 30+ features are built into @aithentchn/adc-table v2.8.2, grouped by delivery phase.</a:t>
            </a:r>
            <a:endParaRPr lang="en-IN" sz="1100" b="0" strike="noStrike" spc="-1">
              <a:solidFill>
                <a:srgbClr val="000000"/>
              </a:solidFill>
              <a:latin typeface="Calibri"/>
              <a:ea typeface="Calibri"/>
              <a:cs typeface="Calibri"/>
            </a:endParaRPr>
          </a:p>
        </p:txBody>
      </p:sp>
      <p:graphicFrame>
        <p:nvGraphicFramePr>
          <p:cNvPr id="98" name="Table 0"/>
          <p:cNvGraphicFramePr/>
          <p:nvPr>
            <p:extLst>
              <p:ext uri="{D42A27DB-BD31-4B8C-83A1-F6EECF244321}">
                <p14:modId xmlns:p14="http://schemas.microsoft.com/office/powerpoint/2010/main" val="2772670213"/>
              </p:ext>
            </p:extLst>
          </p:nvPr>
        </p:nvGraphicFramePr>
        <p:xfrm>
          <a:off x="776514" y="1872342"/>
          <a:ext cx="7545133" cy="3007800"/>
        </p:xfrm>
        <a:graphic>
          <a:graphicData uri="http://schemas.openxmlformats.org/drawingml/2006/table">
            <a:tbl>
              <a:tblPr/>
              <a:tblGrid>
                <a:gridCol w="4077337">
                  <a:extLst>
                    <a:ext uri="{9D8B030D-6E8A-4147-A177-3AD203B41FA5}">
                      <a16:colId xmlns:a16="http://schemas.microsoft.com/office/drawing/2014/main" val="20000"/>
                    </a:ext>
                  </a:extLst>
                </a:gridCol>
                <a:gridCol w="1733898">
                  <a:extLst>
                    <a:ext uri="{9D8B030D-6E8A-4147-A177-3AD203B41FA5}">
                      <a16:colId xmlns:a16="http://schemas.microsoft.com/office/drawing/2014/main" val="20001"/>
                    </a:ext>
                  </a:extLst>
                </a:gridCol>
                <a:gridCol w="1733898">
                  <a:extLst>
                    <a:ext uri="{9D8B030D-6E8A-4147-A177-3AD203B41FA5}">
                      <a16:colId xmlns:a16="http://schemas.microsoft.com/office/drawing/2014/main" val="20002"/>
                    </a:ext>
                  </a:extLst>
                </a:gridCol>
              </a:tblGrid>
              <a:tr h="419760">
                <a:tc>
                  <a:txBody>
                    <a:bodyPr/>
                    <a:lstStyle/>
                    <a:p>
                      <a:pPr defTabSz="914400">
                        <a:lnSpc>
                          <a:spcPct val="100000"/>
                        </a:lnSpc>
                        <a:tabLst>
                          <a:tab pos="0" algn="l"/>
                        </a:tabLst>
                      </a:pPr>
                      <a:r>
                        <a:rPr lang="en-US" sz="1200" b="1" strike="noStrike" spc="-1">
                          <a:solidFill>
                            <a:schemeClr val="tx1"/>
                          </a:solidFill>
                          <a:latin typeface="Calibri"/>
                          <a:ea typeface="Calibri"/>
                        </a:rPr>
                        <a:t>Category</a:t>
                      </a:r>
                      <a:endParaRPr lang="en-IN" sz="1200" b="0" strike="noStrike" spc="-1">
                        <a:solidFill>
                          <a:schemeClr val="tx1"/>
                        </a:solidFill>
                        <a:latin typeface="Arial"/>
                      </a:endParaRPr>
                    </a:p>
                  </a:txBody>
                  <a:tcPr marL="75960" marR="75960" anchor="ct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2"/>
                    </a:solidFill>
                  </a:tcPr>
                </a:tc>
                <a:tc>
                  <a:txBody>
                    <a:bodyPr/>
                    <a:lstStyle/>
                    <a:p>
                      <a:pPr algn="r" defTabSz="914400">
                        <a:lnSpc>
                          <a:spcPct val="100000"/>
                        </a:lnSpc>
                        <a:tabLst>
                          <a:tab pos="0" algn="l"/>
                        </a:tabLst>
                      </a:pPr>
                      <a:r>
                        <a:rPr lang="en-US" sz="1200" b="1" strike="noStrike" spc="-1">
                          <a:solidFill>
                            <a:schemeClr val="tx1"/>
                          </a:solidFill>
                          <a:latin typeface="Calibri"/>
                          <a:ea typeface="Calibri"/>
                        </a:rPr>
                        <a:t>Features</a:t>
                      </a:r>
                      <a:endParaRPr lang="en-IN" sz="1200" b="0" strike="noStrike" spc="-1">
                        <a:solidFill>
                          <a:schemeClr val="tx1"/>
                        </a:solidFill>
                        <a:latin typeface="Arial"/>
                      </a:endParaRPr>
                    </a:p>
                  </a:txBody>
                  <a:tcPr marL="75960" marR="75960" anchor="ct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2"/>
                    </a:solidFill>
                  </a:tcPr>
                </a:tc>
                <a:tc>
                  <a:txBody>
                    <a:bodyPr/>
                    <a:lstStyle/>
                    <a:p>
                      <a:pPr algn="r" defTabSz="914400">
                        <a:lnSpc>
                          <a:spcPct val="100000"/>
                        </a:lnSpc>
                        <a:tabLst>
                          <a:tab pos="0" algn="l"/>
                        </a:tabLst>
                      </a:pPr>
                      <a:r>
                        <a:rPr lang="en-US" sz="1200" b="1" strike="noStrike" spc="-1">
                          <a:solidFill>
                            <a:schemeClr val="tx1"/>
                          </a:solidFill>
                          <a:latin typeface="Calibri"/>
                          <a:ea typeface="Calibri"/>
                        </a:rPr>
                        <a:t>Status</a:t>
                      </a:r>
                      <a:endParaRPr lang="en-IN" sz="1200" b="0" strike="noStrike" spc="-1">
                        <a:solidFill>
                          <a:schemeClr val="tx1"/>
                        </a:solidFill>
                        <a:latin typeface="Arial"/>
                      </a:endParaRPr>
                    </a:p>
                  </a:txBody>
                  <a:tcPr marL="75960" marR="75960" anchor="ct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2"/>
                    </a:solidFill>
                  </a:tcPr>
                </a:tc>
                <a:extLst>
                  <a:ext uri="{0D108BD9-81ED-4DB2-BD59-A6C34878D82A}">
                    <a16:rowId xmlns:a16="http://schemas.microsoft.com/office/drawing/2014/main" val="10000"/>
                  </a:ext>
                </a:extLst>
              </a:tr>
              <a:tr h="369720">
                <a:tc>
                  <a:txBody>
                    <a:bodyPr/>
                    <a:lstStyle/>
                    <a:p>
                      <a:pPr defTabSz="914400">
                        <a:lnSpc>
                          <a:spcPct val="100000"/>
                        </a:lnSpc>
                      </a:pPr>
                      <a:r>
                        <a:rPr lang="en-US" sz="1200" b="1" strike="noStrike" spc="-1">
                          <a:solidFill>
                            <a:schemeClr val="dk1"/>
                          </a:solidFill>
                          <a:latin typeface="Calibri"/>
                        </a:rPr>
                        <a:t>Core</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12700">
                      <a:solidFill>
                        <a:schemeClr val="bg1">
                          <a:lumMod val="75000"/>
                        </a:schemeClr>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10</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12700">
                      <a:solidFill>
                        <a:schemeClr val="bg1">
                          <a:lumMod val="75000"/>
                        </a:schemeClr>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Done</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12700">
                      <a:solidFill>
                        <a:schemeClr val="bg1">
                          <a:lumMod val="75000"/>
                        </a:schemeClr>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1"/>
                  </a:ext>
                </a:extLst>
              </a:tr>
              <a:tr h="369720">
                <a:tc>
                  <a:txBody>
                    <a:bodyPr/>
                    <a:lstStyle/>
                    <a:p>
                      <a:pPr defTabSz="914400">
                        <a:lnSpc>
                          <a:spcPct val="100000"/>
                        </a:lnSpc>
                      </a:pPr>
                      <a:r>
                        <a:rPr lang="en-US" sz="1200" b="1" strike="noStrike" spc="-1">
                          <a:solidFill>
                            <a:schemeClr val="dk1"/>
                          </a:solidFill>
                          <a:latin typeface="Calibri"/>
                        </a:rPr>
                        <a:t>Phase 1 — Foundation</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4</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Done</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2"/>
                  </a:ext>
                </a:extLst>
              </a:tr>
              <a:tr h="369720">
                <a:tc>
                  <a:txBody>
                    <a:bodyPr/>
                    <a:lstStyle/>
                    <a:p>
                      <a:pPr defTabSz="914400">
                        <a:lnSpc>
                          <a:spcPct val="100000"/>
                        </a:lnSpc>
                      </a:pPr>
                      <a:r>
                        <a:rPr lang="en-US" sz="1200" b="1" strike="noStrike" spc="-1">
                          <a:solidFill>
                            <a:schemeClr val="dk1"/>
                          </a:solidFill>
                          <a:latin typeface="Calibri"/>
                        </a:rPr>
                        <a:t>Phase 2 — Advanced Interactions</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4</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Done</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3"/>
                  </a:ext>
                </a:extLst>
              </a:tr>
              <a:tr h="369720">
                <a:tc>
                  <a:txBody>
                    <a:bodyPr/>
                    <a:lstStyle/>
                    <a:p>
                      <a:pPr defTabSz="914400">
                        <a:lnSpc>
                          <a:spcPct val="100000"/>
                        </a:lnSpc>
                      </a:pPr>
                      <a:r>
                        <a:rPr lang="en-US" sz="1200" b="1" strike="noStrike" spc="-1">
                          <a:solidFill>
                            <a:schemeClr val="dk1"/>
                          </a:solidFill>
                          <a:latin typeface="Calibri"/>
                        </a:rPr>
                        <a:t>Phase 3 — Data Security &amp; Editing</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3</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Done</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4"/>
                  </a:ext>
                </a:extLst>
              </a:tr>
              <a:tr h="369720">
                <a:tc>
                  <a:txBody>
                    <a:bodyPr/>
                    <a:lstStyle/>
                    <a:p>
                      <a:pPr defTabSz="914400">
                        <a:lnSpc>
                          <a:spcPct val="100000"/>
                        </a:lnSpc>
                      </a:pPr>
                      <a:r>
                        <a:rPr lang="en-US" sz="1200" b="1" strike="noStrike" spc="-1">
                          <a:solidFill>
                            <a:schemeClr val="dk1"/>
                          </a:solidFill>
                          <a:latin typeface="Calibri"/>
                        </a:rPr>
                        <a:t>Backlog Batch — Enterprise UX</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8</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New</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5"/>
                  </a:ext>
                </a:extLst>
              </a:tr>
              <a:tr h="369720">
                <a:tc>
                  <a:txBody>
                    <a:bodyPr/>
                    <a:lstStyle/>
                    <a:p>
                      <a:pPr defTabSz="914400">
                        <a:lnSpc>
                          <a:spcPct val="100000"/>
                        </a:lnSpc>
                      </a:pPr>
                      <a:r>
                        <a:rPr lang="en-US" sz="1200" b="1" strike="noStrike" spc="-1">
                          <a:solidFill>
                            <a:schemeClr val="dk1"/>
                          </a:solidFill>
                          <a:latin typeface="Calibri"/>
                        </a:rPr>
                        <a:t>Latest — Multi-Reveal &amp; Demo App</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1</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0" strike="noStrike" spc="-1">
                          <a:solidFill>
                            <a:schemeClr val="dk1"/>
                          </a:solidFill>
                          <a:latin typeface="Calibri"/>
                        </a:rPr>
                        <a:t>New</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6"/>
                  </a:ext>
                </a:extLst>
              </a:tr>
              <a:tr h="369720">
                <a:tc>
                  <a:txBody>
                    <a:bodyPr/>
                    <a:lstStyle/>
                    <a:p>
                      <a:pPr defTabSz="914400">
                        <a:lnSpc>
                          <a:spcPct val="100000"/>
                        </a:lnSpc>
                      </a:pPr>
                      <a:r>
                        <a:rPr lang="en-US" sz="1200" b="1" strike="noStrike" spc="-1">
                          <a:solidFill>
                            <a:schemeClr val="dk1"/>
                          </a:solidFill>
                          <a:latin typeface="Calibri"/>
                        </a:rPr>
                        <a:t>TOTAL — 30 Features</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1" strike="noStrike" spc="-1">
                          <a:solidFill>
                            <a:schemeClr val="dk1"/>
                          </a:solidFill>
                          <a:latin typeface="Calibri"/>
                        </a:rPr>
                        <a:t>30</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tc>
                  <a:txBody>
                    <a:bodyPr/>
                    <a:lstStyle/>
                    <a:p>
                      <a:pPr algn="r" defTabSz="914400">
                        <a:lnSpc>
                          <a:spcPct val="100000"/>
                        </a:lnSpc>
                      </a:pPr>
                      <a:r>
                        <a:rPr lang="en-US" sz="1200" b="1" strike="noStrike" spc="-1" err="1">
                          <a:solidFill>
                            <a:schemeClr val="dk1"/>
                          </a:solidFill>
                          <a:latin typeface="Calibri"/>
                        </a:rPr>
                        <a:t>npm</a:t>
                      </a:r>
                      <a:r>
                        <a:rPr lang="en-US" sz="1200" b="1" strike="noStrike" spc="-1">
                          <a:solidFill>
                            <a:schemeClr val="dk1"/>
                          </a:solidFill>
                          <a:latin typeface="Calibri"/>
                        </a:rPr>
                        <a:t> ready</a:t>
                      </a:r>
                      <a:endParaRPr lang="en-IN" sz="1200" b="0" strike="noStrike" spc="-1">
                        <a:solidFill>
                          <a:srgbClr val="000000"/>
                        </a:solidFill>
                        <a:latin typeface="Arial"/>
                      </a:endParaRPr>
                    </a:p>
                  </a:txBody>
                  <a:tcPr marL="75960" marR="75960" anchor="ctr">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chemeClr val="bg1"/>
                    </a:solidFill>
                  </a:tcPr>
                </a:tc>
                <a:extLst>
                  <a:ext uri="{0D108BD9-81ED-4DB2-BD59-A6C34878D82A}">
                    <a16:rowId xmlns:a16="http://schemas.microsoft.com/office/drawing/2014/main" val="10007"/>
                  </a:ext>
                </a:extLst>
              </a:tr>
            </a:tbl>
          </a:graphicData>
        </a:graphic>
      </p:graphicFrame>
      <p:sp>
        <p:nvSpPr>
          <p:cNvPr id="99" name="Shape 4"/>
          <p:cNvSpPr/>
          <p:nvPr/>
        </p:nvSpPr>
        <p:spPr>
          <a:xfrm>
            <a:off x="8595360" y="1874520"/>
            <a:ext cx="3108600" cy="4023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Calibri"/>
            </a:endParaRPr>
          </a:p>
        </p:txBody>
      </p:sp>
      <p:sp>
        <p:nvSpPr>
          <p:cNvPr id="100" name="Text 5"/>
          <p:cNvSpPr/>
          <p:nvPr/>
        </p:nvSpPr>
        <p:spPr>
          <a:xfrm>
            <a:off x="8778240" y="201168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299">
                <a:solidFill>
                  <a:srgbClr val="000000"/>
                </a:solidFill>
                <a:latin typeface="Calibri"/>
                <a:ea typeface="Calibri"/>
                <a:cs typeface="Calibri"/>
              </a:rPr>
              <a:t>RELEASE READINESS</a:t>
            </a:r>
            <a:endParaRPr lang="en-IN" sz="1000" b="0" strike="noStrike" spc="-1">
              <a:solidFill>
                <a:srgbClr val="000000"/>
              </a:solidFill>
              <a:latin typeface="Calibri"/>
              <a:ea typeface="Calibri"/>
              <a:cs typeface="Calibri"/>
            </a:endParaRPr>
          </a:p>
        </p:txBody>
      </p:sp>
      <p:sp>
        <p:nvSpPr>
          <p:cNvPr id="101" name="Text 6"/>
          <p:cNvSpPr/>
          <p:nvPr/>
        </p:nvSpPr>
        <p:spPr>
          <a:xfrm>
            <a:off x="8778240" y="2331720"/>
            <a:ext cx="27428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000" b="1" strike="noStrike" spc="-1">
                <a:solidFill>
                  <a:srgbClr val="000000"/>
                </a:solidFill>
                <a:latin typeface="Calibri"/>
                <a:ea typeface="Calibri"/>
                <a:cs typeface="Calibri"/>
              </a:rPr>
              <a:t>30</a:t>
            </a:r>
            <a:endParaRPr lang="en-IN" sz="6000" b="0" strike="noStrike" spc="-1">
              <a:solidFill>
                <a:srgbClr val="000000"/>
              </a:solidFill>
              <a:latin typeface="Calibri"/>
              <a:ea typeface="Calibri"/>
              <a:cs typeface="Calibri"/>
            </a:endParaRPr>
          </a:p>
        </p:txBody>
      </p:sp>
      <p:sp>
        <p:nvSpPr>
          <p:cNvPr id="102" name="Text 7"/>
          <p:cNvSpPr/>
          <p:nvPr/>
        </p:nvSpPr>
        <p:spPr>
          <a:xfrm>
            <a:off x="8778240" y="331488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000000"/>
                </a:solidFill>
                <a:latin typeface="Calibri"/>
                <a:ea typeface="Calibri"/>
                <a:cs typeface="Calibri"/>
              </a:rPr>
              <a:t>features delivered in a single import</a:t>
            </a:r>
            <a:endParaRPr lang="en-IN" sz="1200" b="0" strike="noStrike" spc="-1">
              <a:solidFill>
                <a:srgbClr val="000000"/>
              </a:solidFill>
              <a:latin typeface="Calibri"/>
              <a:ea typeface="Calibri"/>
              <a:cs typeface="Calibri"/>
            </a:endParaRPr>
          </a:p>
        </p:txBody>
      </p:sp>
      <p:sp>
        <p:nvSpPr>
          <p:cNvPr id="103" name="Shape 8"/>
          <p:cNvSpPr/>
          <p:nvPr/>
        </p:nvSpPr>
        <p:spPr>
          <a:xfrm>
            <a:off x="8778240" y="3611880"/>
            <a:ext cx="2742840" cy="1800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26640" rIns="90000" bIns="-26640" anchor="t">
            <a:noAutofit/>
          </a:bodyPr>
          <a:lstStyle/>
          <a:p>
            <a:pPr defTabSz="914400">
              <a:lnSpc>
                <a:spcPct val="100000"/>
              </a:lnSpc>
            </a:pPr>
            <a:endParaRPr lang="en-US" sz="1800" b="0" strike="noStrike" spc="-1">
              <a:solidFill>
                <a:srgbClr val="000000"/>
              </a:solidFill>
              <a:latin typeface="Calibri"/>
            </a:endParaRPr>
          </a:p>
        </p:txBody>
      </p:sp>
      <p:sp>
        <p:nvSpPr>
          <p:cNvPr id="104" name="Text 9"/>
          <p:cNvSpPr/>
          <p:nvPr/>
        </p:nvSpPr>
        <p:spPr>
          <a:xfrm>
            <a:off x="8778240" y="3749040"/>
            <a:ext cx="27428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3600" b="1" strike="noStrike" spc="-1">
                <a:solidFill>
                  <a:srgbClr val="000000"/>
                </a:solidFill>
                <a:latin typeface="Calibri"/>
                <a:ea typeface="Calibri"/>
                <a:cs typeface="Calibri"/>
              </a:rPr>
              <a:t>0</a:t>
            </a:r>
            <a:endParaRPr lang="en-IN" sz="3600" b="0" strike="noStrike" spc="-1">
              <a:solidFill>
                <a:srgbClr val="000000"/>
              </a:solidFill>
              <a:latin typeface="Calibri"/>
              <a:ea typeface="Calibri"/>
              <a:cs typeface="Calibri"/>
            </a:endParaRPr>
          </a:p>
        </p:txBody>
      </p:sp>
      <p:sp>
        <p:nvSpPr>
          <p:cNvPr id="105" name="Text 10"/>
          <p:cNvSpPr/>
          <p:nvPr/>
        </p:nvSpPr>
        <p:spPr>
          <a:xfrm>
            <a:off x="8778240" y="437076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100" b="0" i="1" strike="noStrike" spc="-1">
                <a:solidFill>
                  <a:srgbClr val="000000"/>
                </a:solidFill>
                <a:latin typeface="Calibri"/>
                <a:ea typeface="Calibri"/>
                <a:cs typeface="Calibri"/>
              </a:rPr>
              <a:t>Breaking changes across every release</a:t>
            </a:r>
            <a:endParaRPr lang="en-IN" sz="1100" b="0" strike="noStrike" spc="-1">
              <a:solidFill>
                <a:srgbClr val="000000"/>
              </a:solidFill>
              <a:latin typeface="Calibri"/>
              <a:ea typeface="Calibri"/>
              <a:cs typeface="Calibri"/>
            </a:endParaRPr>
          </a:p>
        </p:txBody>
      </p:sp>
      <p:sp>
        <p:nvSpPr>
          <p:cNvPr id="106" name="Text 11"/>
          <p:cNvSpPr/>
          <p:nvPr/>
        </p:nvSpPr>
        <p:spPr>
          <a:xfrm>
            <a:off x="8778240" y="4754880"/>
            <a:ext cx="27428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strike="noStrike" spc="-1">
                <a:solidFill>
                  <a:srgbClr val="000000"/>
                </a:solidFill>
                <a:latin typeface="Calibri"/>
                <a:ea typeface="Calibri"/>
                <a:cs typeface="Calibri"/>
              </a:rPr>
              <a:t>npm ready</a:t>
            </a:r>
            <a:endParaRPr lang="en-IN" sz="3600" b="0" strike="noStrike" spc="-1">
              <a:solidFill>
                <a:srgbClr val="000000"/>
              </a:solidFill>
              <a:latin typeface="Calibri"/>
              <a:ea typeface="Calibri"/>
              <a:cs typeface="Calibri"/>
            </a:endParaRPr>
          </a:p>
        </p:txBody>
      </p:sp>
      <p:sp>
        <p:nvSpPr>
          <p:cNvPr id="107" name="Text 12"/>
          <p:cNvSpPr/>
          <p:nvPr/>
        </p:nvSpPr>
        <p:spPr>
          <a:xfrm>
            <a:off x="8778240" y="537660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strike="noStrike" spc="-1">
                <a:solidFill>
                  <a:srgbClr val="000000"/>
                </a:solidFill>
                <a:latin typeface="Calibri"/>
                <a:ea typeface="Calibri"/>
                <a:cs typeface="Calibri"/>
              </a:rPr>
              <a:t>Build status — ready for public release</a:t>
            </a:r>
            <a:endParaRPr lang="en-IN" sz="1100" b="0" strike="noStrike" spc="-1">
              <a:solidFill>
                <a:srgbClr val="000000"/>
              </a:solidFill>
              <a:latin typeface="Calibri"/>
              <a:ea typeface="Calibri"/>
              <a:cs typeface="Calibri"/>
            </a:endParaRPr>
          </a:p>
        </p:txBody>
      </p:sp>
      <p:sp>
        <p:nvSpPr>
          <p:cNvPr id="111" name="Text 17"/>
          <p:cNvSpPr/>
          <p:nvPr/>
        </p:nvSpPr>
        <p:spPr>
          <a:xfrm>
            <a:off x="11521440" y="651060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B7280"/>
                </a:solidFill>
                <a:latin typeface="Calibri"/>
                <a:ea typeface="Calibri"/>
              </a:rPr>
              <a:t>4</a:t>
            </a:r>
            <a:endParaRPr lang="en-IN" sz="900" b="0" strike="noStrike" spc="-1">
              <a:solidFill>
                <a:srgbClr val="000000"/>
              </a:solidFill>
              <a:latin typeface="Arial"/>
            </a:endParaRPr>
          </a:p>
        </p:txBody>
      </p:sp>
    </p:spTree>
    <p:extLst>
      <p:ext uri="{BB962C8B-B14F-4D97-AF65-F5344CB8AC3E}">
        <p14:creationId xmlns:p14="http://schemas.microsoft.com/office/powerpoint/2010/main" val="2566688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 name="Text 1"/>
          <p:cNvSpPr/>
          <p:nvPr/>
        </p:nvSpPr>
        <p:spPr>
          <a:xfrm>
            <a:off x="817154" y="451903"/>
            <a:ext cx="10703926"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strike="noStrike" spc="-1">
                <a:solidFill>
                  <a:srgbClr val="1A1A1A"/>
                </a:solidFill>
                <a:latin typeface="Calibri"/>
                <a:ea typeface="Calibri"/>
                <a:cs typeface="Calibri"/>
              </a:rPr>
              <a:t>Business Value of a Public Release</a:t>
            </a:r>
            <a:endParaRPr lang="en-IN" sz="3600" b="0" strike="noStrike" spc="-1">
              <a:solidFill>
                <a:srgbClr val="000000"/>
              </a:solidFill>
              <a:latin typeface="Calibri"/>
              <a:ea typeface="Calibri"/>
              <a:cs typeface="Calibri"/>
            </a:endParaRPr>
          </a:p>
        </p:txBody>
      </p:sp>
      <p:grpSp>
        <p:nvGrpSpPr>
          <p:cNvPr id="195" name="Group 28"/>
          <p:cNvGrpSpPr/>
          <p:nvPr/>
        </p:nvGrpSpPr>
        <p:grpSpPr>
          <a:xfrm>
            <a:off x="548640" y="1190171"/>
            <a:ext cx="3611520" cy="4622440"/>
            <a:chOff x="548640" y="1828800"/>
            <a:chExt cx="3611520" cy="4114440"/>
          </a:xfrm>
        </p:grpSpPr>
        <p:sp>
          <p:nvSpPr>
            <p:cNvPr id="196" name="Shape 3"/>
            <p:cNvSpPr/>
            <p:nvPr/>
          </p:nvSpPr>
          <p:spPr>
            <a:xfrm>
              <a:off x="548640" y="1828800"/>
              <a:ext cx="3611520" cy="41144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7" name="Shape 4"/>
            <p:cNvSpPr/>
            <p:nvPr/>
          </p:nvSpPr>
          <p:spPr>
            <a:xfrm>
              <a:off x="548640" y="1828800"/>
              <a:ext cx="3611520" cy="727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198" name="Text 5"/>
            <p:cNvSpPr/>
            <p:nvPr/>
          </p:nvSpPr>
          <p:spPr>
            <a:xfrm>
              <a:off x="777240" y="2057400"/>
              <a:ext cx="3200040" cy="27396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1000" b="1" spc="398">
                  <a:latin typeface="Calibri"/>
                  <a:ea typeface="Calibri"/>
                  <a:cs typeface="Calibri"/>
                </a:rPr>
                <a:t>ADOPTION </a:t>
              </a:r>
              <a:r>
                <a:rPr lang="en-US" sz="1000" b="1" strike="noStrike" spc="398">
                  <a:latin typeface="Calibri"/>
                  <a:ea typeface="Calibri"/>
                  <a:cs typeface="Calibri"/>
                </a:rPr>
                <a:t>&amp; </a:t>
              </a:r>
              <a:r>
                <a:rPr lang="en-US" sz="1000" b="1" spc="398">
                  <a:latin typeface="Calibri"/>
                  <a:ea typeface="Calibri"/>
                  <a:cs typeface="Calibri"/>
                </a:rPr>
                <a:t>REACH</a:t>
              </a:r>
              <a:endParaRPr lang="en-IN" sz="1000" b="0" strike="noStrike" spc="-1">
                <a:latin typeface="Calibri"/>
                <a:ea typeface="Calibri"/>
                <a:cs typeface="Calibri"/>
              </a:endParaRPr>
            </a:p>
          </p:txBody>
        </p:sp>
        <p:sp>
          <p:nvSpPr>
            <p:cNvPr id="199" name="Text 6"/>
            <p:cNvSpPr/>
            <p:nvPr/>
          </p:nvSpPr>
          <p:spPr>
            <a:xfrm>
              <a:off x="777240" y="2377440"/>
              <a:ext cx="3200040" cy="5482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1A1A1A"/>
                  </a:solidFill>
                  <a:latin typeface="Calibri"/>
                  <a:ea typeface="Calibri"/>
                  <a:cs typeface="Calibri"/>
                </a:rPr>
                <a:t>One-Command Install</a:t>
              </a:r>
              <a:endParaRPr lang="en-IN" sz="2000" b="0" strike="noStrike" spc="-1">
                <a:solidFill>
                  <a:srgbClr val="000000"/>
                </a:solidFill>
                <a:latin typeface="Calibri"/>
                <a:ea typeface="Calibri"/>
                <a:cs typeface="Calibri"/>
              </a:endParaRPr>
            </a:p>
          </p:txBody>
        </p:sp>
        <p:sp>
          <p:nvSpPr>
            <p:cNvPr id="200" name="Shape 7"/>
            <p:cNvSpPr/>
            <p:nvPr/>
          </p:nvSpPr>
          <p:spPr>
            <a:xfrm>
              <a:off x="777240" y="3017520"/>
              <a:ext cx="456840" cy="3636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201" name="Text 8"/>
            <p:cNvSpPr/>
            <p:nvPr/>
          </p:nvSpPr>
          <p:spPr>
            <a:xfrm>
              <a:off x="777240" y="3246120"/>
              <a:ext cx="3200040" cy="24685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2900" indent="-342900" defTabSz="914400">
                <a:lnSpc>
                  <a:spcPct val="100000"/>
                </a:lnSpc>
                <a:spcAft>
                  <a:spcPts val="799"/>
                </a:spcAft>
                <a:buClr>
                  <a:srgbClr val="000000"/>
                </a:buClr>
                <a:buFont typeface="Symbol" charset="2"/>
                <a:buChar char=""/>
              </a:pPr>
              <a:r>
                <a:rPr lang="en-US" sz="1600" b="0" strike="noStrike" spc="-1">
                  <a:solidFill>
                    <a:schemeClr val="dk1"/>
                  </a:solidFill>
                  <a:latin typeface="Calibri"/>
                  <a:ea typeface="Calibri"/>
                  <a:cs typeface="Calibri"/>
                </a:rPr>
                <a:t>Any team can install it with one command — no manual setup</a:t>
              </a:r>
              <a:endParaRPr lang="en-IN" sz="1600" b="0" strike="noStrike" spc="-1">
                <a:solidFill>
                  <a:schemeClr val="dk1"/>
                </a:solidFill>
                <a:latin typeface="Calibri"/>
                <a:ea typeface="Calibri"/>
                <a:cs typeface="Calibri"/>
              </a:endParaRPr>
            </a:p>
            <a:p>
              <a:pPr marL="342900" indent="-342900" defTabSz="914400">
                <a:lnSpc>
                  <a:spcPct val="100000"/>
                </a:lnSpc>
                <a:spcAft>
                  <a:spcPts val="799"/>
                </a:spcAft>
                <a:buClr>
                  <a:srgbClr val="000000"/>
                </a:buClr>
                <a:buFont typeface="Symbol" charset="2"/>
                <a:buChar char=""/>
              </a:pPr>
              <a:r>
                <a:rPr lang="en-US" sz="1600" b="0" strike="noStrike" spc="-1">
                  <a:solidFill>
                    <a:schemeClr val="dk1"/>
                  </a:solidFill>
                  <a:latin typeface="Calibri"/>
                  <a:ea typeface="Calibri"/>
                  <a:cs typeface="Calibri"/>
                </a:rPr>
                <a:t>Already reused across other internal projects, like ADC Dashboard</a:t>
              </a:r>
              <a:endParaRPr lang="en-IN" sz="1600" b="0" strike="noStrike" spc="-1">
                <a:solidFill>
                  <a:schemeClr val="dk1"/>
                </a:solidFill>
                <a:latin typeface="Calibri"/>
                <a:ea typeface="Calibri"/>
                <a:cs typeface="Calibri"/>
              </a:endParaRPr>
            </a:p>
          </p:txBody>
        </p:sp>
      </p:grpSp>
      <p:grpSp>
        <p:nvGrpSpPr>
          <p:cNvPr id="202" name="Group 27"/>
          <p:cNvGrpSpPr/>
          <p:nvPr/>
        </p:nvGrpSpPr>
        <p:grpSpPr>
          <a:xfrm>
            <a:off x="4343400" y="1190171"/>
            <a:ext cx="3611520" cy="4622440"/>
            <a:chOff x="4343400" y="1828800"/>
            <a:chExt cx="3611520" cy="4114440"/>
          </a:xfrm>
        </p:grpSpPr>
        <p:sp>
          <p:nvSpPr>
            <p:cNvPr id="203" name="Shape 9"/>
            <p:cNvSpPr/>
            <p:nvPr/>
          </p:nvSpPr>
          <p:spPr>
            <a:xfrm>
              <a:off x="4343400" y="1828800"/>
              <a:ext cx="3611520" cy="41144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4" name="Shape 10"/>
            <p:cNvSpPr/>
            <p:nvPr/>
          </p:nvSpPr>
          <p:spPr>
            <a:xfrm>
              <a:off x="4343400" y="1828800"/>
              <a:ext cx="3611520" cy="727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28080" rIns="90000" bIns="28080" anchor="t">
              <a:noAutofit/>
            </a:bodyPr>
            <a:lstStyle/>
            <a:p>
              <a:pPr defTabSz="914400">
                <a:lnSpc>
                  <a:spcPct val="100000"/>
                </a:lnSpc>
              </a:pPr>
              <a:endParaRPr lang="en-US" sz="1800" b="0" strike="noStrike" spc="-1">
                <a:solidFill>
                  <a:schemeClr val="dk1"/>
                </a:solidFill>
                <a:latin typeface="Calibri"/>
              </a:endParaRPr>
            </a:p>
          </p:txBody>
        </p:sp>
        <p:sp>
          <p:nvSpPr>
            <p:cNvPr id="205" name="Text 11"/>
            <p:cNvSpPr/>
            <p:nvPr/>
          </p:nvSpPr>
          <p:spPr>
            <a:xfrm>
              <a:off x="4572000" y="2057400"/>
              <a:ext cx="3200040" cy="27396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000" b="1" strike="noStrike" spc="398">
                  <a:latin typeface="Calibri"/>
                  <a:ea typeface="Calibri"/>
                  <a:cs typeface="Calibri"/>
                </a:rPr>
                <a:t>VERSIONING &amp; SAFETY</a:t>
              </a:r>
              <a:endParaRPr lang="en-IN" sz="1000" b="0" strike="noStrike" spc="-1">
                <a:latin typeface="Calibri"/>
                <a:ea typeface="Calibri"/>
                <a:cs typeface="Calibri"/>
              </a:endParaRPr>
            </a:p>
          </p:txBody>
        </p:sp>
        <p:sp>
          <p:nvSpPr>
            <p:cNvPr id="206" name="Text 12"/>
            <p:cNvSpPr/>
            <p:nvPr/>
          </p:nvSpPr>
          <p:spPr>
            <a:xfrm>
              <a:off x="4572000" y="2377440"/>
              <a:ext cx="3200040" cy="5482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2000" b="1" strike="noStrike" spc="-1">
                  <a:solidFill>
                    <a:srgbClr val="1A1A1A"/>
                  </a:solidFill>
                  <a:latin typeface="Calibri"/>
                  <a:ea typeface="Calibri"/>
                  <a:cs typeface="Calibri"/>
                </a:rPr>
                <a:t>Versioned Releases</a:t>
              </a:r>
              <a:endParaRPr lang="en-IN" sz="2000" b="0" strike="noStrike" spc="-1">
                <a:solidFill>
                  <a:srgbClr val="000000"/>
                </a:solidFill>
                <a:latin typeface="Calibri"/>
                <a:ea typeface="Calibri"/>
                <a:cs typeface="Calibri"/>
              </a:endParaRPr>
            </a:p>
          </p:txBody>
        </p:sp>
        <p:sp>
          <p:nvSpPr>
            <p:cNvPr id="207" name="Shape 13"/>
            <p:cNvSpPr/>
            <p:nvPr/>
          </p:nvSpPr>
          <p:spPr>
            <a:xfrm>
              <a:off x="4572000" y="3017520"/>
              <a:ext cx="456840" cy="3636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8280" rIns="90000" bIns="-8280" anchor="t">
              <a:noAutofit/>
            </a:bodyPr>
            <a:lstStyle/>
            <a:p>
              <a:pPr defTabSz="914400">
                <a:lnSpc>
                  <a:spcPct val="100000"/>
                </a:lnSpc>
              </a:pPr>
              <a:endParaRPr lang="en-US" sz="1800" b="0" strike="noStrike" spc="-1">
                <a:solidFill>
                  <a:schemeClr val="dk1"/>
                </a:solidFill>
                <a:latin typeface="Calibri"/>
              </a:endParaRPr>
            </a:p>
          </p:txBody>
        </p:sp>
        <p:sp>
          <p:nvSpPr>
            <p:cNvPr id="208" name="Text 14"/>
            <p:cNvSpPr/>
            <p:nvPr/>
          </p:nvSpPr>
          <p:spPr>
            <a:xfrm>
              <a:off x="4572000" y="3246120"/>
              <a:ext cx="3200040" cy="24685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2900" indent="-342900" defTabSz="914400">
                <a:lnSpc>
                  <a:spcPct val="100000"/>
                </a:lnSpc>
                <a:spcAft>
                  <a:spcPts val="799"/>
                </a:spcAft>
                <a:buClr>
                  <a:srgbClr val="000000"/>
                </a:buClr>
                <a:buFont typeface="Symbol" charset="2"/>
                <a:buChar char=""/>
              </a:pPr>
              <a:r>
                <a:rPr lang="en-IN" sz="1600" b="0" strike="noStrike" spc="-1">
                  <a:solidFill>
                    <a:schemeClr val="dk1"/>
                  </a:solidFill>
                  <a:latin typeface="Calibri"/>
                  <a:ea typeface="Calibri"/>
                  <a:cs typeface="Calibri"/>
                </a:rPr>
                <a:t>Teams can stay on a stable version and upgrade on their own schedule</a:t>
              </a:r>
            </a:p>
            <a:p>
              <a:pPr marL="342900" indent="-342900" defTabSz="914400">
                <a:lnSpc>
                  <a:spcPct val="100000"/>
                </a:lnSpc>
                <a:spcAft>
                  <a:spcPts val="799"/>
                </a:spcAft>
                <a:buClr>
                  <a:srgbClr val="000000"/>
                </a:buClr>
                <a:buFont typeface="Symbol" charset="2"/>
                <a:buChar char=""/>
              </a:pPr>
              <a:r>
                <a:rPr lang="en-US" sz="1600" b="0" strike="noStrike" spc="-1">
                  <a:solidFill>
                    <a:schemeClr val="dk1"/>
                  </a:solidFill>
                  <a:latin typeface="Calibri"/>
                  <a:ea typeface="Calibri"/>
                  <a:cs typeface="Calibri"/>
                </a:rPr>
                <a:t>Works with Angular 19–21, and warns teams before an incompatible install</a:t>
              </a:r>
              <a:endParaRPr lang="en-IN" sz="1600" b="0" strike="noStrike" spc="-1">
                <a:solidFill>
                  <a:schemeClr val="dk1"/>
                </a:solidFill>
                <a:latin typeface="Calibri"/>
                <a:ea typeface="Calibri"/>
                <a:cs typeface="Calibri"/>
              </a:endParaRPr>
            </a:p>
            <a:p>
              <a:pPr marL="342900" indent="-342900" defTabSz="914400">
                <a:lnSpc>
                  <a:spcPct val="100000"/>
                </a:lnSpc>
                <a:spcAft>
                  <a:spcPts val="799"/>
                </a:spcAft>
                <a:buClr>
                  <a:srgbClr val="000000"/>
                </a:buClr>
                <a:buFont typeface="Symbol" charset="2"/>
                <a:buChar char=""/>
              </a:pPr>
              <a:r>
                <a:rPr lang="en-US" sz="1600" b="0" strike="noStrike" spc="-1">
                  <a:solidFill>
                    <a:schemeClr val="dk1"/>
                  </a:solidFill>
                  <a:latin typeface="Calibri"/>
                  <a:ea typeface="Calibri"/>
                  <a:cs typeface="Calibri"/>
                </a:rPr>
                <a:t>No breaking changes in any release so far</a:t>
              </a:r>
              <a:endParaRPr lang="en-IN" sz="1600" b="0" strike="noStrike" spc="-1">
                <a:solidFill>
                  <a:schemeClr val="dk1"/>
                </a:solidFill>
                <a:latin typeface="Calibri"/>
                <a:ea typeface="Calibri"/>
                <a:cs typeface="Calibri"/>
              </a:endParaRPr>
            </a:p>
            <a:p>
              <a:pPr marL="342900" indent="-342900" defTabSz="914400">
                <a:lnSpc>
                  <a:spcPct val="100000"/>
                </a:lnSpc>
                <a:spcAft>
                  <a:spcPts val="799"/>
                </a:spcAft>
                <a:buClr>
                  <a:srgbClr val="000000"/>
                </a:buClr>
                <a:buFont typeface="Symbol" charset="2"/>
                <a:buChar char=""/>
              </a:pPr>
              <a:r>
                <a:rPr lang="en-US" sz="1600" b="0" strike="noStrike" spc="-1">
                  <a:solidFill>
                    <a:schemeClr val="dk1"/>
                  </a:solidFill>
                  <a:latin typeface="Calibri"/>
                  <a:ea typeface="Calibri"/>
                  <a:cs typeface="Calibri"/>
                </a:rPr>
                <a:t>New features never break existing setups</a:t>
              </a:r>
              <a:endParaRPr lang="en-IN" sz="1600" b="0" strike="noStrike" spc="-1">
                <a:solidFill>
                  <a:schemeClr val="dk1"/>
                </a:solidFill>
                <a:latin typeface="Calibri"/>
                <a:ea typeface="Calibri"/>
                <a:cs typeface="Calibri"/>
              </a:endParaRPr>
            </a:p>
          </p:txBody>
        </p:sp>
      </p:grpSp>
      <p:grpSp>
        <p:nvGrpSpPr>
          <p:cNvPr id="209" name="Group 26"/>
          <p:cNvGrpSpPr/>
          <p:nvPr/>
        </p:nvGrpSpPr>
        <p:grpSpPr>
          <a:xfrm>
            <a:off x="8138160" y="1190171"/>
            <a:ext cx="3611520" cy="4622440"/>
            <a:chOff x="8138160" y="1828800"/>
            <a:chExt cx="3611520" cy="4114440"/>
          </a:xfrm>
        </p:grpSpPr>
        <p:sp>
          <p:nvSpPr>
            <p:cNvPr id="210" name="Shape 15"/>
            <p:cNvSpPr/>
            <p:nvPr/>
          </p:nvSpPr>
          <p:spPr>
            <a:xfrm>
              <a:off x="8138160" y="1828800"/>
              <a:ext cx="3611520" cy="41144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2" name="Text 17"/>
            <p:cNvSpPr/>
            <p:nvPr/>
          </p:nvSpPr>
          <p:spPr>
            <a:xfrm>
              <a:off x="8366760" y="2057400"/>
              <a:ext cx="3200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000" b="1" spc="398">
                  <a:latin typeface="Calibri"/>
                  <a:ea typeface="Calibri"/>
                  <a:cs typeface="Calibri"/>
                </a:rPr>
                <a:t>BRAND </a:t>
              </a:r>
              <a:r>
                <a:rPr lang="en-US" sz="1000" b="1" strike="noStrike" spc="398">
                  <a:latin typeface="Calibri"/>
                  <a:ea typeface="Calibri"/>
                  <a:cs typeface="Calibri"/>
                </a:rPr>
                <a:t>&amp; </a:t>
              </a:r>
              <a:r>
                <a:rPr lang="en-US" sz="1000" b="1" spc="398">
                  <a:latin typeface="Calibri"/>
                  <a:ea typeface="Calibri"/>
                  <a:cs typeface="Calibri"/>
                </a:rPr>
                <a:t>GROWTH</a:t>
              </a:r>
              <a:endParaRPr lang="en-IN" sz="1000" b="0" strike="noStrike" spc="-1">
                <a:latin typeface="Calibri"/>
                <a:ea typeface="Calibri"/>
                <a:cs typeface="Calibri"/>
              </a:endParaRPr>
            </a:p>
          </p:txBody>
        </p:sp>
        <p:sp>
          <p:nvSpPr>
            <p:cNvPr id="213" name="Text 18"/>
            <p:cNvSpPr/>
            <p:nvPr/>
          </p:nvSpPr>
          <p:spPr>
            <a:xfrm>
              <a:off x="8366760" y="2377440"/>
              <a:ext cx="3200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2000" b="1" strike="noStrike" spc="-1">
                  <a:solidFill>
                    <a:srgbClr val="1A1A1A"/>
                  </a:solidFill>
                  <a:latin typeface="Calibri"/>
                  <a:ea typeface="Calibri"/>
                  <a:cs typeface="Calibri"/>
                </a:rPr>
                <a:t>Visibility &amp; Adoption</a:t>
              </a:r>
              <a:br>
                <a:rPr sz="2000">
                  <a:latin typeface="Calibri"/>
                  <a:ea typeface="Calibri"/>
                  <a:cs typeface="Calibri"/>
                </a:rPr>
              </a:br>
              <a:r>
                <a:rPr lang="en-US" sz="2000" b="1" spc="-1">
                  <a:solidFill>
                    <a:srgbClr val="1A1A1A"/>
                  </a:solidFill>
                  <a:latin typeface="Calibri"/>
                  <a:ea typeface="Calibri"/>
                  <a:cs typeface="Calibri"/>
                </a:rPr>
                <a:t>around The</a:t>
              </a:r>
              <a:r>
                <a:rPr lang="en-US" sz="2000" b="1" strike="noStrike" spc="-1">
                  <a:solidFill>
                    <a:srgbClr val="1A1A1A"/>
                  </a:solidFill>
                  <a:latin typeface="Calibri"/>
                  <a:ea typeface="Calibri"/>
                  <a:cs typeface="Calibri"/>
                </a:rPr>
                <a:t> World</a:t>
              </a:r>
              <a:endParaRPr lang="en-IN" sz="2000" b="0" strike="noStrike" spc="-1">
                <a:solidFill>
                  <a:srgbClr val="000000"/>
                </a:solidFill>
                <a:latin typeface="Calibri"/>
                <a:ea typeface="Calibri"/>
                <a:cs typeface="Calibri"/>
              </a:endParaRPr>
            </a:p>
          </p:txBody>
        </p:sp>
        <p:sp>
          <p:nvSpPr>
            <p:cNvPr id="215" name="Text 20"/>
            <p:cNvSpPr/>
            <p:nvPr/>
          </p:nvSpPr>
          <p:spPr>
            <a:xfrm>
              <a:off x="8366760" y="3246120"/>
              <a:ext cx="3200040" cy="2697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85750" indent="-285750">
                <a:buClr>
                  <a:srgbClr val="000000"/>
                </a:buClr>
                <a:buFont typeface="Arial"/>
                <a:buChar char="•"/>
              </a:pPr>
              <a:r>
                <a:rPr lang="en-US" sz="1600" b="0" strike="noStrike" spc="-1">
                  <a:solidFill>
                    <a:schemeClr val="dk1"/>
                  </a:solidFill>
                  <a:latin typeface="Calibri"/>
                  <a:ea typeface="Calibri"/>
                  <a:cs typeface="Calibri"/>
                </a:rPr>
                <a:t>Every </a:t>
              </a:r>
              <a:r>
                <a:rPr lang="en-US" sz="1600" spc="-1">
                  <a:solidFill>
                    <a:schemeClr val="dk1"/>
                  </a:solidFill>
                  <a:latin typeface="Calibri"/>
                  <a:ea typeface="Calibri"/>
                  <a:cs typeface="Calibri"/>
                </a:rPr>
                <a:t>Download Builds Public Recognition For </a:t>
              </a:r>
              <a:r>
                <a:rPr lang="en-US" sz="1600" b="0" strike="noStrike" spc="-1">
                  <a:solidFill>
                    <a:schemeClr val="dk1"/>
                  </a:solidFill>
                  <a:latin typeface="Calibri"/>
                  <a:ea typeface="Calibri"/>
                  <a:cs typeface="Calibri"/>
                </a:rPr>
                <a:t>Aithent</a:t>
              </a:r>
              <a:br>
                <a:rPr sz="1600">
                  <a:latin typeface="Calibri"/>
                  <a:ea typeface="Calibri"/>
                  <a:cs typeface="Calibri"/>
                </a:rPr>
              </a:br>
              <a:r>
                <a:rPr lang="en-US" sz="1600" b="0" strike="noStrike" spc="-1">
                  <a:solidFill>
                    <a:schemeClr val="dk1"/>
                  </a:solidFill>
                  <a:latin typeface="Calibri"/>
                  <a:ea typeface="Calibri"/>
                  <a:cs typeface="Calibri"/>
                </a:rPr>
                <a:t> </a:t>
              </a:r>
              <a:endParaRPr lang="en-IN" sz="1600" b="0" strike="noStrike" spc="-1">
                <a:solidFill>
                  <a:schemeClr val="dk1"/>
                </a:solidFill>
                <a:latin typeface="Calibri"/>
                <a:ea typeface="Calibri"/>
                <a:cs typeface="Calibri"/>
              </a:endParaRPr>
            </a:p>
            <a:p>
              <a:pPr marL="285750" indent="-285750">
                <a:buClr>
                  <a:srgbClr val="000000"/>
                </a:buClr>
                <a:buFont typeface="Arial"/>
                <a:buChar char="•"/>
              </a:pPr>
              <a:r>
                <a:rPr lang="en-US" sz="1600" b="0" strike="noStrike" spc="-1">
                  <a:solidFill>
                    <a:schemeClr val="dk1"/>
                  </a:solidFill>
                  <a:latin typeface="Calibri"/>
                  <a:ea typeface="Calibri"/>
                  <a:cs typeface="Calibri"/>
                </a:rPr>
                <a:t>Discoverable </a:t>
              </a:r>
              <a:r>
                <a:rPr lang="en-US" sz="1600" spc="-1">
                  <a:solidFill>
                    <a:schemeClr val="dk1"/>
                  </a:solidFill>
                  <a:latin typeface="Calibri"/>
                  <a:ea typeface="Calibri"/>
                  <a:cs typeface="Calibri"/>
                </a:rPr>
                <a:t>By </a:t>
              </a:r>
              <a:r>
                <a:rPr lang="en-US" sz="1600" b="0" strike="noStrike" spc="-1">
                  <a:solidFill>
                    <a:schemeClr val="dk1"/>
                  </a:solidFill>
                  <a:latin typeface="Calibri"/>
                  <a:ea typeface="Calibri"/>
                  <a:cs typeface="Calibri"/>
                </a:rPr>
                <a:t>17M+ </a:t>
              </a:r>
              <a:r>
                <a:rPr lang="en-US" sz="1600" spc="-1">
                  <a:solidFill>
                    <a:schemeClr val="dk1"/>
                  </a:solidFill>
                  <a:latin typeface="Calibri"/>
                  <a:ea typeface="Calibri"/>
                  <a:cs typeface="Calibri"/>
                </a:rPr>
                <a:t>Npm Users Worldwide</a:t>
              </a:r>
              <a:br>
                <a:rPr lang="en-US" sz="1600">
                  <a:latin typeface="Calibri"/>
                  <a:ea typeface="Calibri"/>
                  <a:cs typeface="Calibri"/>
                </a:rPr>
              </a:br>
              <a:r>
                <a:rPr lang="en-US" sz="1600" spc="-1">
                  <a:solidFill>
                    <a:schemeClr val="dk1"/>
                  </a:solidFill>
                  <a:latin typeface="Calibri"/>
                  <a:ea typeface="Calibri"/>
                  <a:cs typeface="Calibri"/>
                </a:rPr>
                <a:t> </a:t>
              </a:r>
              <a:endParaRPr lang="en-IN" sz="1600" b="0" strike="noStrike" spc="-1">
                <a:solidFill>
                  <a:schemeClr val="dk1"/>
                </a:solidFill>
                <a:latin typeface="Calibri"/>
                <a:ea typeface="Calibri"/>
                <a:cs typeface="Calibri"/>
              </a:endParaRPr>
            </a:p>
            <a:p>
              <a:pPr marL="285750" indent="-285750">
                <a:buClr>
                  <a:srgbClr val="000000"/>
                </a:buClr>
                <a:buFont typeface="Arial"/>
                <a:buChar char="•"/>
              </a:pPr>
              <a:r>
                <a:rPr lang="en-US" sz="1600" b="0" strike="noStrike" spc="-1">
                  <a:solidFill>
                    <a:schemeClr val="dk1"/>
                  </a:solidFill>
                  <a:latin typeface="Calibri"/>
                  <a:ea typeface="Calibri"/>
                  <a:cs typeface="Calibri"/>
                </a:rPr>
                <a:t>Download </a:t>
              </a:r>
              <a:r>
                <a:rPr lang="en-US" sz="1600" spc="-1">
                  <a:solidFill>
                    <a:schemeClr val="dk1"/>
                  </a:solidFill>
                  <a:latin typeface="Calibri"/>
                  <a:ea typeface="Calibri"/>
                  <a:cs typeface="Calibri"/>
                </a:rPr>
                <a:t>Numbers Show Real Usage</a:t>
              </a:r>
              <a:br>
                <a:rPr lang="en-US" sz="1600">
                  <a:latin typeface="Calibri"/>
                  <a:ea typeface="Calibri"/>
                  <a:cs typeface="Calibri"/>
                </a:rPr>
              </a:br>
              <a:r>
                <a:rPr lang="en-US" sz="1600" spc="-1">
                  <a:solidFill>
                    <a:schemeClr val="dk1"/>
                  </a:solidFill>
                  <a:latin typeface="Calibri"/>
                  <a:ea typeface="Calibri"/>
                  <a:cs typeface="Calibri"/>
                </a:rPr>
                <a:t> </a:t>
              </a:r>
              <a:endParaRPr lang="en-IN" sz="1600" b="0" strike="noStrike" spc="-1">
                <a:solidFill>
                  <a:schemeClr val="dk1"/>
                </a:solidFill>
                <a:latin typeface="Calibri"/>
                <a:ea typeface="Calibri"/>
                <a:cs typeface="Calibri"/>
              </a:endParaRPr>
            </a:p>
            <a:p>
              <a:pPr marL="285750" indent="-285750">
                <a:buClr>
                  <a:srgbClr val="000000"/>
                </a:buClr>
                <a:buFont typeface="Arial"/>
                <a:buChar char="•"/>
              </a:pPr>
              <a:r>
                <a:rPr lang="en-US" sz="1600" b="0" strike="noStrike" spc="-1">
                  <a:solidFill>
                    <a:schemeClr val="dk1"/>
                  </a:solidFill>
                  <a:latin typeface="Calibri"/>
                  <a:ea typeface="Calibri"/>
                  <a:cs typeface="Calibri"/>
                </a:rPr>
                <a:t>Positions Aithent </a:t>
              </a:r>
              <a:r>
                <a:rPr lang="en-US" sz="1600" spc="-1">
                  <a:solidFill>
                    <a:schemeClr val="dk1"/>
                  </a:solidFill>
                  <a:latin typeface="Calibri"/>
                  <a:ea typeface="Calibri"/>
                  <a:cs typeface="Calibri"/>
                </a:rPr>
                <a:t>As A Contributor In The </a:t>
              </a:r>
              <a:r>
                <a:rPr lang="en-US" sz="1600" b="0" strike="noStrike" spc="-1">
                  <a:solidFill>
                    <a:schemeClr val="dk1"/>
                  </a:solidFill>
                  <a:latin typeface="Calibri"/>
                  <a:ea typeface="Calibri"/>
                  <a:cs typeface="Calibri"/>
                </a:rPr>
                <a:t>Angular </a:t>
              </a:r>
              <a:r>
                <a:rPr lang="en-US" sz="1600" spc="-1">
                  <a:solidFill>
                    <a:schemeClr val="dk1"/>
                  </a:solidFill>
                  <a:latin typeface="Calibri"/>
                  <a:ea typeface="Calibri"/>
                  <a:cs typeface="Calibri"/>
                </a:rPr>
                <a:t>Community</a:t>
              </a:r>
              <a:br>
                <a:rPr sz="1600">
                  <a:latin typeface="Calibri"/>
                  <a:ea typeface="Calibri"/>
                  <a:cs typeface="Calibri"/>
                </a:rPr>
              </a:br>
              <a:r>
                <a:rPr lang="en-US" sz="1600" b="0" strike="noStrike" spc="-1">
                  <a:solidFill>
                    <a:schemeClr val="dk1"/>
                  </a:solidFill>
                  <a:latin typeface="Calibri"/>
                  <a:ea typeface="Calibri"/>
                  <a:cs typeface="Calibri"/>
                </a:rPr>
                <a:t> </a:t>
              </a:r>
              <a:endParaRPr lang="en-IN" sz="1600" b="0" strike="noStrike" spc="-1">
                <a:solidFill>
                  <a:schemeClr val="dk1"/>
                </a:solidFill>
                <a:latin typeface="Calibri"/>
                <a:ea typeface="Calibri"/>
                <a:cs typeface="Calibri"/>
              </a:endParaRPr>
            </a:p>
          </p:txBody>
        </p:sp>
      </p:grpSp>
      <p:sp>
        <p:nvSpPr>
          <p:cNvPr id="216" name="Shape 21"/>
          <p:cNvSpPr/>
          <p:nvPr/>
        </p:nvSpPr>
        <p:spPr>
          <a:xfrm>
            <a:off x="457200" y="6446520"/>
            <a:ext cx="11246760" cy="18000"/>
          </a:xfrm>
          <a:prstGeom prst="rect">
            <a:avLst/>
          </a:prstGeom>
          <a:solidFill>
            <a:srgbClr val="8B1F2F"/>
          </a:solidFill>
          <a:ln w="0">
            <a:noFill/>
          </a:ln>
        </p:spPr>
        <p:style>
          <a:lnRef idx="0">
            <a:scrgbClr r="0" g="0" b="0"/>
          </a:lnRef>
          <a:fillRef idx="0">
            <a:scrgbClr r="0" g="0" b="0"/>
          </a:fillRef>
          <a:effectRef idx="0">
            <a:scrgbClr r="0" g="0" b="0"/>
          </a:effectRef>
          <a:fontRef idx="minor"/>
        </p:style>
        <p:txBody>
          <a:bodyPr lIns="90000" tIns="-26640" rIns="90000" bIns="-26640" anchor="t">
            <a:noAutofit/>
          </a:bodyPr>
          <a:lstStyle/>
          <a:p>
            <a:pPr defTabSz="914400">
              <a:lnSpc>
                <a:spcPct val="100000"/>
              </a:lnSpc>
            </a:pPr>
            <a:endParaRPr lang="en-US" sz="1800" b="0" strike="noStrike" spc="-1">
              <a:solidFill>
                <a:schemeClr val="dk1"/>
              </a:solidFill>
              <a:latin typeface="Calibri"/>
            </a:endParaRPr>
          </a:p>
        </p:txBody>
      </p:sp>
      <p:sp>
        <p:nvSpPr>
          <p:cNvPr id="217" name="Text 22"/>
          <p:cNvSpPr/>
          <p:nvPr/>
        </p:nvSpPr>
        <p:spPr>
          <a:xfrm>
            <a:off x="457200" y="65106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B7280"/>
                </a:solidFill>
                <a:latin typeface="Calibri"/>
                <a:ea typeface="Calibri"/>
                <a:cs typeface="Calibri"/>
              </a:rPr>
              <a:t>© 2026 Aithent  |  All Rights Reserved</a:t>
            </a:r>
            <a:endParaRPr lang="en-IN" sz="900" b="0" strike="noStrike" spc="-1">
              <a:solidFill>
                <a:srgbClr val="000000"/>
              </a:solidFill>
              <a:latin typeface="Calibri"/>
              <a:ea typeface="Calibri"/>
              <a:cs typeface="Calibri"/>
            </a:endParaRPr>
          </a:p>
        </p:txBody>
      </p:sp>
      <p:sp>
        <p:nvSpPr>
          <p:cNvPr id="218" name="Text 23"/>
          <p:cNvSpPr/>
          <p:nvPr/>
        </p:nvSpPr>
        <p:spPr>
          <a:xfrm>
            <a:off x="7772400" y="6510600"/>
            <a:ext cx="3200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i="1" strike="noStrike" spc="-1">
                <a:solidFill>
                  <a:srgbClr val="6B7280"/>
                </a:solidFill>
                <a:latin typeface="Calibri"/>
                <a:ea typeface="Calibri"/>
                <a:cs typeface="Calibri"/>
              </a:rPr>
              <a:t>Confidential — CEO Review, July 2026</a:t>
            </a:r>
            <a:endParaRPr lang="en-IN" sz="900" b="0" strike="noStrike" spc="-1">
              <a:solidFill>
                <a:srgbClr val="000000"/>
              </a:solidFill>
              <a:latin typeface="Calibri"/>
              <a:ea typeface="Calibri"/>
              <a:cs typeface="Calibri"/>
            </a:endParaRPr>
          </a:p>
        </p:txBody>
      </p:sp>
      <p:sp>
        <p:nvSpPr>
          <p:cNvPr id="219" name="Text 24"/>
          <p:cNvSpPr/>
          <p:nvPr/>
        </p:nvSpPr>
        <p:spPr>
          <a:xfrm>
            <a:off x="11521440" y="651060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B7280"/>
                </a:solidFill>
                <a:latin typeface="Calibri"/>
                <a:ea typeface="Calibri"/>
                <a:cs typeface="Calibri"/>
              </a:rPr>
              <a:t>5</a:t>
            </a:r>
            <a:endParaRPr lang="en-IN" sz="900" b="0" strike="noStrike" spc="-1">
              <a:solidFill>
                <a:srgbClr val="000000"/>
              </a:solidFill>
              <a:latin typeface="Calibri"/>
              <a:ea typeface="Calibri"/>
              <a:cs typeface="Calibri"/>
            </a:endParaRPr>
          </a:p>
        </p:txBody>
      </p:sp>
    </p:spTree>
    <p:extLst>
      <p:ext uri="{BB962C8B-B14F-4D97-AF65-F5344CB8AC3E}">
        <p14:creationId xmlns:p14="http://schemas.microsoft.com/office/powerpoint/2010/main" val="2622550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0" name="Text 1"/>
          <p:cNvSpPr/>
          <p:nvPr/>
        </p:nvSpPr>
        <p:spPr>
          <a:xfrm>
            <a:off x="889725" y="451903"/>
            <a:ext cx="1064587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strike="noStrike" spc="-1">
                <a:solidFill>
                  <a:srgbClr val="000000"/>
                </a:solidFill>
                <a:latin typeface="Calibri"/>
                <a:ea typeface="Calibri"/>
                <a:cs typeface="Calibri"/>
              </a:rPr>
              <a:t>ADC Table — Recommendations &amp; Ask</a:t>
            </a:r>
            <a:endParaRPr lang="en-IN" sz="3600" b="0" strike="noStrike" spc="-1">
              <a:solidFill>
                <a:srgbClr val="000000"/>
              </a:solidFill>
              <a:latin typeface="Calibri"/>
              <a:ea typeface="Calibri"/>
              <a:cs typeface="Calibri"/>
            </a:endParaRPr>
          </a:p>
        </p:txBody>
      </p:sp>
      <p:sp>
        <p:nvSpPr>
          <p:cNvPr id="242" name="Shape 26"/>
          <p:cNvSpPr/>
          <p:nvPr/>
        </p:nvSpPr>
        <p:spPr>
          <a:xfrm>
            <a:off x="457200" y="6446520"/>
            <a:ext cx="11246760" cy="18000"/>
          </a:xfrm>
          <a:prstGeom prst="rect">
            <a:avLst/>
          </a:prstGeom>
          <a:solidFill>
            <a:srgbClr val="8B1F2F"/>
          </a:solidFill>
          <a:ln w="0">
            <a:noFill/>
          </a:ln>
        </p:spPr>
        <p:style>
          <a:lnRef idx="0">
            <a:scrgbClr r="0" g="0" b="0"/>
          </a:lnRef>
          <a:fillRef idx="0">
            <a:scrgbClr r="0" g="0" b="0"/>
          </a:fillRef>
          <a:effectRef idx="0">
            <a:scrgbClr r="0" g="0" b="0"/>
          </a:effectRef>
          <a:fontRef idx="minor"/>
        </p:style>
        <p:txBody>
          <a:bodyPr lIns="90000" tIns="-26640" rIns="90000" bIns="-26640" anchor="t">
            <a:noAutofit/>
          </a:bodyPr>
          <a:lstStyle/>
          <a:p>
            <a:pPr defTabSz="914400">
              <a:lnSpc>
                <a:spcPct val="100000"/>
              </a:lnSpc>
            </a:pPr>
            <a:endParaRPr lang="en-US" sz="1800" b="0" strike="noStrike" spc="-1">
              <a:solidFill>
                <a:srgbClr val="000000"/>
              </a:solidFill>
              <a:latin typeface="Calibri"/>
            </a:endParaRPr>
          </a:p>
        </p:txBody>
      </p:sp>
      <p:sp>
        <p:nvSpPr>
          <p:cNvPr id="243" name="Text 27"/>
          <p:cNvSpPr/>
          <p:nvPr/>
        </p:nvSpPr>
        <p:spPr>
          <a:xfrm>
            <a:off x="457200" y="65106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000000"/>
                </a:solidFill>
                <a:latin typeface="Calibri"/>
                <a:ea typeface="Calibri"/>
                <a:cs typeface="Calibri"/>
              </a:rPr>
              <a:t>© 2026 Aithent  |  All Rights Reserved</a:t>
            </a:r>
            <a:endParaRPr lang="en-IN" sz="900" b="0" strike="noStrike" spc="-1">
              <a:solidFill>
                <a:srgbClr val="000000"/>
              </a:solidFill>
              <a:latin typeface="Calibri"/>
              <a:ea typeface="Calibri"/>
              <a:cs typeface="Calibri"/>
            </a:endParaRPr>
          </a:p>
        </p:txBody>
      </p:sp>
      <p:sp>
        <p:nvSpPr>
          <p:cNvPr id="244" name="Text 28"/>
          <p:cNvSpPr/>
          <p:nvPr/>
        </p:nvSpPr>
        <p:spPr>
          <a:xfrm>
            <a:off x="7772400" y="6510600"/>
            <a:ext cx="3200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i="1" strike="noStrike" spc="-1">
                <a:solidFill>
                  <a:srgbClr val="000000"/>
                </a:solidFill>
                <a:latin typeface="Calibri"/>
                <a:ea typeface="Calibri"/>
                <a:cs typeface="Calibri"/>
              </a:rPr>
              <a:t>Confidential — CEO Review, July 2026</a:t>
            </a:r>
            <a:endParaRPr lang="en-IN" sz="900" b="0" strike="noStrike" spc="-1">
              <a:solidFill>
                <a:srgbClr val="000000"/>
              </a:solidFill>
              <a:latin typeface="Calibri"/>
              <a:ea typeface="Calibri"/>
              <a:cs typeface="Calibri"/>
            </a:endParaRPr>
          </a:p>
        </p:txBody>
      </p:sp>
      <p:sp>
        <p:nvSpPr>
          <p:cNvPr id="245" name="Text 29"/>
          <p:cNvSpPr/>
          <p:nvPr/>
        </p:nvSpPr>
        <p:spPr>
          <a:xfrm>
            <a:off x="11521440" y="651060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000000"/>
                </a:solidFill>
                <a:latin typeface="Calibri"/>
                <a:ea typeface="Calibri"/>
                <a:cs typeface="Calibri"/>
              </a:rPr>
              <a:t>6</a:t>
            </a:r>
            <a:endParaRPr lang="en-IN" sz="900" b="0" strike="noStrike" spc="-1">
              <a:solidFill>
                <a:srgbClr val="000000"/>
              </a:solidFill>
              <a:latin typeface="Calibri"/>
              <a:ea typeface="Calibri"/>
              <a:cs typeface="Calibri"/>
            </a:endParaRPr>
          </a:p>
        </p:txBody>
      </p:sp>
      <p:sp>
        <p:nvSpPr>
          <p:cNvPr id="246" name="Text 3"/>
          <p:cNvSpPr/>
          <p:nvPr/>
        </p:nvSpPr>
        <p:spPr>
          <a:xfrm>
            <a:off x="896983" y="1624280"/>
            <a:ext cx="914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3600" b="1" strike="noStrike" spc="-1">
                <a:solidFill>
                  <a:srgbClr val="000000"/>
                </a:solidFill>
                <a:latin typeface="Calibri"/>
                <a:ea typeface="Calibri"/>
                <a:cs typeface="Calibri"/>
              </a:rPr>
              <a:t>01</a:t>
            </a:r>
            <a:endParaRPr lang="en-IN" sz="3600" b="0" strike="noStrike" spc="-1">
              <a:solidFill>
                <a:srgbClr val="000000"/>
              </a:solidFill>
              <a:latin typeface="Calibri"/>
              <a:ea typeface="Calibri"/>
              <a:cs typeface="Calibri"/>
            </a:endParaRPr>
          </a:p>
        </p:txBody>
      </p:sp>
      <p:sp>
        <p:nvSpPr>
          <p:cNvPr id="247" name="Text 4"/>
          <p:cNvSpPr/>
          <p:nvPr/>
        </p:nvSpPr>
        <p:spPr>
          <a:xfrm>
            <a:off x="1902823" y="1486040"/>
            <a:ext cx="7772040" cy="76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50000"/>
              </a:lnSpc>
            </a:pPr>
            <a:r>
              <a:rPr lang="en-US" b="1" strike="noStrike" spc="-1">
                <a:solidFill>
                  <a:srgbClr val="000000"/>
                </a:solidFill>
                <a:latin typeface="Calibri"/>
                <a:ea typeface="Calibri"/>
                <a:cs typeface="Calibri"/>
              </a:rPr>
              <a:t>Approval</a:t>
            </a:r>
            <a:endParaRPr lang="en-IN" b="0" strike="noStrike" spc="-1">
              <a:solidFill>
                <a:srgbClr val="000000"/>
              </a:solidFill>
              <a:latin typeface="Calibri"/>
              <a:ea typeface="Calibri"/>
              <a:cs typeface="Calibri"/>
            </a:endParaRPr>
          </a:p>
          <a:p>
            <a:pPr defTabSz="914400">
              <a:lnSpc>
                <a:spcPct val="150000"/>
              </a:lnSpc>
            </a:pPr>
            <a:r>
              <a:rPr lang="en-US" sz="1400" b="0" strike="noStrike" spc="-1">
                <a:solidFill>
                  <a:srgbClr val="000000"/>
                </a:solidFill>
                <a:latin typeface="Calibri"/>
                <a:ea typeface="Calibri"/>
                <a:cs typeface="Calibri"/>
              </a:rPr>
              <a:t>Approve publishing @aithentchn/adc-table to the public </a:t>
            </a:r>
            <a:r>
              <a:rPr lang="en-US" sz="1400" b="0" strike="noStrike" spc="-1" err="1">
                <a:solidFill>
                  <a:srgbClr val="000000"/>
                </a:solidFill>
                <a:latin typeface="Calibri"/>
                <a:ea typeface="Calibri"/>
                <a:cs typeface="Calibri"/>
              </a:rPr>
              <a:t>npm</a:t>
            </a:r>
            <a:r>
              <a:rPr lang="en-US" sz="1400" b="0" strike="noStrike" spc="-1">
                <a:solidFill>
                  <a:srgbClr val="000000"/>
                </a:solidFill>
                <a:latin typeface="Calibri"/>
                <a:ea typeface="Calibri"/>
                <a:cs typeface="Calibri"/>
              </a:rPr>
              <a:t> registry under an ISC license</a:t>
            </a:r>
            <a:endParaRPr lang="en-IN" sz="1400" b="0" strike="noStrike" spc="-1">
              <a:solidFill>
                <a:srgbClr val="000000"/>
              </a:solidFill>
              <a:latin typeface="Calibri"/>
              <a:ea typeface="Calibri"/>
              <a:cs typeface="Calibri"/>
            </a:endParaRPr>
          </a:p>
        </p:txBody>
      </p:sp>
      <p:sp>
        <p:nvSpPr>
          <p:cNvPr id="248" name="Text 5"/>
          <p:cNvSpPr/>
          <p:nvPr/>
        </p:nvSpPr>
        <p:spPr>
          <a:xfrm>
            <a:off x="1902823" y="1893560"/>
            <a:ext cx="8379000" cy="104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endParaRPr lang="en-US" sz="1200" b="0" strike="noStrike" spc="-1">
              <a:solidFill>
                <a:srgbClr val="000000"/>
              </a:solidFill>
              <a:latin typeface="Calibri"/>
            </a:endParaRPr>
          </a:p>
        </p:txBody>
      </p:sp>
      <p:sp>
        <p:nvSpPr>
          <p:cNvPr id="249" name="Shape 8"/>
          <p:cNvSpPr/>
          <p:nvPr/>
        </p:nvSpPr>
        <p:spPr>
          <a:xfrm>
            <a:off x="896983" y="2214320"/>
            <a:ext cx="11155320" cy="8640"/>
          </a:xfrm>
          <a:prstGeom prst="rect">
            <a:avLst/>
          </a:prstGeom>
          <a:solidFill>
            <a:srgbClr val="D1D5DB"/>
          </a:solidFill>
          <a:ln w="0">
            <a:noFill/>
          </a:ln>
        </p:spPr>
        <p:style>
          <a:lnRef idx="0">
            <a:scrgbClr r="0" g="0" b="0"/>
          </a:lnRef>
          <a:fillRef idx="0">
            <a:scrgbClr r="0" g="0" b="0"/>
          </a:fillRef>
          <a:effectRef idx="0">
            <a:scrgbClr r="0" g="0" b="0"/>
          </a:effectRef>
          <a:fontRef idx="minor"/>
        </p:style>
        <p:txBody>
          <a:bodyPr lIns="90000" tIns="-36000" rIns="90000" bIns="-36000" anchor="t">
            <a:noAutofit/>
          </a:bodyPr>
          <a:lstStyle/>
          <a:p>
            <a:pPr defTabSz="914400">
              <a:lnSpc>
                <a:spcPct val="100000"/>
              </a:lnSpc>
            </a:pPr>
            <a:endParaRPr lang="en-US" sz="1800" b="0" strike="noStrike" spc="-1">
              <a:solidFill>
                <a:srgbClr val="000000"/>
              </a:solidFill>
              <a:latin typeface="Calibri"/>
            </a:endParaRPr>
          </a:p>
        </p:txBody>
      </p:sp>
      <p:sp>
        <p:nvSpPr>
          <p:cNvPr id="250" name="Text 9"/>
          <p:cNvSpPr/>
          <p:nvPr/>
        </p:nvSpPr>
        <p:spPr>
          <a:xfrm>
            <a:off x="896983" y="2417720"/>
            <a:ext cx="914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3600" b="1" strike="noStrike" spc="-1">
                <a:solidFill>
                  <a:srgbClr val="000000"/>
                </a:solidFill>
                <a:latin typeface="Calibri"/>
                <a:ea typeface="Calibri"/>
                <a:cs typeface="Calibri"/>
              </a:rPr>
              <a:t>02</a:t>
            </a:r>
            <a:endParaRPr lang="en-IN" sz="3600" b="0" strike="noStrike" spc="-1">
              <a:solidFill>
                <a:srgbClr val="000000"/>
              </a:solidFill>
              <a:latin typeface="Calibri"/>
              <a:ea typeface="Calibri"/>
              <a:cs typeface="Calibri"/>
            </a:endParaRPr>
          </a:p>
        </p:txBody>
      </p:sp>
      <p:sp>
        <p:nvSpPr>
          <p:cNvPr id="251" name="Text 10"/>
          <p:cNvSpPr/>
          <p:nvPr/>
        </p:nvSpPr>
        <p:spPr>
          <a:xfrm>
            <a:off x="1902823" y="2417720"/>
            <a:ext cx="7772040" cy="81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rgbClr val="000000"/>
                </a:solidFill>
                <a:latin typeface="Calibri"/>
                <a:ea typeface="Calibri"/>
                <a:cs typeface="Calibri"/>
              </a:rPr>
              <a:t>ASK</a:t>
            </a:r>
            <a:endParaRPr lang="en-IN" sz="1600" b="0" strike="noStrike" spc="-1">
              <a:solidFill>
                <a:srgbClr val="000000"/>
              </a:solidFill>
              <a:latin typeface="Calibri"/>
              <a:ea typeface="Calibri"/>
              <a:cs typeface="Calibri"/>
            </a:endParaRPr>
          </a:p>
          <a:p>
            <a:pPr defTabSz="914400">
              <a:lnSpc>
                <a:spcPct val="100000"/>
              </a:lnSpc>
              <a:tabLst>
                <a:tab pos="0" algn="l"/>
              </a:tabLst>
            </a:pPr>
            <a:r>
              <a:rPr lang="en-US" sz="1400" b="0" strike="noStrike" spc="-1" err="1">
                <a:solidFill>
                  <a:srgbClr val="000000"/>
                </a:solidFill>
                <a:latin typeface="Calibri"/>
                <a:ea typeface="Calibri"/>
                <a:cs typeface="Calibri"/>
              </a:rPr>
              <a:t>npm</a:t>
            </a:r>
            <a:r>
              <a:rPr lang="en-US" sz="1400" b="0" strike="noStrike" spc="-1">
                <a:solidFill>
                  <a:srgbClr val="000000"/>
                </a:solidFill>
                <a:latin typeface="Calibri"/>
                <a:ea typeface="Calibri"/>
                <a:cs typeface="Calibri"/>
              </a:rPr>
              <a:t> account access and continued AI tool access for future work</a:t>
            </a:r>
            <a:endParaRPr lang="en-IN" sz="1400" b="0" strike="noStrike" spc="-1">
              <a:solidFill>
                <a:srgbClr val="000000"/>
              </a:solidFill>
              <a:latin typeface="Calibri"/>
              <a:ea typeface="Calibri"/>
              <a:cs typeface="Calibri"/>
            </a:endParaRPr>
          </a:p>
          <a:p>
            <a:pPr defTabSz="914400">
              <a:lnSpc>
                <a:spcPct val="100000"/>
              </a:lnSpc>
              <a:tabLst>
                <a:tab pos="0" algn="l"/>
              </a:tabLst>
            </a:pPr>
            <a:endParaRPr lang="en-IN" sz="1600" b="0" strike="noStrike" spc="-1">
              <a:solidFill>
                <a:srgbClr val="000000"/>
              </a:solidFill>
              <a:latin typeface="Calibri"/>
              <a:ea typeface="Calibri"/>
              <a:cs typeface="Calibri"/>
            </a:endParaRPr>
          </a:p>
        </p:txBody>
      </p:sp>
      <p:sp>
        <p:nvSpPr>
          <p:cNvPr id="252" name="Shape 14"/>
          <p:cNvSpPr/>
          <p:nvPr/>
        </p:nvSpPr>
        <p:spPr>
          <a:xfrm>
            <a:off x="805543" y="3111800"/>
            <a:ext cx="11155320" cy="8640"/>
          </a:xfrm>
          <a:prstGeom prst="rect">
            <a:avLst/>
          </a:prstGeom>
          <a:solidFill>
            <a:srgbClr val="D1D5DB"/>
          </a:solidFill>
          <a:ln w="0">
            <a:noFill/>
          </a:ln>
        </p:spPr>
        <p:style>
          <a:lnRef idx="0">
            <a:scrgbClr r="0" g="0" b="0"/>
          </a:lnRef>
          <a:fillRef idx="0">
            <a:scrgbClr r="0" g="0" b="0"/>
          </a:fillRef>
          <a:effectRef idx="0">
            <a:scrgbClr r="0" g="0" b="0"/>
          </a:effectRef>
          <a:fontRef idx="minor"/>
        </p:style>
        <p:txBody>
          <a:bodyPr lIns="90000" tIns="-36000" rIns="90000" bIns="-36000" anchor="t">
            <a:noAutofit/>
          </a:bodyPr>
          <a:lstStyle/>
          <a:p>
            <a:pPr defTabSz="914400">
              <a:lnSpc>
                <a:spcPct val="100000"/>
              </a:lnSpc>
            </a:pPr>
            <a:endParaRPr lang="en-US" sz="1800" b="0" strike="noStrike" spc="-1">
              <a:solidFill>
                <a:srgbClr val="000000"/>
              </a:solidFill>
              <a:latin typeface="Calibri"/>
            </a:endParaRPr>
          </a:p>
        </p:txBody>
      </p:sp>
      <p:sp>
        <p:nvSpPr>
          <p:cNvPr id="253" name="Text 15"/>
          <p:cNvSpPr/>
          <p:nvPr/>
        </p:nvSpPr>
        <p:spPr>
          <a:xfrm>
            <a:off x="896983" y="3261920"/>
            <a:ext cx="914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3600" b="1" strike="noStrike" spc="-1">
                <a:solidFill>
                  <a:srgbClr val="000000"/>
                </a:solidFill>
                <a:latin typeface="Calibri"/>
                <a:ea typeface="Calibri"/>
                <a:cs typeface="Calibri"/>
              </a:rPr>
              <a:t>03</a:t>
            </a:r>
            <a:endParaRPr lang="en-IN" sz="3600" b="0" strike="noStrike" spc="-1">
              <a:solidFill>
                <a:srgbClr val="000000"/>
              </a:solidFill>
              <a:latin typeface="Calibri"/>
              <a:ea typeface="Calibri"/>
              <a:cs typeface="Calibri"/>
            </a:endParaRPr>
          </a:p>
        </p:txBody>
      </p:sp>
      <p:sp>
        <p:nvSpPr>
          <p:cNvPr id="254" name="Text 16"/>
          <p:cNvSpPr/>
          <p:nvPr/>
        </p:nvSpPr>
        <p:spPr>
          <a:xfrm>
            <a:off x="1902823" y="3194960"/>
            <a:ext cx="9966600" cy="15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50000"/>
              </a:lnSpc>
            </a:pPr>
            <a:r>
              <a:rPr lang="en-US" sz="1600" b="1" strike="noStrike" spc="-1">
                <a:solidFill>
                  <a:srgbClr val="000000"/>
                </a:solidFill>
                <a:latin typeface="Calibri"/>
                <a:ea typeface="Calibri"/>
                <a:cs typeface="Calibri"/>
              </a:rPr>
              <a:t>Roadmap Investment</a:t>
            </a:r>
            <a:endParaRPr lang="en-IN" sz="1600" b="0" strike="noStrike" spc="-1">
              <a:solidFill>
                <a:srgbClr val="000000"/>
              </a:solidFill>
              <a:latin typeface="Calibri"/>
              <a:ea typeface="Calibri"/>
              <a:cs typeface="Calibri"/>
            </a:endParaRPr>
          </a:p>
          <a:p>
            <a:pPr defTabSz="914400">
              <a:lnSpc>
                <a:spcPct val="150000"/>
              </a:lnSpc>
            </a:pPr>
            <a:r>
              <a:rPr lang="en-US" sz="1400" b="0" strike="noStrike" spc="-1">
                <a:solidFill>
                  <a:srgbClr val="000000"/>
                </a:solidFill>
                <a:latin typeface="Calibri"/>
                <a:ea typeface="Calibri"/>
                <a:cs typeface="Calibri"/>
              </a:rPr>
              <a:t>Set aside engineering time for the next version: better performance, easier documentation, and Angular updates.</a:t>
            </a:r>
            <a:endParaRPr lang="en-IN" sz="1400" b="0" strike="noStrike" spc="-1">
              <a:solidFill>
                <a:srgbClr val="000000"/>
              </a:solidFill>
              <a:latin typeface="Calibri"/>
              <a:ea typeface="Calibri"/>
              <a:cs typeface="Calibri"/>
            </a:endParaRPr>
          </a:p>
          <a:p>
            <a:pPr defTabSz="914400">
              <a:lnSpc>
                <a:spcPct val="150000"/>
              </a:lnSpc>
            </a:pPr>
            <a:endParaRPr lang="en-IN" sz="1600" b="0" strike="noStrike" spc="-1">
              <a:solidFill>
                <a:srgbClr val="000000"/>
              </a:solidFill>
              <a:latin typeface="Calibri"/>
              <a:ea typeface="Calibri"/>
              <a:cs typeface="Calibri"/>
            </a:endParaRPr>
          </a:p>
        </p:txBody>
      </p:sp>
      <p:sp>
        <p:nvSpPr>
          <p:cNvPr id="255" name="Shape 20"/>
          <p:cNvSpPr/>
          <p:nvPr/>
        </p:nvSpPr>
        <p:spPr>
          <a:xfrm>
            <a:off x="805543" y="4210880"/>
            <a:ext cx="11155320" cy="8640"/>
          </a:xfrm>
          <a:prstGeom prst="rect">
            <a:avLst/>
          </a:prstGeom>
          <a:solidFill>
            <a:srgbClr val="D1D5DB"/>
          </a:solidFill>
          <a:ln w="0">
            <a:noFill/>
          </a:ln>
        </p:spPr>
        <p:style>
          <a:lnRef idx="0">
            <a:scrgbClr r="0" g="0" b="0"/>
          </a:lnRef>
          <a:fillRef idx="0">
            <a:scrgbClr r="0" g="0" b="0"/>
          </a:fillRef>
          <a:effectRef idx="0">
            <a:scrgbClr r="0" g="0" b="0"/>
          </a:effectRef>
          <a:fontRef idx="minor"/>
        </p:style>
        <p:txBody>
          <a:bodyPr lIns="90000" tIns="-36000" rIns="90000" bIns="-36000" anchor="t">
            <a:noAutofit/>
          </a:bodyPr>
          <a:lstStyle/>
          <a:p>
            <a:pPr defTabSz="914400">
              <a:lnSpc>
                <a:spcPct val="100000"/>
              </a:lnSpc>
            </a:pPr>
            <a:endParaRPr lang="en-US" sz="1800" b="0" strike="noStrike" spc="-1">
              <a:solidFill>
                <a:srgbClr val="00000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C6F9-3E4A-C818-4510-0FE3962BAD21}"/>
              </a:ext>
            </a:extLst>
          </p:cNvPr>
          <p:cNvSpPr>
            <a:spLocks noGrp="1"/>
          </p:cNvSpPr>
          <p:nvPr>
            <p:ph type="title"/>
          </p:nvPr>
        </p:nvSpPr>
        <p:spPr>
          <a:xfrm>
            <a:off x="781814" y="437255"/>
            <a:ext cx="10640287" cy="748800"/>
          </a:xfrm>
        </p:spPr>
        <p:txBody>
          <a:bodyPr>
            <a:normAutofit/>
          </a:bodyPr>
          <a:lstStyle/>
          <a:p>
            <a:r>
              <a:rPr lang="en-US" sz="3600" b="1">
                <a:latin typeface="Calibri"/>
                <a:ea typeface="Calibri"/>
                <a:cs typeface="Calibri"/>
              </a:rPr>
              <a:t>Executive Summary</a:t>
            </a:r>
          </a:p>
        </p:txBody>
      </p:sp>
      <p:sp>
        <p:nvSpPr>
          <p:cNvPr id="3" name="Content Placeholder 2">
            <a:extLst>
              <a:ext uri="{FF2B5EF4-FFF2-40B4-BE49-F238E27FC236}">
                <a16:creationId xmlns:a16="http://schemas.microsoft.com/office/drawing/2014/main" id="{63F0FB6D-D5C8-3B5A-F416-FC52682D7C16}"/>
              </a:ext>
            </a:extLst>
          </p:cNvPr>
          <p:cNvSpPr>
            <a:spLocks noGrp="1"/>
          </p:cNvSpPr>
          <p:nvPr>
            <p:ph idx="1"/>
          </p:nvPr>
        </p:nvSpPr>
        <p:spPr>
          <a:xfrm>
            <a:off x="661850" y="1312533"/>
            <a:ext cx="10752993" cy="5510252"/>
          </a:xfrm>
        </p:spPr>
        <p:txBody>
          <a:bodyPr vert="horz" lIns="91440" tIns="45720" rIns="91440" bIns="45720" rtlCol="0" anchor="t">
            <a:normAutofit/>
          </a:bodyPr>
          <a:lstStyle/>
          <a:p>
            <a:r>
              <a:rPr lang="en-US" sz="2200">
                <a:latin typeface="Calibri"/>
                <a:ea typeface="Calibri"/>
                <a:cs typeface="Calibri"/>
              </a:rPr>
              <a:t>Delivered continuous enhancements to ADC Dashboard / Component Library for </a:t>
            </a:r>
            <a:r>
              <a:rPr lang="en-US" sz="2200" err="1">
                <a:latin typeface="Calibri"/>
                <a:ea typeface="Calibri"/>
                <a:cs typeface="Calibri"/>
              </a:rPr>
              <a:t>CaseHUB</a:t>
            </a:r>
            <a:r>
              <a:rPr lang="en-US" sz="2200">
                <a:latin typeface="Calibri"/>
                <a:ea typeface="Calibri"/>
                <a:cs typeface="Calibri"/>
              </a:rPr>
              <a:t> &amp; product needs</a:t>
            </a:r>
            <a:endParaRPr lang="en-US" sz="2200"/>
          </a:p>
          <a:p>
            <a:r>
              <a:rPr lang="en-US" sz="2200">
                <a:latin typeface="Calibri"/>
                <a:ea typeface="Calibri"/>
                <a:cs typeface="Calibri"/>
              </a:rPr>
              <a:t>Released multiple library versions (~2.5 → 2.6.x), i18n, and Angular upgrade</a:t>
            </a:r>
          </a:p>
          <a:p>
            <a:r>
              <a:rPr lang="en-US" sz="2200">
                <a:latin typeface="Calibri"/>
                <a:ea typeface="Calibri"/>
                <a:cs typeface="Calibri"/>
              </a:rPr>
              <a:t>Integrated ADC Lib (Login, Dashboard, Table) and Angular 19→21 into Protean FE.</a:t>
            </a:r>
          </a:p>
          <a:p>
            <a:r>
              <a:rPr lang="en-US" sz="2200">
                <a:latin typeface="Calibri"/>
                <a:ea typeface="Calibri"/>
                <a:cs typeface="Calibri"/>
              </a:rPr>
              <a:t>Built production-oriented ADC Editor Backend (</a:t>
            </a:r>
            <a:r>
              <a:rPr lang="en-US" sz="2200" err="1">
                <a:latin typeface="Calibri"/>
                <a:ea typeface="Calibri"/>
                <a:cs typeface="Calibri"/>
              </a:rPr>
              <a:t>NestJS</a:t>
            </a:r>
            <a:r>
              <a:rPr lang="en-US" sz="2200">
                <a:latin typeface="Calibri"/>
                <a:ea typeface="Calibri"/>
                <a:cs typeface="Calibri"/>
              </a:rPr>
              <a:t> multi-tenant platform) from architecture → APIs → Docker/CI</a:t>
            </a:r>
            <a:endParaRPr lang="en-US" sz="2200"/>
          </a:p>
          <a:p>
            <a:r>
              <a:rPr lang="en-US" sz="2200" b="1">
                <a:latin typeface="Calibri"/>
                <a:ea typeface="Calibri"/>
                <a:cs typeface="Calibri"/>
              </a:rPr>
              <a:t>Work streams</a:t>
            </a:r>
            <a:r>
              <a:rPr lang="en-US" sz="2200">
                <a:latin typeface="Calibri"/>
                <a:ea typeface="Calibri"/>
                <a:cs typeface="Calibri"/>
              </a:rPr>
              <a:t>: ADC Dashboard Enhanced (Jan–Jul, dashboard work), </a:t>
            </a:r>
            <a:r>
              <a:rPr lang="en-US" sz="2200" err="1">
                <a:latin typeface="Calibri"/>
                <a:ea typeface="Calibri"/>
                <a:cs typeface="Calibri"/>
              </a:rPr>
              <a:t>CaseHUB</a:t>
            </a:r>
            <a:r>
              <a:rPr lang="en-US" sz="2200">
                <a:latin typeface="Calibri"/>
                <a:ea typeface="Calibri"/>
                <a:cs typeface="Calibri"/>
              </a:rPr>
              <a:t> UI enablement (Jan–Jun, component &amp; integration support), ADC List/Editor library updates (May–Jun, packaging &amp; upgrades), ADC Editor Backend (Jul, backend architecture &amp; implementation)</a:t>
            </a:r>
            <a:endParaRPr lang="en-US" sz="2200"/>
          </a:p>
        </p:txBody>
      </p:sp>
    </p:spTree>
    <p:extLst>
      <p:ext uri="{BB962C8B-B14F-4D97-AF65-F5344CB8AC3E}">
        <p14:creationId xmlns:p14="http://schemas.microsoft.com/office/powerpoint/2010/main" val="2505048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CD82F-A6E0-2D21-C50B-34957BE0B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7E5AC-671D-07E2-BEAC-3C275E4931BA}"/>
              </a:ext>
            </a:extLst>
          </p:cNvPr>
          <p:cNvSpPr>
            <a:spLocks noGrp="1"/>
          </p:cNvSpPr>
          <p:nvPr>
            <p:ph type="title"/>
          </p:nvPr>
        </p:nvSpPr>
        <p:spPr>
          <a:xfrm>
            <a:off x="731015" y="386455"/>
            <a:ext cx="11278915" cy="748800"/>
          </a:xfrm>
        </p:spPr>
        <p:txBody>
          <a:bodyPr/>
          <a:lstStyle/>
          <a:p>
            <a:r>
              <a:rPr lang="en-US" sz="3600" b="1">
                <a:latin typeface="Calibri"/>
                <a:ea typeface="Calibri"/>
                <a:cs typeface="Calibri"/>
              </a:rPr>
              <a:t>Dashboard &amp; Library Growth</a:t>
            </a:r>
          </a:p>
        </p:txBody>
      </p:sp>
      <p:sp>
        <p:nvSpPr>
          <p:cNvPr id="3" name="Content Placeholder 2">
            <a:extLst>
              <a:ext uri="{FF2B5EF4-FFF2-40B4-BE49-F238E27FC236}">
                <a16:creationId xmlns:a16="http://schemas.microsoft.com/office/drawing/2014/main" id="{EA0639AC-93B2-C40D-0AC0-5E84DBFA3A86}"/>
              </a:ext>
            </a:extLst>
          </p:cNvPr>
          <p:cNvSpPr>
            <a:spLocks noGrp="1"/>
          </p:cNvSpPr>
          <p:nvPr>
            <p:ph idx="1"/>
          </p:nvPr>
        </p:nvSpPr>
        <p:spPr>
          <a:xfrm>
            <a:off x="727165" y="1268990"/>
            <a:ext cx="11282764" cy="5016767"/>
          </a:xfrm>
        </p:spPr>
        <p:txBody>
          <a:bodyPr vert="horz" lIns="91440" tIns="45720" rIns="91440" bIns="45720" rtlCol="0" anchor="t">
            <a:normAutofit/>
          </a:bodyPr>
          <a:lstStyle/>
          <a:p>
            <a:r>
              <a:rPr lang="en-US" sz="2200" b="1">
                <a:solidFill>
                  <a:srgbClr val="000000"/>
                </a:solidFill>
                <a:latin typeface="Calibri"/>
                <a:ea typeface="Calibri"/>
                <a:cs typeface="Calibri"/>
              </a:rPr>
              <a:t>Widget UX &amp; events</a:t>
            </a:r>
            <a:r>
              <a:rPr lang="en-US" sz="2200">
                <a:solidFill>
                  <a:srgbClr val="000000"/>
                </a:solidFill>
                <a:latin typeface="Calibri"/>
                <a:ea typeface="Calibri"/>
                <a:cs typeface="Calibri"/>
              </a:rPr>
              <a:t>: minimize/expand/maximize, resize, fit-to-screen; new event model for pagination, menus, chart/card/list clicks</a:t>
            </a:r>
          </a:p>
          <a:p>
            <a:r>
              <a:rPr lang="en-US" sz="2200" b="1">
                <a:solidFill>
                  <a:srgbClr val="000000"/>
                </a:solidFill>
                <a:latin typeface="Calibri"/>
                <a:ea typeface="Calibri"/>
                <a:cs typeface="Calibri"/>
              </a:rPr>
              <a:t>New updates</a:t>
            </a:r>
            <a:r>
              <a:rPr lang="en-US" sz="2200">
                <a:solidFill>
                  <a:srgbClr val="000000"/>
                </a:solidFill>
                <a:latin typeface="Calibri"/>
                <a:ea typeface="Calibri"/>
                <a:cs typeface="Calibri"/>
              </a:rPr>
              <a:t>: Card List, External, Field Info, Text, and drag-drop </a:t>
            </a:r>
            <a:r>
              <a:rPr lang="en-US" sz="2200" err="1">
                <a:solidFill>
                  <a:srgbClr val="000000"/>
                </a:solidFill>
                <a:latin typeface="Calibri"/>
                <a:ea typeface="Calibri"/>
                <a:cs typeface="Calibri"/>
              </a:rPr>
              <a:t>adc</a:t>
            </a:r>
            <a:r>
              <a:rPr lang="en-US" sz="2200">
                <a:solidFill>
                  <a:srgbClr val="000000"/>
                </a:solidFill>
                <a:latin typeface="Calibri"/>
                <a:ea typeface="Calibri"/>
                <a:cs typeface="Calibri"/>
              </a:rPr>
              <a:t>-picklist for </a:t>
            </a:r>
            <a:r>
              <a:rPr lang="en-US" sz="2200" err="1">
                <a:solidFill>
                  <a:srgbClr val="000000"/>
                </a:solidFill>
                <a:latin typeface="Calibri"/>
                <a:ea typeface="Calibri"/>
                <a:cs typeface="Calibri"/>
              </a:rPr>
              <a:t>CaseHUB</a:t>
            </a:r>
            <a:endParaRPr lang="en-US" sz="2200">
              <a:latin typeface="Calibri"/>
              <a:ea typeface="Calibri"/>
              <a:cs typeface="Calibri"/>
            </a:endParaRPr>
          </a:p>
          <a:p>
            <a:r>
              <a:rPr lang="en-US" sz="2200" b="1" err="1">
                <a:solidFill>
                  <a:srgbClr val="000000"/>
                </a:solidFill>
                <a:latin typeface="Calibri"/>
                <a:ea typeface="Calibri"/>
                <a:cs typeface="Calibri"/>
              </a:rPr>
              <a:t>CaseHUB</a:t>
            </a:r>
            <a:r>
              <a:rPr lang="en-US" sz="2200" b="1">
                <a:solidFill>
                  <a:srgbClr val="000000"/>
                </a:solidFill>
                <a:latin typeface="Calibri"/>
                <a:ea typeface="Calibri"/>
                <a:cs typeface="Calibri"/>
              </a:rPr>
              <a:t> integration</a:t>
            </a:r>
            <a:r>
              <a:rPr lang="en-US" sz="2200">
                <a:solidFill>
                  <a:srgbClr val="000000"/>
                </a:solidFill>
                <a:latin typeface="Calibri"/>
                <a:ea typeface="Calibri"/>
                <a:cs typeface="Calibri"/>
              </a:rPr>
              <a:t>: action icons, accordion/tab containers, info cards, multi-column field-info, sized right popups</a:t>
            </a:r>
            <a:endParaRPr lang="en-US" sz="2200">
              <a:latin typeface="Calibri"/>
              <a:ea typeface="Calibri"/>
              <a:cs typeface="Calibri"/>
            </a:endParaRPr>
          </a:p>
          <a:p>
            <a:r>
              <a:rPr lang="en-US" sz="2200" b="1">
                <a:solidFill>
                  <a:srgbClr val="000000"/>
                </a:solidFill>
                <a:latin typeface="Calibri"/>
                <a:ea typeface="Calibri"/>
                <a:cs typeface="Calibri"/>
              </a:rPr>
              <a:t>Chart &amp; UI polish</a:t>
            </a:r>
            <a:r>
              <a:rPr lang="en-US" sz="2200">
                <a:solidFill>
                  <a:srgbClr val="000000"/>
                </a:solidFill>
                <a:latin typeface="Calibri"/>
                <a:ea typeface="Calibri"/>
                <a:cs typeface="Calibri"/>
              </a:rPr>
              <a:t>: stacked charts, maximize carousel, refreshed color palette, tooltips, new backdrop Modal</a:t>
            </a:r>
            <a:endParaRPr lang="en-US" sz="2200">
              <a:latin typeface="Calibri"/>
              <a:ea typeface="Calibri"/>
              <a:cs typeface="Calibri"/>
            </a:endParaRPr>
          </a:p>
          <a:p>
            <a:r>
              <a:rPr lang="en-US" sz="2200" b="1">
                <a:solidFill>
                  <a:srgbClr val="000000"/>
                </a:solidFill>
                <a:latin typeface="Calibri"/>
                <a:ea typeface="Calibri"/>
                <a:cs typeface="Calibri"/>
              </a:rPr>
              <a:t>Platform modernization</a:t>
            </a:r>
            <a:r>
              <a:rPr lang="en-US" sz="2200">
                <a:solidFill>
                  <a:srgbClr val="000000"/>
                </a:solidFill>
                <a:latin typeface="Calibri"/>
                <a:ea typeface="Calibri"/>
                <a:cs typeface="Calibri"/>
              </a:rPr>
              <a:t>: Angular 19→21 upgrade with @if/@for control-flow migration; i18n via </a:t>
            </a:r>
            <a:r>
              <a:rPr lang="en-US" sz="2200" err="1">
                <a:solidFill>
                  <a:srgbClr val="000000"/>
                </a:solidFill>
                <a:latin typeface="Calibri"/>
                <a:ea typeface="Calibri"/>
                <a:cs typeface="Calibri"/>
              </a:rPr>
              <a:t>ngx</a:t>
            </a:r>
            <a:r>
              <a:rPr lang="en-US" sz="2200">
                <a:solidFill>
                  <a:srgbClr val="000000"/>
                </a:solidFill>
                <a:latin typeface="Calibri"/>
                <a:ea typeface="Calibri"/>
                <a:cs typeface="Calibri"/>
              </a:rPr>
              <a:t>-translate; code split via </a:t>
            </a:r>
            <a:r>
              <a:rPr lang="en-US" sz="2200" err="1">
                <a:solidFill>
                  <a:srgbClr val="000000"/>
                </a:solidFill>
                <a:latin typeface="Calibri"/>
                <a:ea typeface="Calibri"/>
                <a:cs typeface="Calibri"/>
              </a:rPr>
              <a:t>WidgetUpdateService</a:t>
            </a:r>
            <a:endParaRPr lang="en-US" sz="2200">
              <a:latin typeface="Calibri"/>
              <a:ea typeface="Calibri"/>
              <a:cs typeface="Calibri"/>
            </a:endParaRPr>
          </a:p>
          <a:p>
            <a:r>
              <a:rPr lang="en-US" sz="2200" b="1">
                <a:solidFill>
                  <a:srgbClr val="000000"/>
                </a:solidFill>
                <a:latin typeface="Calibri"/>
                <a:ea typeface="Calibri"/>
                <a:cs typeface="Calibri"/>
              </a:rPr>
              <a:t>Data &amp; quality</a:t>
            </a:r>
            <a:r>
              <a:rPr lang="en-US" sz="2200">
                <a:solidFill>
                  <a:srgbClr val="000000"/>
                </a:solidFill>
                <a:latin typeface="Calibri"/>
                <a:ea typeface="Calibri"/>
                <a:cs typeface="Calibri"/>
              </a:rPr>
              <a:t>: server-side pagination, table toolbar events, </a:t>
            </a:r>
            <a:r>
              <a:rPr lang="en-US" sz="2200" err="1">
                <a:solidFill>
                  <a:srgbClr val="000000"/>
                </a:solidFill>
                <a:latin typeface="Calibri"/>
                <a:ea typeface="Calibri"/>
                <a:cs typeface="Calibri"/>
              </a:rPr>
              <a:t>CKEditor</a:t>
            </a:r>
            <a:r>
              <a:rPr lang="en-US" sz="2200">
                <a:solidFill>
                  <a:srgbClr val="000000"/>
                </a:solidFill>
                <a:latin typeface="Calibri"/>
                <a:ea typeface="Calibri"/>
                <a:cs typeface="Calibri"/>
              </a:rPr>
              <a:t> integration, </a:t>
            </a:r>
            <a:r>
              <a:rPr lang="en-US" sz="2200" err="1">
                <a:solidFill>
                  <a:srgbClr val="000000"/>
                </a:solidFill>
                <a:latin typeface="Calibri"/>
                <a:ea typeface="Calibri"/>
                <a:cs typeface="Calibri"/>
              </a:rPr>
              <a:t>Vitest</a:t>
            </a:r>
            <a:r>
              <a:rPr lang="en-US" sz="2200">
                <a:solidFill>
                  <a:srgbClr val="000000"/>
                </a:solidFill>
                <a:latin typeface="Calibri"/>
                <a:ea typeface="Calibri"/>
                <a:cs typeface="Calibri"/>
              </a:rPr>
              <a:t> unit tests</a:t>
            </a:r>
            <a:endParaRPr lang="en-US" sz="2200">
              <a:latin typeface="Calibri"/>
              <a:ea typeface="Calibri"/>
              <a:cs typeface="Calibri"/>
            </a:endParaRPr>
          </a:p>
          <a:p>
            <a:r>
              <a:rPr lang="en-US" sz="2200" b="1">
                <a:solidFill>
                  <a:srgbClr val="000000"/>
                </a:solidFill>
                <a:latin typeface="Calibri"/>
                <a:ea typeface="Calibri"/>
                <a:cs typeface="Calibri"/>
              </a:rPr>
              <a:t>Docs &amp; cross-team sync</a:t>
            </a:r>
            <a:r>
              <a:rPr lang="en-US" sz="2200">
                <a:solidFill>
                  <a:srgbClr val="000000"/>
                </a:solidFill>
                <a:latin typeface="Calibri"/>
                <a:ea typeface="Calibri"/>
                <a:cs typeface="Calibri"/>
              </a:rPr>
              <a:t>: ADC Dashboard README &amp; public API docs; AGORA/</a:t>
            </a:r>
            <a:r>
              <a:rPr lang="en-US" sz="2200" err="1">
                <a:solidFill>
                  <a:srgbClr val="000000"/>
                </a:solidFill>
                <a:latin typeface="Calibri"/>
                <a:ea typeface="Calibri"/>
                <a:cs typeface="Calibri"/>
              </a:rPr>
              <a:t>Pheme</a:t>
            </a:r>
            <a:r>
              <a:rPr lang="en-US" sz="2200">
                <a:solidFill>
                  <a:srgbClr val="000000"/>
                </a:solidFill>
                <a:latin typeface="Calibri"/>
                <a:ea typeface="Calibri"/>
                <a:cs typeface="Calibri"/>
              </a:rPr>
              <a:t> requirement updates; ADC List Library sync</a:t>
            </a:r>
            <a:endParaRPr lang="en-US" sz="2200">
              <a:latin typeface="Calibri"/>
              <a:ea typeface="Calibri"/>
              <a:cs typeface="Calibri"/>
            </a:endParaRPr>
          </a:p>
        </p:txBody>
      </p:sp>
    </p:spTree>
    <p:extLst>
      <p:ext uri="{BB962C8B-B14F-4D97-AF65-F5344CB8AC3E}">
        <p14:creationId xmlns:p14="http://schemas.microsoft.com/office/powerpoint/2010/main" val="749151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CCB24-87A2-FDBA-72FA-C80BC6589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B0E50-FEA7-F66D-56EA-74D1B1A606D1}"/>
              </a:ext>
            </a:extLst>
          </p:cNvPr>
          <p:cNvSpPr>
            <a:spLocks noGrp="1"/>
          </p:cNvSpPr>
          <p:nvPr>
            <p:ph type="title"/>
          </p:nvPr>
        </p:nvSpPr>
        <p:spPr>
          <a:xfrm>
            <a:off x="781816" y="400970"/>
            <a:ext cx="11177314" cy="748800"/>
          </a:xfrm>
        </p:spPr>
        <p:txBody>
          <a:bodyPr/>
          <a:lstStyle/>
          <a:p>
            <a:r>
              <a:rPr lang="en-IN" sz="3600" b="1">
                <a:latin typeface="Calibri"/>
                <a:ea typeface="Calibri"/>
                <a:cs typeface="Calibri"/>
              </a:rPr>
              <a:t>ADC Editor Backend &amp; Cross-Team Impact</a:t>
            </a:r>
            <a:endParaRPr lang="en-US" sz="3600" b="1">
              <a:latin typeface="Calibri"/>
              <a:ea typeface="Calibri"/>
              <a:cs typeface="Calibri"/>
            </a:endParaRPr>
          </a:p>
        </p:txBody>
      </p:sp>
      <p:sp>
        <p:nvSpPr>
          <p:cNvPr id="3" name="Content Placeholder 2">
            <a:extLst>
              <a:ext uri="{FF2B5EF4-FFF2-40B4-BE49-F238E27FC236}">
                <a16:creationId xmlns:a16="http://schemas.microsoft.com/office/drawing/2014/main" id="{A1C200BF-7849-BB99-39D3-437EEDB78442}"/>
              </a:ext>
            </a:extLst>
          </p:cNvPr>
          <p:cNvSpPr>
            <a:spLocks noGrp="1"/>
          </p:cNvSpPr>
          <p:nvPr>
            <p:ph idx="1"/>
          </p:nvPr>
        </p:nvSpPr>
        <p:spPr>
          <a:xfrm>
            <a:off x="777965" y="1276248"/>
            <a:ext cx="11181164" cy="5510252"/>
          </a:xfrm>
        </p:spPr>
        <p:txBody>
          <a:bodyPr vert="horz" lIns="91440" tIns="45720" rIns="91440" bIns="45720" rtlCol="0" anchor="t">
            <a:normAutofit/>
          </a:bodyPr>
          <a:lstStyle/>
          <a:p>
            <a:r>
              <a:rPr lang="en-US" sz="2200" b="1">
                <a:solidFill>
                  <a:srgbClr val="000000"/>
                </a:solidFill>
                <a:latin typeface="Calibri"/>
                <a:ea typeface="Calibri"/>
                <a:cs typeface="Calibri"/>
              </a:rPr>
              <a:t>Stack</a:t>
            </a:r>
            <a:r>
              <a:rPr lang="en-US" sz="2200">
                <a:solidFill>
                  <a:srgbClr val="000000"/>
                </a:solidFill>
                <a:latin typeface="Calibri"/>
                <a:ea typeface="Calibri"/>
                <a:cs typeface="Calibri"/>
              </a:rPr>
              <a:t>: </a:t>
            </a:r>
            <a:r>
              <a:rPr lang="en-US" sz="2200" err="1">
                <a:solidFill>
                  <a:srgbClr val="000000"/>
                </a:solidFill>
                <a:latin typeface="Calibri"/>
                <a:ea typeface="Calibri"/>
                <a:cs typeface="Calibri"/>
              </a:rPr>
              <a:t>NestJS</a:t>
            </a:r>
            <a:r>
              <a:rPr lang="en-US" sz="2200">
                <a:solidFill>
                  <a:srgbClr val="000000"/>
                </a:solidFill>
                <a:latin typeface="Calibri"/>
                <a:ea typeface="Calibri"/>
                <a:cs typeface="Calibri"/>
              </a:rPr>
              <a:t> · TypeScript · PostgreSQL/Prisma · Redis · </a:t>
            </a:r>
            <a:r>
              <a:rPr lang="en-US" sz="2200" err="1">
                <a:solidFill>
                  <a:srgbClr val="000000"/>
                </a:solidFill>
                <a:latin typeface="Calibri"/>
                <a:ea typeface="Calibri"/>
                <a:cs typeface="Calibri"/>
              </a:rPr>
              <a:t>BullMQ</a:t>
            </a:r>
            <a:r>
              <a:rPr lang="en-US" sz="2200">
                <a:solidFill>
                  <a:srgbClr val="000000"/>
                </a:solidFill>
                <a:latin typeface="Calibri"/>
                <a:ea typeface="Calibri"/>
                <a:cs typeface="Calibri"/>
              </a:rPr>
              <a:t> · Socket.IO · Docker · GitHub Actions</a:t>
            </a:r>
          </a:p>
          <a:p>
            <a:r>
              <a:rPr lang="en-US" sz="2200" b="1">
                <a:solidFill>
                  <a:srgbClr val="000000"/>
                </a:solidFill>
                <a:latin typeface="Calibri"/>
                <a:ea typeface="Calibri"/>
                <a:cs typeface="Calibri"/>
              </a:rPr>
              <a:t>Architecture</a:t>
            </a:r>
            <a:r>
              <a:rPr lang="en-US" sz="2200">
                <a:solidFill>
                  <a:srgbClr val="000000"/>
                </a:solidFill>
                <a:latin typeface="Calibri"/>
                <a:ea typeface="Calibri"/>
                <a:cs typeface="Calibri"/>
              </a:rPr>
              <a:t>: Modular monolith (DDD / Clean Architecture), multi-tenant org scoping</a:t>
            </a:r>
            <a:endParaRPr lang="en-US" sz="2200">
              <a:latin typeface="Calibri"/>
              <a:ea typeface="Calibri"/>
              <a:cs typeface="Calibri"/>
            </a:endParaRPr>
          </a:p>
          <a:p>
            <a:r>
              <a:rPr lang="en-US" sz="2200" b="1">
                <a:solidFill>
                  <a:srgbClr val="000000"/>
                </a:solidFill>
                <a:latin typeface="Calibri"/>
                <a:ea typeface="Calibri"/>
                <a:cs typeface="Calibri"/>
              </a:rPr>
              <a:t>Core domains delivered</a:t>
            </a:r>
            <a:r>
              <a:rPr lang="en-US" sz="2200">
                <a:solidFill>
                  <a:srgbClr val="000000"/>
                </a:solidFill>
                <a:latin typeface="Calibri"/>
                <a:ea typeface="Calibri"/>
                <a:cs typeface="Calibri"/>
              </a:rPr>
              <a:t>: auth &amp; sessions (JWT + Redis); orgs/users/teams/RBAC; documents (CRUD, share, lock, autosave); version history &amp; track changes; licensing (activate/validate/seats/usage); comments, notifications, audit logs, plugins, file upload; webhooks + </a:t>
            </a:r>
            <a:r>
              <a:rPr lang="en-US" sz="2200" err="1">
                <a:solidFill>
                  <a:srgbClr val="000000"/>
                </a:solidFill>
                <a:latin typeface="Calibri"/>
                <a:ea typeface="Calibri"/>
                <a:cs typeface="Calibri"/>
              </a:rPr>
              <a:t>realtime</a:t>
            </a:r>
            <a:r>
              <a:rPr lang="en-US" sz="2200">
                <a:solidFill>
                  <a:srgbClr val="000000"/>
                </a:solidFill>
                <a:latin typeface="Calibri"/>
                <a:ea typeface="Calibri"/>
                <a:cs typeface="Calibri"/>
              </a:rPr>
              <a:t> collaboration foundation</a:t>
            </a:r>
          </a:p>
          <a:p>
            <a:r>
              <a:rPr lang="en-US" sz="2200" b="1">
                <a:solidFill>
                  <a:srgbClr val="000000"/>
                </a:solidFill>
                <a:latin typeface="Calibri"/>
                <a:ea typeface="Calibri"/>
                <a:cs typeface="Calibri"/>
              </a:rPr>
              <a:t>Cross-team impact</a:t>
            </a:r>
            <a:r>
              <a:rPr lang="en-US" sz="2200">
                <a:solidFill>
                  <a:srgbClr val="000000"/>
                </a:solidFill>
                <a:latin typeface="Calibri"/>
                <a:ea typeface="Calibri"/>
                <a:cs typeface="Calibri"/>
              </a:rPr>
              <a:t>: partnered with </a:t>
            </a:r>
            <a:r>
              <a:rPr lang="en-US" sz="2200" err="1">
                <a:solidFill>
                  <a:srgbClr val="000000"/>
                </a:solidFill>
                <a:latin typeface="Calibri"/>
                <a:ea typeface="Calibri"/>
                <a:cs typeface="Calibri"/>
              </a:rPr>
              <a:t>CaseHUB</a:t>
            </a:r>
            <a:r>
              <a:rPr lang="en-US" sz="2200">
                <a:solidFill>
                  <a:srgbClr val="000000"/>
                </a:solidFill>
                <a:latin typeface="Calibri"/>
                <a:ea typeface="Calibri"/>
                <a:cs typeface="Calibri"/>
              </a:rPr>
              <a:t> on widget/action/event requirements; supported AGORA/</a:t>
            </a:r>
            <a:r>
              <a:rPr lang="en-US" sz="2200" err="1">
                <a:solidFill>
                  <a:srgbClr val="000000"/>
                </a:solidFill>
                <a:latin typeface="Calibri"/>
                <a:ea typeface="Calibri"/>
                <a:cs typeface="Calibri"/>
              </a:rPr>
              <a:t>Pheme</a:t>
            </a:r>
            <a:r>
              <a:rPr lang="en-US" sz="2200">
                <a:solidFill>
                  <a:srgbClr val="000000"/>
                </a:solidFill>
                <a:latin typeface="Calibri"/>
                <a:ea typeface="Calibri"/>
                <a:cs typeface="Calibri"/>
              </a:rPr>
              <a:t> via shared ADC components; integrated ADC Lib (Login, Dashboard, Table) into Protean FE; enabled other teams to consume ADC Dashboard without rebuilding widget chrome</a:t>
            </a:r>
            <a:endParaRPr lang="en-US" sz="2200">
              <a:latin typeface="Calibri"/>
              <a:ea typeface="Calibri"/>
              <a:cs typeface="Calibri"/>
            </a:endParaRPr>
          </a:p>
        </p:txBody>
      </p:sp>
    </p:spTree>
    <p:extLst>
      <p:ext uri="{BB962C8B-B14F-4D97-AF65-F5344CB8AC3E}">
        <p14:creationId xmlns:p14="http://schemas.microsoft.com/office/powerpoint/2010/main" val="1403679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541A6-4099-1E66-3F47-571655E60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56678-4BD7-406C-1DF5-A51B937F4D5B}"/>
              </a:ext>
            </a:extLst>
          </p:cNvPr>
          <p:cNvSpPr>
            <a:spLocks noGrp="1"/>
          </p:cNvSpPr>
          <p:nvPr>
            <p:ph type="title"/>
          </p:nvPr>
        </p:nvSpPr>
        <p:spPr>
          <a:xfrm>
            <a:off x="810844" y="400970"/>
            <a:ext cx="11844971" cy="748800"/>
          </a:xfrm>
        </p:spPr>
        <p:txBody>
          <a:bodyPr/>
          <a:lstStyle/>
          <a:p>
            <a:r>
              <a:rPr lang="en-IN" sz="3600" b="1">
                <a:latin typeface="Calibri"/>
                <a:ea typeface="Calibri"/>
                <a:cs typeface="Calibri"/>
              </a:rPr>
              <a:t>AI-Assisted Development</a:t>
            </a:r>
            <a:endParaRPr lang="en-US" sz="3600" b="1">
              <a:latin typeface="Calibri"/>
              <a:ea typeface="Calibri"/>
              <a:cs typeface="Calibri"/>
            </a:endParaRPr>
          </a:p>
        </p:txBody>
      </p:sp>
      <p:sp>
        <p:nvSpPr>
          <p:cNvPr id="3" name="Content Placeholder 2">
            <a:extLst>
              <a:ext uri="{FF2B5EF4-FFF2-40B4-BE49-F238E27FC236}">
                <a16:creationId xmlns:a16="http://schemas.microsoft.com/office/drawing/2014/main" id="{77FFB1BE-F14E-D425-D8A4-8C335830B133}"/>
              </a:ext>
            </a:extLst>
          </p:cNvPr>
          <p:cNvSpPr>
            <a:spLocks noGrp="1"/>
          </p:cNvSpPr>
          <p:nvPr>
            <p:ph idx="1"/>
          </p:nvPr>
        </p:nvSpPr>
        <p:spPr>
          <a:xfrm>
            <a:off x="806993" y="1276248"/>
            <a:ext cx="11848821" cy="5510252"/>
          </a:xfrm>
        </p:spPr>
        <p:txBody>
          <a:bodyPr vert="horz" lIns="91440" tIns="45720" rIns="91440" bIns="45720" rtlCol="0" anchor="t">
            <a:normAutofit/>
          </a:bodyPr>
          <a:lstStyle/>
          <a:p>
            <a:r>
              <a:rPr lang="en-US" sz="2400" b="1">
                <a:solidFill>
                  <a:srgbClr val="000000"/>
                </a:solidFill>
                <a:latin typeface="Calibri"/>
                <a:ea typeface="Calibri"/>
                <a:cs typeface="Calibri"/>
              </a:rPr>
              <a:t>Tools used</a:t>
            </a:r>
            <a:r>
              <a:rPr lang="en-US" sz="2400">
                <a:solidFill>
                  <a:srgbClr val="000000"/>
                </a:solidFill>
                <a:latin typeface="Calibri"/>
                <a:ea typeface="Calibri"/>
                <a:cs typeface="Calibri"/>
              </a:rPr>
              <a:t>: Cursor IDE and Claude AI, used throughout the project</a:t>
            </a:r>
            <a:endParaRPr lang="en-US" sz="2400">
              <a:latin typeface="Calibri"/>
              <a:ea typeface="Calibri"/>
              <a:cs typeface="Calibri"/>
            </a:endParaRPr>
          </a:p>
          <a:p>
            <a:r>
              <a:rPr lang="en-US" sz="2400" b="1">
                <a:solidFill>
                  <a:srgbClr val="000000"/>
                </a:solidFill>
                <a:latin typeface="Calibri"/>
                <a:ea typeface="Calibri"/>
                <a:cs typeface="Calibri"/>
              </a:rPr>
              <a:t>Cursor IDE</a:t>
            </a:r>
            <a:r>
              <a:rPr lang="en-US" sz="2400">
                <a:solidFill>
                  <a:srgbClr val="000000"/>
                </a:solidFill>
                <a:latin typeface="Calibri"/>
                <a:ea typeface="Calibri"/>
                <a:cs typeface="Calibri"/>
              </a:rPr>
              <a:t>: helped write code faster and generate test cases</a:t>
            </a:r>
            <a:endParaRPr lang="en-US" sz="2400">
              <a:latin typeface="Calibri"/>
              <a:ea typeface="Calibri"/>
              <a:cs typeface="Calibri"/>
            </a:endParaRPr>
          </a:p>
          <a:p>
            <a:r>
              <a:rPr lang="en-US" sz="2400" b="1">
                <a:solidFill>
                  <a:srgbClr val="000000"/>
                </a:solidFill>
                <a:latin typeface="Calibri"/>
                <a:ea typeface="Calibri"/>
                <a:cs typeface="Calibri"/>
              </a:rPr>
              <a:t>Claude AI</a:t>
            </a:r>
            <a:r>
              <a:rPr lang="en-US" sz="2400">
                <a:solidFill>
                  <a:srgbClr val="000000"/>
                </a:solidFill>
                <a:latin typeface="Calibri"/>
                <a:ea typeface="Calibri"/>
                <a:cs typeface="Calibri"/>
              </a:rPr>
              <a:t>: helped with the Angular upgrade and writing documentation</a:t>
            </a:r>
            <a:endParaRPr lang="en-US" sz="2400">
              <a:latin typeface="Calibri"/>
              <a:ea typeface="Calibri"/>
              <a:cs typeface="Calibri"/>
            </a:endParaRPr>
          </a:p>
          <a:p>
            <a:r>
              <a:rPr lang="en-US" sz="2400" b="1">
                <a:solidFill>
                  <a:srgbClr val="000000"/>
                </a:solidFill>
                <a:latin typeface="Calibri"/>
                <a:ea typeface="Calibri"/>
                <a:cs typeface="Calibri"/>
              </a:rPr>
              <a:t>Result</a:t>
            </a:r>
            <a:r>
              <a:rPr lang="en-US" sz="2400">
                <a:solidFill>
                  <a:srgbClr val="000000"/>
                </a:solidFill>
                <a:latin typeface="Calibri"/>
                <a:ea typeface="Calibri"/>
                <a:cs typeface="Calibri"/>
              </a:rPr>
              <a:t>: faster work and more consistent quality</a:t>
            </a:r>
            <a:endParaRPr lang="en-US" sz="2400">
              <a:latin typeface="Calibri"/>
              <a:ea typeface="Calibri"/>
              <a:cs typeface="Calibri"/>
            </a:endParaRPr>
          </a:p>
        </p:txBody>
      </p:sp>
    </p:spTree>
    <p:extLst>
      <p:ext uri="{BB962C8B-B14F-4D97-AF65-F5344CB8AC3E}">
        <p14:creationId xmlns:p14="http://schemas.microsoft.com/office/powerpoint/2010/main" val="3428459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12C4-226C-725C-F3E9-B79A8251A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15EDE-E070-E20A-DFCC-FCAD3FF48E1E}"/>
              </a:ext>
            </a:extLst>
          </p:cNvPr>
          <p:cNvSpPr>
            <a:spLocks noGrp="1"/>
          </p:cNvSpPr>
          <p:nvPr>
            <p:ph type="title"/>
          </p:nvPr>
        </p:nvSpPr>
        <p:spPr>
          <a:xfrm>
            <a:off x="818101" y="451770"/>
            <a:ext cx="11213600" cy="748800"/>
          </a:xfrm>
        </p:spPr>
        <p:txBody>
          <a:bodyPr/>
          <a:lstStyle/>
          <a:p>
            <a:r>
              <a:rPr lang="en-IN" sz="3600" b="1">
                <a:latin typeface="Calibri"/>
                <a:ea typeface="Calibri"/>
                <a:cs typeface="Calibri"/>
              </a:rPr>
              <a:t>Challenges &amp; Learnings</a:t>
            </a:r>
            <a:endParaRPr lang="en-US" sz="3600" b="1">
              <a:latin typeface="Calibri"/>
              <a:ea typeface="Calibri"/>
              <a:cs typeface="Calibri"/>
            </a:endParaRPr>
          </a:p>
        </p:txBody>
      </p:sp>
      <p:sp>
        <p:nvSpPr>
          <p:cNvPr id="3" name="Content Placeholder 2">
            <a:extLst>
              <a:ext uri="{FF2B5EF4-FFF2-40B4-BE49-F238E27FC236}">
                <a16:creationId xmlns:a16="http://schemas.microsoft.com/office/drawing/2014/main" id="{CD755BC8-C933-32F6-AAD9-A3FFF8697D5A}"/>
              </a:ext>
            </a:extLst>
          </p:cNvPr>
          <p:cNvSpPr>
            <a:spLocks noGrp="1"/>
          </p:cNvSpPr>
          <p:nvPr>
            <p:ph idx="1"/>
          </p:nvPr>
        </p:nvSpPr>
        <p:spPr>
          <a:xfrm>
            <a:off x="814250" y="1327048"/>
            <a:ext cx="11217450" cy="4058824"/>
          </a:xfrm>
        </p:spPr>
        <p:txBody>
          <a:bodyPr vert="horz" lIns="91440" tIns="45720" rIns="91440" bIns="45720" rtlCol="0" anchor="t">
            <a:normAutofit/>
          </a:bodyPr>
          <a:lstStyle/>
          <a:p>
            <a:r>
              <a:rPr lang="en-US" sz="2400" b="1">
                <a:solidFill>
                  <a:srgbClr val="000000"/>
                </a:solidFill>
                <a:latin typeface="Calibri"/>
                <a:ea typeface="Calibri"/>
                <a:cs typeface="Calibri"/>
              </a:rPr>
              <a:t>Challenges</a:t>
            </a:r>
          </a:p>
          <a:p>
            <a:pPr lvl="1"/>
            <a:r>
              <a:rPr lang="en-US" dirty="0">
                <a:solidFill>
                  <a:srgbClr val="000000"/>
                </a:solidFill>
                <a:latin typeface="Calibri"/>
                <a:ea typeface="Calibri"/>
                <a:cs typeface="Calibri"/>
              </a:rPr>
              <a:t>Balancing </a:t>
            </a:r>
            <a:r>
              <a:rPr lang="en-US" dirty="0" err="1">
                <a:solidFill>
                  <a:srgbClr val="000000"/>
                </a:solidFill>
                <a:latin typeface="Calibri"/>
                <a:ea typeface="Calibri"/>
                <a:cs typeface="Calibri"/>
              </a:rPr>
              <a:t>CaseHUB</a:t>
            </a:r>
            <a:r>
              <a:rPr lang="en-US" dirty="0">
                <a:solidFill>
                  <a:srgbClr val="000000"/>
                </a:solidFill>
                <a:latin typeface="Calibri"/>
                <a:ea typeface="Calibri"/>
                <a:cs typeface="Calibri"/>
              </a:rPr>
              <a:t> feature velocity with library stability/versioning</a:t>
            </a:r>
            <a:endParaRPr lang="en-US" dirty="0">
              <a:latin typeface="Calibri"/>
              <a:ea typeface="Calibri"/>
              <a:cs typeface="Calibri"/>
            </a:endParaRPr>
          </a:p>
          <a:p>
            <a:pPr lvl="1"/>
            <a:r>
              <a:rPr lang="en-US">
                <a:solidFill>
                  <a:srgbClr val="000000"/>
                </a:solidFill>
                <a:latin typeface="Calibri"/>
                <a:ea typeface="Calibri"/>
                <a:cs typeface="Calibri"/>
              </a:rPr>
              <a:t>Angular major upgrade (19→21) across shared libraries</a:t>
            </a:r>
            <a:endParaRPr lang="en-US">
              <a:latin typeface="Calibri"/>
              <a:ea typeface="Calibri"/>
              <a:cs typeface="Calibri"/>
            </a:endParaRPr>
          </a:p>
          <a:p>
            <a:pPr lvl="1"/>
            <a:r>
              <a:rPr lang="en-US">
                <a:solidFill>
                  <a:srgbClr val="000000"/>
                </a:solidFill>
                <a:latin typeface="Calibri"/>
                <a:ea typeface="Calibri"/>
                <a:cs typeface="Calibri"/>
              </a:rPr>
              <a:t>Moving from UI library ownership to full backend platform design</a:t>
            </a:r>
            <a:endParaRPr lang="en-US">
              <a:latin typeface="Calibri"/>
              <a:ea typeface="Calibri"/>
              <a:cs typeface="Calibri"/>
            </a:endParaRPr>
          </a:p>
          <a:p>
            <a:r>
              <a:rPr lang="en-US" sz="2400" b="1">
                <a:solidFill>
                  <a:srgbClr val="000000"/>
                </a:solidFill>
                <a:latin typeface="Calibri"/>
                <a:ea typeface="Calibri"/>
                <a:cs typeface="Calibri"/>
              </a:rPr>
              <a:t>Learnings</a:t>
            </a:r>
            <a:endParaRPr lang="en-US" sz="2400" b="1">
              <a:latin typeface="Calibri"/>
              <a:ea typeface="Calibri"/>
              <a:cs typeface="Calibri"/>
            </a:endParaRPr>
          </a:p>
          <a:p>
            <a:pPr lvl="1"/>
            <a:r>
              <a:rPr lang="en-US" dirty="0">
                <a:solidFill>
                  <a:srgbClr val="000000"/>
                </a:solidFill>
                <a:latin typeface="Calibri"/>
                <a:ea typeface="Calibri"/>
                <a:cs typeface="Calibri"/>
              </a:rPr>
              <a:t>Clearer API contracts (events, public-</a:t>
            </a:r>
            <a:r>
              <a:rPr lang="en-US" dirty="0" err="1">
                <a:solidFill>
                  <a:srgbClr val="000000"/>
                </a:solidFill>
                <a:latin typeface="Calibri"/>
                <a:ea typeface="Calibri"/>
                <a:cs typeface="Calibri"/>
              </a:rPr>
              <a:t>api</a:t>
            </a:r>
            <a:r>
              <a:rPr lang="en-US" dirty="0">
                <a:solidFill>
                  <a:srgbClr val="000000"/>
                </a:solidFill>
                <a:latin typeface="Calibri"/>
                <a:ea typeface="Calibri"/>
                <a:cs typeface="Calibri"/>
              </a:rPr>
              <a:t>, content schema) reduce consumer churn</a:t>
            </a:r>
            <a:endParaRPr lang="en-US" dirty="0">
              <a:latin typeface="Calibri"/>
              <a:ea typeface="Calibri"/>
              <a:cs typeface="Calibri"/>
            </a:endParaRPr>
          </a:p>
          <a:p>
            <a:pPr lvl="1"/>
            <a:r>
              <a:rPr lang="en-US">
                <a:solidFill>
                  <a:srgbClr val="000000"/>
                </a:solidFill>
                <a:latin typeface="Calibri"/>
                <a:ea typeface="Calibri"/>
                <a:cs typeface="Calibri"/>
              </a:rPr>
              <a:t>Production backend needs security, tenancy, and ops</a:t>
            </a:r>
            <a:r>
              <a:rPr lang="en-US">
                <a:latin typeface="Calibri"/>
                <a:ea typeface="Calibri"/>
                <a:cs typeface="Calibri"/>
              </a:rPr>
              <a:t> from day one</a:t>
            </a:r>
          </a:p>
          <a:p>
            <a:pPr lvl="1"/>
            <a:r>
              <a:rPr lang="en-US">
                <a:latin typeface="Calibri"/>
                <a:ea typeface="Calibri"/>
                <a:cs typeface="Calibri"/>
              </a:rPr>
              <a:t>Incremental versioning + docs improves adoption across products</a:t>
            </a:r>
          </a:p>
        </p:txBody>
      </p:sp>
    </p:spTree>
    <p:extLst>
      <p:ext uri="{BB962C8B-B14F-4D97-AF65-F5344CB8AC3E}">
        <p14:creationId xmlns:p14="http://schemas.microsoft.com/office/powerpoint/2010/main" val="2999560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5E9DA-0738-06E6-9945-692FB977920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D519636-FF6B-535E-3466-99CE98094882}"/>
              </a:ext>
            </a:extLst>
          </p:cNvPr>
          <p:cNvSpPr/>
          <p:nvPr/>
        </p:nvSpPr>
        <p:spPr>
          <a:xfrm>
            <a:off x="565621" y="1685414"/>
            <a:ext cx="11060976" cy="3485977"/>
          </a:xfrm>
          <a:prstGeom prst="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4000" b="1">
                <a:solidFill>
                  <a:schemeClr val="bg1"/>
                </a:solidFill>
                <a:latin typeface="Calibri"/>
                <a:ea typeface="Calibri"/>
                <a:cs typeface="Calibri"/>
              </a:rPr>
              <a:t>Offline Data Collection And H2 And Portal App</a:t>
            </a:r>
            <a:endParaRPr lang="en-GB" sz="4000" b="1">
              <a:solidFill>
                <a:schemeClr val="bg1"/>
              </a:solidFill>
              <a:latin typeface="Calibri"/>
              <a:ea typeface="Calibri"/>
              <a:cs typeface="Calibri"/>
            </a:endParaRPr>
          </a:p>
        </p:txBody>
      </p:sp>
    </p:spTree>
    <p:extLst>
      <p:ext uri="{BB962C8B-B14F-4D97-AF65-F5344CB8AC3E}">
        <p14:creationId xmlns:p14="http://schemas.microsoft.com/office/powerpoint/2010/main" val="1749299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ustomShape 1"/>
          <p:cNvSpPr/>
          <p:nvPr/>
        </p:nvSpPr>
        <p:spPr>
          <a:xfrm>
            <a:off x="498646" y="328234"/>
            <a:ext cx="11531834" cy="74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216535" lvl="1">
              <a:lnSpc>
                <a:spcPct val="100000"/>
              </a:lnSpc>
              <a:buClr>
                <a:srgbClr val="000000"/>
              </a:buClr>
              <a:buSzPct val="45000"/>
            </a:pPr>
            <a:r>
              <a:rPr lang="en-IN" sz="3600" b="1" strike="noStrike" spc="-1">
                <a:solidFill>
                  <a:srgbClr val="000000"/>
                </a:solidFill>
                <a:latin typeface="Calibri"/>
                <a:ea typeface="Calibri"/>
                <a:cs typeface="Calibri"/>
              </a:rPr>
              <a:t>Common Offline App</a:t>
            </a:r>
            <a:endParaRPr lang="en-IN" sz="3600" b="1" strike="noStrike" spc="-1">
              <a:latin typeface="Calibri"/>
              <a:ea typeface="Calibri"/>
              <a:cs typeface="Calibri"/>
            </a:endParaRPr>
          </a:p>
        </p:txBody>
      </p:sp>
      <p:sp>
        <p:nvSpPr>
          <p:cNvPr id="136" name="CustomShape 2"/>
          <p:cNvSpPr/>
          <p:nvPr/>
        </p:nvSpPr>
        <p:spPr>
          <a:xfrm>
            <a:off x="814251" y="1145697"/>
            <a:ext cx="11216229" cy="5509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IN" sz="2200" b="0" strike="noStrike" spc="-1">
                <a:solidFill>
                  <a:srgbClr val="000000"/>
                </a:solidFill>
                <a:latin typeface="Calibri"/>
                <a:ea typeface="Calibri"/>
                <a:cs typeface="Calibri"/>
              </a:rPr>
              <a:t>The Common Offline Data Collection Platform is designed as a reusable foundation for all field-based survey applications. By separating form definitions from application logic through JSON-driven dynamic forms, we can onboard new projects with minimal development effort. Combined with offline storage, planned synchronization, and reusable components, this approach reduces development time, lowers maintenance costs, and provides a consistent experience for field users across multiple business domains</a:t>
            </a:r>
            <a:endParaRPr lang="en-IN" sz="2200" b="0" strike="noStrike" spc="-1">
              <a:latin typeface="Calibri"/>
              <a:ea typeface="Calibri"/>
              <a:cs typeface="Calibri"/>
            </a:endParaRPr>
          </a:p>
          <a:p>
            <a:pPr>
              <a:lnSpc>
                <a:spcPct val="100000"/>
              </a:lnSpc>
            </a:pPr>
            <a:endParaRPr lang="en-IN" sz="2200" b="0" strike="noStrike" spc="-1">
              <a:latin typeface="Calibri"/>
              <a:ea typeface="Calibri"/>
              <a:cs typeface="Calibri"/>
            </a:endParaRPr>
          </a:p>
          <a:p>
            <a:pPr>
              <a:lnSpc>
                <a:spcPct val="100000"/>
              </a:lnSpc>
            </a:pPr>
            <a:r>
              <a:rPr lang="en-IN" sz="2200" b="0" strike="noStrike" spc="-1">
                <a:solidFill>
                  <a:srgbClr val="000000"/>
                </a:solidFill>
                <a:latin typeface="Calibri"/>
                <a:ea typeface="Calibri"/>
                <a:cs typeface="Calibri"/>
              </a:rPr>
              <a:t>The platform can support a wide variety of business use cases, including: </a:t>
            </a:r>
            <a:br>
              <a:rPr dirty="0">
                <a:latin typeface="Calibri"/>
                <a:ea typeface="Calibri"/>
                <a:cs typeface="Calibri"/>
              </a:rPr>
            </a:br>
            <a:r>
              <a:rPr lang="en-IN" sz="2200" b="0" strike="noStrike" spc="-1" dirty="0">
                <a:solidFill>
                  <a:srgbClr val="000000"/>
                </a:solidFill>
                <a:latin typeface="Calibri"/>
                <a:ea typeface="Calibri"/>
                <a:cs typeface="Calibri"/>
              </a:rPr>
              <a:t> </a:t>
            </a:r>
            <a:endParaRPr lang="en-IN" sz="2200" b="0" strike="noStrike" spc="-1" dirty="0">
              <a:latin typeface="Calibri"/>
              <a:ea typeface="Calibri"/>
              <a:cs typeface="Calibri"/>
            </a:endParaRPr>
          </a:p>
          <a:p>
            <a:pPr marL="215900" indent="-215900">
              <a:lnSpc>
                <a:spcPct val="100000"/>
              </a:lnSpc>
              <a:buClr>
                <a:srgbClr val="000000"/>
              </a:buClr>
              <a:buFont typeface="Arial" charset="2"/>
              <a:buChar char="•"/>
            </a:pPr>
            <a:r>
              <a:rPr lang="en-IN" sz="2200" b="0" strike="noStrike" spc="-1">
                <a:solidFill>
                  <a:srgbClr val="000000"/>
                </a:solidFill>
                <a:latin typeface="Calibri"/>
                <a:ea typeface="Calibri"/>
                <a:cs typeface="Calibri"/>
              </a:rPr>
              <a:t> Health Surveys </a:t>
            </a:r>
            <a:endParaRPr lang="en-IN" sz="2200" b="0" strike="noStrike" spc="-1">
              <a:latin typeface="Calibri"/>
              <a:ea typeface="Calibri"/>
              <a:cs typeface="Calibri"/>
            </a:endParaRPr>
          </a:p>
          <a:p>
            <a:pPr marL="342900" indent="-342900">
              <a:lnSpc>
                <a:spcPct val="100000"/>
              </a:lnSpc>
              <a:buClr>
                <a:srgbClr val="000000"/>
              </a:buClr>
              <a:buFont typeface="Arial" charset="2"/>
              <a:buChar char="•"/>
            </a:pPr>
            <a:r>
              <a:rPr lang="en-IN" sz="2200" b="0" strike="noStrike" spc="-1">
                <a:solidFill>
                  <a:srgbClr val="000000"/>
                </a:solidFill>
                <a:latin typeface="Calibri"/>
                <a:ea typeface="Calibri"/>
                <a:cs typeface="Calibri"/>
              </a:rPr>
              <a:t> Government Welfare Schemes 	</a:t>
            </a:r>
            <a:endParaRPr lang="en-IN" sz="2200" b="0" strike="noStrike" spc="-1">
              <a:latin typeface="Calibri"/>
              <a:ea typeface="Calibri"/>
              <a:cs typeface="Calibri"/>
            </a:endParaRPr>
          </a:p>
          <a:p>
            <a:pPr marL="215900" indent="-215900">
              <a:lnSpc>
                <a:spcPct val="100000"/>
              </a:lnSpc>
              <a:buClr>
                <a:srgbClr val="000000"/>
              </a:buClr>
              <a:buFont typeface="Arial" charset="2"/>
              <a:buChar char="•"/>
            </a:pPr>
            <a:r>
              <a:rPr lang="en-IN" sz="2200" b="0" strike="noStrike" spc="-1">
                <a:solidFill>
                  <a:srgbClr val="000000"/>
                </a:solidFill>
                <a:latin typeface="Calibri"/>
                <a:ea typeface="Calibri"/>
                <a:cs typeface="Calibri"/>
              </a:rPr>
              <a:t> Census Activities </a:t>
            </a:r>
            <a:endParaRPr lang="en-IN" sz="2200" b="0" strike="noStrike" spc="-1">
              <a:latin typeface="Calibri"/>
              <a:ea typeface="Calibri"/>
              <a:cs typeface="Calibri"/>
            </a:endParaRPr>
          </a:p>
          <a:p>
            <a:pPr>
              <a:lnSpc>
                <a:spcPct val="100000"/>
              </a:lnSpc>
            </a:pPr>
            <a:endParaRPr lang="en-IN" sz="2200" b="0" strike="noStrike" spc="-1">
              <a:latin typeface="Calibri"/>
              <a:ea typeface="Calibri"/>
              <a:cs typeface="Calibri"/>
            </a:endParaRPr>
          </a:p>
          <a:p>
            <a:pPr>
              <a:lnSpc>
                <a:spcPct val="100000"/>
              </a:lnSpc>
            </a:pPr>
            <a:r>
              <a:rPr lang="en-IN" sz="2200" b="0" strike="noStrike" spc="-1">
                <a:solidFill>
                  <a:srgbClr val="000000"/>
                </a:solidFill>
                <a:latin typeface="Calibri"/>
                <a:ea typeface="Calibri"/>
                <a:cs typeface="Calibri"/>
              </a:rPr>
              <a:t>Since forms are JSON-driven, the same application can support all these scenarios. </a:t>
            </a:r>
            <a:endParaRPr lang="en-IN" sz="2200" b="0" strike="noStrike" spc="-1">
              <a:latin typeface="Calibri"/>
              <a:ea typeface="Calibri"/>
              <a:cs typeface="Calibri"/>
            </a:endParaRPr>
          </a:p>
        </p:txBody>
      </p:sp>
    </p:spTree>
    <p:extLst>
      <p:ext uri="{BB962C8B-B14F-4D97-AF65-F5344CB8AC3E}">
        <p14:creationId xmlns:p14="http://schemas.microsoft.com/office/powerpoint/2010/main" val="1810647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730875" y="357263"/>
            <a:ext cx="11299605" cy="74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a:lnSpc>
                <a:spcPct val="100000"/>
              </a:lnSpc>
              <a:buClr>
                <a:srgbClr val="000000"/>
              </a:buClr>
              <a:buSzPct val="45000"/>
            </a:pPr>
            <a:r>
              <a:rPr lang="en-IN" sz="3600" b="1" strike="noStrike" spc="-1">
                <a:solidFill>
                  <a:srgbClr val="000000"/>
                </a:solidFill>
                <a:latin typeface="Calibri"/>
                <a:ea typeface="Calibri"/>
              </a:rPr>
              <a:t>Current Project Progress</a:t>
            </a:r>
            <a:endParaRPr lang="en-IN" sz="3600" b="1" strike="noStrike" spc="-1">
              <a:latin typeface="Arial"/>
              <a:cs typeface="Arial"/>
            </a:endParaRPr>
          </a:p>
        </p:txBody>
      </p:sp>
      <p:sp>
        <p:nvSpPr>
          <p:cNvPr id="138" name="CustomShape 2"/>
          <p:cNvSpPr/>
          <p:nvPr/>
        </p:nvSpPr>
        <p:spPr>
          <a:xfrm>
            <a:off x="821508" y="1232783"/>
            <a:ext cx="11208972" cy="473982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1236"/>
              </a:spcBef>
              <a:spcAft>
                <a:spcPts val="1060"/>
              </a:spcAft>
            </a:pPr>
            <a:r>
              <a:rPr lang="en-IN" sz="1600" b="1" strike="noStrike" spc="-1">
                <a:solidFill>
                  <a:srgbClr val="000000"/>
                </a:solidFill>
                <a:latin typeface="Calibri"/>
                <a:ea typeface="Calibri"/>
              </a:rPr>
              <a:t>Completed</a:t>
            </a:r>
            <a:endParaRPr lang="en-IN" sz="1600" b="0" strike="noStrike" spc="-1">
              <a:latin typeface="Calibri"/>
              <a:ea typeface="Calibri"/>
              <a:cs typeface="Calibri"/>
            </a:endParaRPr>
          </a:p>
          <a:p>
            <a:pPr>
              <a:lnSpc>
                <a:spcPct val="100000"/>
              </a:lnSpc>
              <a:spcBef>
                <a:spcPts val="1236"/>
              </a:spcBef>
              <a:spcAft>
                <a:spcPts val="1060"/>
              </a:spcAft>
            </a:pPr>
            <a:r>
              <a:rPr lang="en-IN" sz="1600" b="0" strike="noStrike" spc="-1">
                <a:solidFill>
                  <a:srgbClr val="000000"/>
                </a:solidFill>
                <a:latin typeface="Calibri"/>
                <a:ea typeface="Calibri"/>
              </a:rPr>
              <a:t>Dashboard </a:t>
            </a:r>
            <a:endParaRPr lang="en-IN" sz="1600" b="0" strike="noStrike" spc="-1">
              <a:latin typeface="Calibri"/>
              <a:ea typeface="Calibri"/>
              <a:cs typeface="Calibri"/>
            </a:endParaRPr>
          </a:p>
          <a:p>
            <a:pPr>
              <a:lnSpc>
                <a:spcPct val="100000"/>
              </a:lnSpc>
              <a:spcBef>
                <a:spcPts val="1236"/>
              </a:spcBef>
              <a:spcAft>
                <a:spcPts val="1060"/>
              </a:spcAft>
            </a:pPr>
            <a:r>
              <a:rPr lang="en-IN" sz="1600" b="0" strike="noStrike" spc="-1">
                <a:solidFill>
                  <a:srgbClr val="000000"/>
                </a:solidFill>
                <a:latin typeface="Calibri"/>
                <a:ea typeface="Calibri"/>
              </a:rPr>
              <a:t>Dynamic Forms Rendering </a:t>
            </a:r>
            <a:endParaRPr lang="en-IN" sz="1600" b="0" strike="noStrike" spc="-1">
              <a:latin typeface="Calibri"/>
              <a:ea typeface="Calibri"/>
              <a:cs typeface="Calibri"/>
            </a:endParaRPr>
          </a:p>
          <a:p>
            <a:pPr>
              <a:lnSpc>
                <a:spcPct val="100000"/>
              </a:lnSpc>
              <a:spcBef>
                <a:spcPts val="1236"/>
              </a:spcBef>
              <a:spcAft>
                <a:spcPts val="1060"/>
              </a:spcAft>
            </a:pPr>
            <a:r>
              <a:rPr lang="en-IN" sz="1600" b="0" strike="noStrike" spc="-1">
                <a:solidFill>
                  <a:srgbClr val="000000"/>
                </a:solidFill>
                <a:latin typeface="Calibri"/>
                <a:ea typeface="Calibri"/>
              </a:rPr>
              <a:t>SQLite Storage Save Forms </a:t>
            </a:r>
            <a:endParaRPr lang="en-IN" sz="1600" b="0" strike="noStrike" spc="-1">
              <a:latin typeface="Calibri"/>
              <a:ea typeface="Calibri"/>
              <a:cs typeface="Calibri"/>
            </a:endParaRPr>
          </a:p>
          <a:p>
            <a:pPr>
              <a:lnSpc>
                <a:spcPct val="100000"/>
              </a:lnSpc>
              <a:spcBef>
                <a:spcPts val="1236"/>
              </a:spcBef>
              <a:spcAft>
                <a:spcPts val="1060"/>
              </a:spcAft>
            </a:pPr>
            <a:r>
              <a:rPr lang="en-IN" sz="1600" b="0" strike="noStrike" spc="-1">
                <a:solidFill>
                  <a:srgbClr val="000000"/>
                </a:solidFill>
                <a:latin typeface="Calibri"/>
                <a:ea typeface="Calibri"/>
              </a:rPr>
              <a:t>View Saved Forms Edit Saved Forms Delete Saved Forms</a:t>
            </a:r>
            <a:endParaRPr lang="en-IN" sz="1600" b="0" strike="noStrike" spc="-1">
              <a:latin typeface="Calibri"/>
              <a:ea typeface="Calibri"/>
              <a:cs typeface="Calibri"/>
            </a:endParaRPr>
          </a:p>
          <a:p>
            <a:pPr>
              <a:lnSpc>
                <a:spcPct val="100000"/>
              </a:lnSpc>
              <a:spcBef>
                <a:spcPts val="1236"/>
              </a:spcBef>
              <a:spcAft>
                <a:spcPts val="1060"/>
              </a:spcAft>
            </a:pPr>
            <a:r>
              <a:rPr lang="en-IN" sz="1600" b="1" strike="noStrike" spc="-1">
                <a:solidFill>
                  <a:srgbClr val="000000"/>
                </a:solidFill>
                <a:latin typeface="Calibri"/>
                <a:ea typeface="Calibri"/>
              </a:rPr>
              <a:t>In Progress</a:t>
            </a:r>
            <a:endParaRPr lang="en-IN" sz="1600" b="0" strike="noStrike" spc="-1">
              <a:latin typeface="Calibri"/>
              <a:ea typeface="Calibri"/>
              <a:cs typeface="Calibri"/>
            </a:endParaRPr>
          </a:p>
          <a:p>
            <a:pPr>
              <a:lnSpc>
                <a:spcPct val="100000"/>
              </a:lnSpc>
              <a:spcBef>
                <a:spcPts val="1236"/>
              </a:spcBef>
              <a:spcAft>
                <a:spcPts val="1060"/>
              </a:spcAft>
            </a:pPr>
            <a:r>
              <a:rPr lang="en-IN" sz="1600" b="0" strike="noStrike" spc="-1">
                <a:solidFill>
                  <a:srgbClr val="000000"/>
                </a:solidFill>
                <a:latin typeface="Calibri"/>
                <a:ea typeface="Calibri"/>
              </a:rPr>
              <a:t>Form Validation </a:t>
            </a:r>
            <a:endParaRPr lang="en-IN" sz="1600" b="0" strike="noStrike" spc="-1">
              <a:latin typeface="Calibri"/>
              <a:ea typeface="Calibri"/>
              <a:cs typeface="Calibri"/>
            </a:endParaRPr>
          </a:p>
          <a:p>
            <a:pPr>
              <a:lnSpc>
                <a:spcPct val="100000"/>
              </a:lnSpc>
              <a:spcBef>
                <a:spcPts val="1236"/>
              </a:spcBef>
              <a:spcAft>
                <a:spcPts val="1060"/>
              </a:spcAft>
            </a:pPr>
            <a:r>
              <a:rPr lang="en-IN" sz="1600" b="0" strike="noStrike" spc="-1">
                <a:solidFill>
                  <a:srgbClr val="000000"/>
                </a:solidFill>
                <a:latin typeface="Calibri"/>
                <a:ea typeface="Calibri"/>
              </a:rPr>
              <a:t>Responsive UI </a:t>
            </a:r>
            <a:endParaRPr lang="en-IN" sz="1600" b="0" strike="noStrike" spc="-1">
              <a:latin typeface="Calibri"/>
              <a:ea typeface="Calibri"/>
              <a:cs typeface="Calibri"/>
            </a:endParaRPr>
          </a:p>
          <a:p>
            <a:pPr>
              <a:lnSpc>
                <a:spcPct val="100000"/>
              </a:lnSpc>
              <a:spcBef>
                <a:spcPts val="1236"/>
              </a:spcBef>
              <a:spcAft>
                <a:spcPts val="1060"/>
              </a:spcAft>
            </a:pPr>
            <a:endParaRPr lang="en-IN" sz="1600" b="0" strike="noStrike" spc="-1">
              <a:latin typeface="Calibri"/>
              <a:ea typeface="Calibri"/>
              <a:cs typeface="Calibri"/>
            </a:endParaRPr>
          </a:p>
          <a:p>
            <a:pPr>
              <a:lnSpc>
                <a:spcPct val="100000"/>
              </a:lnSpc>
              <a:spcBef>
                <a:spcPts val="1236"/>
              </a:spcBef>
              <a:spcAft>
                <a:spcPts val="1060"/>
              </a:spcAft>
            </a:pPr>
            <a:endParaRPr lang="en-IN" sz="1600" b="0" strike="noStrike" spc="-1">
              <a:latin typeface="Calibri"/>
              <a:ea typeface="Calibri"/>
              <a:cs typeface="Calibri"/>
            </a:endParaRPr>
          </a:p>
          <a:p>
            <a:pPr>
              <a:lnSpc>
                <a:spcPct val="100000"/>
              </a:lnSpc>
              <a:spcBef>
                <a:spcPts val="1236"/>
              </a:spcBef>
              <a:spcAft>
                <a:spcPts val="1060"/>
              </a:spcAft>
            </a:pPr>
            <a:endParaRPr lang="en-IN" sz="1600" b="0" strike="noStrike" spc="-1">
              <a:latin typeface="Calibri"/>
              <a:ea typeface="Calibri"/>
              <a:cs typeface="Calibri"/>
            </a:endParaRPr>
          </a:p>
          <a:p>
            <a:pPr>
              <a:lnSpc>
                <a:spcPct val="100000"/>
              </a:lnSpc>
              <a:spcBef>
                <a:spcPts val="1236"/>
              </a:spcBef>
              <a:spcAft>
                <a:spcPts val="1060"/>
              </a:spcAft>
            </a:pPr>
            <a:endParaRPr lang="en-IN" sz="1600" b="0" strike="noStrike" spc="-1">
              <a:latin typeface="Calibri"/>
              <a:ea typeface="Calibri"/>
              <a:cs typeface="Calibri"/>
            </a:endParaRPr>
          </a:p>
        </p:txBody>
      </p:sp>
    </p:spTree>
    <p:extLst>
      <p:ext uri="{BB962C8B-B14F-4D97-AF65-F5344CB8AC3E}">
        <p14:creationId xmlns:p14="http://schemas.microsoft.com/office/powerpoint/2010/main" val="3174104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CustomShape 1"/>
          <p:cNvSpPr/>
          <p:nvPr/>
        </p:nvSpPr>
        <p:spPr>
          <a:xfrm>
            <a:off x="796188" y="350006"/>
            <a:ext cx="11234292" cy="74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a:lnSpc>
                <a:spcPct val="100000"/>
              </a:lnSpc>
              <a:buClr>
                <a:srgbClr val="000000"/>
              </a:buClr>
              <a:buSzPct val="45000"/>
            </a:pPr>
            <a:r>
              <a:rPr lang="en-IN" sz="3600" b="1" strike="noStrike" spc="-1">
                <a:solidFill>
                  <a:srgbClr val="000000"/>
                </a:solidFill>
                <a:latin typeface="Calibri"/>
                <a:ea typeface="Calibri"/>
              </a:rPr>
              <a:t>Future Enhancements</a:t>
            </a:r>
            <a:endParaRPr lang="en-IN" sz="3600" b="1" strike="noStrike" spc="-1">
              <a:latin typeface="Calibri"/>
              <a:ea typeface="Calibri"/>
              <a:cs typeface="Calibri"/>
            </a:endParaRPr>
          </a:p>
        </p:txBody>
      </p:sp>
      <p:sp>
        <p:nvSpPr>
          <p:cNvPr id="140" name="CustomShape 2"/>
          <p:cNvSpPr/>
          <p:nvPr/>
        </p:nvSpPr>
        <p:spPr>
          <a:xfrm>
            <a:off x="872308" y="1232783"/>
            <a:ext cx="11158172" cy="51389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1236"/>
              </a:spcBef>
              <a:spcAft>
                <a:spcPts val="1060"/>
              </a:spcAft>
            </a:pPr>
            <a:r>
              <a:rPr lang="en-IN" sz="1600" b="1" strike="noStrike" spc="-1">
                <a:solidFill>
                  <a:srgbClr val="000000"/>
                </a:solidFill>
                <a:latin typeface="Calibri"/>
                <a:ea typeface="Calibri"/>
              </a:rPr>
              <a:t>Synchronization Engine :</a:t>
            </a:r>
            <a:endParaRPr lang="en-IN" sz="1600" b="0" strike="noStrike" spc="-1">
              <a:latin typeface="Calibri"/>
              <a:ea typeface="Calibri"/>
              <a:cs typeface="Calibri"/>
            </a:endParaRPr>
          </a:p>
          <a:p>
            <a:pPr marL="215900" indent="-21590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API Integration (Initial data loading API and Synchronization API) </a:t>
            </a:r>
            <a:endParaRPr lang="en-IN" sz="1600" b="0" strike="noStrike" spc="-1">
              <a:latin typeface="Calibri"/>
              <a:ea typeface="Calibri"/>
              <a:cs typeface="Calibri"/>
            </a:endParaRPr>
          </a:p>
          <a:p>
            <a:pPr marL="285750" indent="-28575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Upload pending forms and Retry failed uploads  </a:t>
            </a:r>
            <a:endParaRPr lang="en-IN" sz="1600" b="0" strike="noStrike" spc="-1">
              <a:latin typeface="Calibri"/>
              <a:ea typeface="Calibri"/>
              <a:cs typeface="Calibri"/>
            </a:endParaRPr>
          </a:p>
          <a:p>
            <a:pPr>
              <a:lnSpc>
                <a:spcPct val="100000"/>
              </a:lnSpc>
              <a:spcBef>
                <a:spcPts val="1236"/>
              </a:spcBef>
              <a:spcAft>
                <a:spcPts val="1060"/>
              </a:spcAft>
            </a:pPr>
            <a:r>
              <a:rPr lang="en-IN" sz="1600" b="1" strike="noStrike" spc="-1">
                <a:solidFill>
                  <a:srgbClr val="000000"/>
                </a:solidFill>
                <a:latin typeface="Calibri"/>
                <a:ea typeface="Calibri"/>
              </a:rPr>
              <a:t>Security :</a:t>
            </a:r>
            <a:endParaRPr lang="en-IN" sz="1600" b="0" strike="noStrike" spc="-1">
              <a:latin typeface="Calibri"/>
              <a:ea typeface="Calibri"/>
              <a:cs typeface="Calibri"/>
            </a:endParaRPr>
          </a:p>
          <a:p>
            <a:pPr marL="215900" indent="-21590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Data Encryption and User Authentication  </a:t>
            </a:r>
            <a:endParaRPr lang="en-IN" sz="1600" b="0" strike="noStrike" spc="-1">
              <a:latin typeface="Calibri"/>
              <a:ea typeface="Calibri"/>
              <a:cs typeface="Calibri"/>
            </a:endParaRPr>
          </a:p>
          <a:p>
            <a:pPr>
              <a:lnSpc>
                <a:spcPct val="100000"/>
              </a:lnSpc>
              <a:spcBef>
                <a:spcPts val="1236"/>
              </a:spcBef>
              <a:spcAft>
                <a:spcPts val="1060"/>
              </a:spcAft>
            </a:pPr>
            <a:r>
              <a:rPr lang="en-IN" sz="1600" b="1" strike="noStrike" spc="-1">
                <a:solidFill>
                  <a:srgbClr val="000000"/>
                </a:solidFill>
                <a:latin typeface="Calibri"/>
                <a:ea typeface="Calibri"/>
              </a:rPr>
              <a:t>Dynamic Forms :</a:t>
            </a:r>
            <a:endParaRPr lang="en-IN" sz="1600" b="0" strike="noStrike" spc="-1">
              <a:latin typeface="Calibri"/>
              <a:ea typeface="Calibri"/>
              <a:cs typeface="Calibri"/>
            </a:endParaRPr>
          </a:p>
          <a:p>
            <a:pPr marL="215900" indent="-21590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Form Versioning and Advanced Validations </a:t>
            </a:r>
            <a:endParaRPr lang="en-IN" sz="1600" b="0" strike="noStrike" spc="-1">
              <a:latin typeface="Calibri"/>
              <a:ea typeface="Calibri"/>
              <a:cs typeface="Calibri"/>
            </a:endParaRPr>
          </a:p>
          <a:p>
            <a:pPr>
              <a:lnSpc>
                <a:spcPct val="100000"/>
              </a:lnSpc>
              <a:spcBef>
                <a:spcPts val="1236"/>
              </a:spcBef>
              <a:spcAft>
                <a:spcPts val="1060"/>
              </a:spcAft>
            </a:pPr>
            <a:r>
              <a:rPr lang="en-IN" sz="1600" b="1" strike="noStrike" spc="-1">
                <a:solidFill>
                  <a:srgbClr val="000000"/>
                </a:solidFill>
                <a:latin typeface="Calibri"/>
                <a:ea typeface="Calibri"/>
              </a:rPr>
              <a:t>Dashboard :</a:t>
            </a:r>
            <a:endParaRPr lang="en-IN" sz="1600" b="0" strike="noStrike" spc="-1">
              <a:latin typeface="Calibri"/>
              <a:ea typeface="Calibri"/>
              <a:cs typeface="Calibri"/>
            </a:endParaRPr>
          </a:p>
          <a:p>
            <a:pPr marL="215900" indent="-21590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Sync Status and Pending Forms Status</a:t>
            </a:r>
            <a:endParaRPr lang="en-IN" sz="1600" b="0" strike="noStrike" spc="-1">
              <a:latin typeface="Calibri"/>
              <a:ea typeface="Calibri"/>
              <a:cs typeface="Calibri"/>
            </a:endParaRPr>
          </a:p>
          <a:p>
            <a:pPr marL="215900" indent="-21590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Completed Forms Status</a:t>
            </a:r>
            <a:endParaRPr lang="en-IN" sz="1600" b="0" strike="noStrike" spc="-1">
              <a:latin typeface="Calibri"/>
              <a:ea typeface="Calibri"/>
              <a:cs typeface="Calibri"/>
            </a:endParaRPr>
          </a:p>
        </p:txBody>
      </p:sp>
    </p:spTree>
    <p:extLst>
      <p:ext uri="{BB962C8B-B14F-4D97-AF65-F5344CB8AC3E}">
        <p14:creationId xmlns:p14="http://schemas.microsoft.com/office/powerpoint/2010/main" val="2525372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846988" y="357263"/>
            <a:ext cx="11183492" cy="74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a:lnSpc>
                <a:spcPct val="100000"/>
              </a:lnSpc>
              <a:buClr>
                <a:srgbClr val="000000"/>
              </a:buClr>
              <a:buSzPct val="45000"/>
            </a:pPr>
            <a:r>
              <a:rPr lang="en-IN" sz="3600" b="1" strike="noStrike" spc="-1">
                <a:solidFill>
                  <a:srgbClr val="000000"/>
                </a:solidFill>
                <a:latin typeface="Calibri"/>
                <a:ea typeface="Calibri"/>
              </a:rPr>
              <a:t>H2 – Health Care offline data collection App</a:t>
            </a:r>
            <a:endParaRPr lang="en-IN" sz="3600" b="1" strike="noStrike" spc="-1">
              <a:latin typeface="Calibri"/>
              <a:ea typeface="Calibri"/>
              <a:cs typeface="Calibri"/>
            </a:endParaRPr>
          </a:p>
        </p:txBody>
      </p:sp>
      <p:sp>
        <p:nvSpPr>
          <p:cNvPr id="142" name="CustomShape 2"/>
          <p:cNvSpPr/>
          <p:nvPr/>
        </p:nvSpPr>
        <p:spPr>
          <a:xfrm>
            <a:off x="436880" y="1399696"/>
            <a:ext cx="11593600" cy="509542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647700" lvl="2" indent="-215265">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H2 is a medical data collection application designed to collect patient data efficiently, even in locations without internet connectivity.</a:t>
            </a:r>
            <a:endParaRPr lang="en-IN" sz="1600" b="0" strike="noStrike" spc="-1">
              <a:latin typeface="Calibri"/>
              <a:ea typeface="Calibri"/>
              <a:cs typeface="Calibri"/>
            </a:endParaRPr>
          </a:p>
          <a:p>
            <a:pPr>
              <a:spcBef>
                <a:spcPts val="1236"/>
              </a:spcBef>
              <a:spcAft>
                <a:spcPts val="1060"/>
              </a:spcAft>
            </a:pPr>
            <a:r>
              <a:rPr lang="en-IN" sz="1600" b="1" spc="-1">
                <a:solidFill>
                  <a:srgbClr val="000000"/>
                </a:solidFill>
                <a:latin typeface="Calibri"/>
                <a:ea typeface="Calibri"/>
              </a:rPr>
              <a:t>          </a:t>
            </a:r>
            <a:r>
              <a:rPr lang="en-IN" sz="1600" b="1" strike="noStrike" spc="-1">
                <a:solidFill>
                  <a:srgbClr val="000000"/>
                </a:solidFill>
                <a:latin typeface="Calibri"/>
                <a:ea typeface="Calibri"/>
              </a:rPr>
              <a:t>What is the usage?</a:t>
            </a:r>
            <a:endParaRPr lang="en-IN" sz="1600" b="0" strike="noStrike" spc="-1">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H2 is used to collect patient data anywhere, including remote or offline locations. It plays a core role in:</a:t>
            </a:r>
            <a:endParaRPr lang="en-IN" sz="1600" b="0" strike="noStrike" spc="-1">
              <a:latin typeface="Calibri"/>
              <a:ea typeface="Calibri"/>
              <a:cs typeface="Calibri"/>
            </a:endParaRPr>
          </a:p>
          <a:p>
            <a:pPr marL="1149985" lvl="4" indent="-285750">
              <a:lnSpc>
                <a:spcPct val="100000"/>
              </a:lnSpc>
              <a:spcBef>
                <a:spcPts val="1236"/>
              </a:spcBef>
              <a:spcAft>
                <a:spcPts val="1060"/>
              </a:spcAft>
              <a:buClr>
                <a:srgbClr val="000000"/>
              </a:buClr>
              <a:buSzPct val="45000"/>
              <a:buFont typeface="Arial"/>
              <a:buChar char="•"/>
            </a:pPr>
            <a:r>
              <a:rPr lang="en-IN" sz="1600" b="0" strike="noStrike" spc="-1">
                <a:solidFill>
                  <a:srgbClr val="000000"/>
                </a:solidFill>
                <a:latin typeface="Calibri"/>
                <a:ea typeface="Calibri"/>
              </a:rPr>
              <a:t>Loading initial master data from the server (online)</a:t>
            </a:r>
            <a:endParaRPr lang="en-IN" sz="1600" b="0" strike="noStrike" spc="-1">
              <a:latin typeface="Calibri"/>
              <a:ea typeface="Calibri"/>
              <a:cs typeface="Calibri"/>
            </a:endParaRPr>
          </a:p>
          <a:p>
            <a:pPr marL="1149985" lvl="4" indent="-285750">
              <a:lnSpc>
                <a:spcPct val="100000"/>
              </a:lnSpc>
              <a:spcBef>
                <a:spcPts val="1236"/>
              </a:spcBef>
              <a:spcAft>
                <a:spcPts val="1060"/>
              </a:spcAft>
              <a:buClr>
                <a:srgbClr val="000000"/>
              </a:buClr>
              <a:buSzPct val="45000"/>
              <a:buFont typeface="Arial"/>
              <a:buChar char="•"/>
            </a:pPr>
            <a:r>
              <a:rPr lang="en-IN" sz="1600" b="0" strike="noStrike" spc="-1">
                <a:solidFill>
                  <a:srgbClr val="000000"/>
                </a:solidFill>
                <a:latin typeface="Calibri"/>
                <a:ea typeface="Calibri"/>
              </a:rPr>
              <a:t>Storing data local storage</a:t>
            </a:r>
            <a:endParaRPr lang="en-IN" sz="1600" b="0" strike="noStrike" spc="-1">
              <a:latin typeface="Calibri"/>
              <a:ea typeface="Calibri"/>
              <a:cs typeface="Calibri"/>
            </a:endParaRPr>
          </a:p>
          <a:p>
            <a:pPr marL="1079500" lvl="4" indent="-215265">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Enabling offline data entry and saving</a:t>
            </a:r>
            <a:endParaRPr lang="en-IN" sz="1600" b="0" strike="noStrike" spc="-1">
              <a:latin typeface="Calibri"/>
              <a:ea typeface="Calibri"/>
              <a:cs typeface="Calibri"/>
            </a:endParaRPr>
          </a:p>
          <a:p>
            <a:pPr marL="1079500" lvl="4" indent="-215265">
              <a:lnSpc>
                <a:spcPct val="100000"/>
              </a:lnSpc>
              <a:spcBef>
                <a:spcPts val="1236"/>
              </a:spcBef>
              <a:spcAft>
                <a:spcPts val="1060"/>
              </a:spcAft>
              <a:buClr>
                <a:srgbClr val="000000"/>
              </a:buClr>
              <a:buSzPct val="45000"/>
              <a:buFont typeface="Arial" charset="2"/>
              <a:buChar char="•"/>
            </a:pPr>
            <a:r>
              <a:rPr lang="en-IN" sz="1600" b="0" strike="noStrike" spc="-1">
                <a:solidFill>
                  <a:srgbClr val="000000"/>
                </a:solidFill>
                <a:latin typeface="Calibri"/>
                <a:ea typeface="Calibri"/>
              </a:rPr>
              <a:t>Syncing collected data to the cloud server when the internet becomes available</a:t>
            </a:r>
            <a:endParaRPr lang="en-IN" sz="1600" b="0" strike="noStrike" spc="-1">
              <a:latin typeface="Calibri"/>
              <a:ea typeface="Calibri"/>
              <a:cs typeface="Calibri"/>
            </a:endParaRPr>
          </a:p>
        </p:txBody>
      </p:sp>
    </p:spTree>
    <p:extLst>
      <p:ext uri="{BB962C8B-B14F-4D97-AF65-F5344CB8AC3E}">
        <p14:creationId xmlns:p14="http://schemas.microsoft.com/office/powerpoint/2010/main" val="1479433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CustomShape 1"/>
          <p:cNvSpPr/>
          <p:nvPr/>
        </p:nvSpPr>
        <p:spPr>
          <a:xfrm>
            <a:off x="817959" y="320978"/>
            <a:ext cx="11285092" cy="74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a:lnSpc>
                <a:spcPct val="100000"/>
              </a:lnSpc>
              <a:buClr>
                <a:srgbClr val="000000"/>
              </a:buClr>
              <a:buSzPct val="45000"/>
            </a:pPr>
            <a:r>
              <a:rPr lang="en-IN" sz="3600" b="1" strike="noStrike" spc="-1">
                <a:solidFill>
                  <a:srgbClr val="000000"/>
                </a:solidFill>
                <a:latin typeface="Calibri"/>
                <a:ea typeface="Calibri"/>
              </a:rPr>
              <a:t>H2 Application status</a:t>
            </a:r>
            <a:endParaRPr lang="en-IN" sz="3600" b="1" strike="noStrike" spc="-1">
              <a:latin typeface="Calibri"/>
              <a:ea typeface="Calibri"/>
              <a:cs typeface="Calibri"/>
            </a:endParaRPr>
          </a:p>
        </p:txBody>
      </p:sp>
      <p:sp>
        <p:nvSpPr>
          <p:cNvPr id="144" name="CustomShape 2"/>
          <p:cNvSpPr/>
          <p:nvPr/>
        </p:nvSpPr>
        <p:spPr>
          <a:xfrm>
            <a:off x="371565" y="1203754"/>
            <a:ext cx="11658915" cy="52913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718185" lvl="2" indent="-285750">
              <a:lnSpc>
                <a:spcPct val="100000"/>
              </a:lnSpc>
              <a:spcBef>
                <a:spcPts val="1236"/>
              </a:spcBef>
              <a:spcAft>
                <a:spcPts val="1060"/>
              </a:spcAft>
              <a:buClr>
                <a:srgbClr val="000000"/>
              </a:buClr>
              <a:buSzPct val="45000"/>
              <a:buFont typeface="Arial"/>
              <a:buChar char="•"/>
            </a:pPr>
            <a:r>
              <a:rPr lang="en-IN" sz="1500" b="1" strike="noStrike" spc="-1">
                <a:solidFill>
                  <a:srgbClr val="000000"/>
                </a:solidFill>
                <a:latin typeface="Calibri"/>
                <a:ea typeface="Calibri"/>
              </a:rPr>
              <a:t>Completed Tasks:</a:t>
            </a:r>
            <a:endParaRPr lang="en-IN" sz="1500" b="0" strike="noStrike" spc="-1">
              <a:latin typeface="Calibri"/>
              <a:ea typeface="Calibri"/>
              <a:cs typeface="Calibri"/>
            </a:endParaRPr>
          </a:p>
          <a:p>
            <a:pPr marL="718185" lvl="2" indent="-285750">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Implemented the Splash screen, including initial data loading into local storage:</a:t>
            </a:r>
            <a:endParaRPr lang="en-IN" sz="1500" spc="-1">
              <a:solidFill>
                <a:srgbClr val="000000"/>
              </a:solidFill>
              <a:latin typeface="Calibri"/>
              <a:ea typeface="Calibri"/>
              <a:cs typeface="Calibri"/>
            </a:endParaRPr>
          </a:p>
          <a:p>
            <a:pPr marL="718185" lvl="2" indent="-285750">
              <a:spcBef>
                <a:spcPts val="1236"/>
              </a:spcBef>
              <a:spcAft>
                <a:spcPts val="1060"/>
              </a:spcAft>
              <a:buClr>
                <a:srgbClr val="000000"/>
              </a:buClr>
              <a:buSzPct val="45000"/>
              <a:buFont typeface="Arial"/>
              <a:buChar char="•"/>
            </a:pPr>
            <a:r>
              <a:rPr lang="en-IN" sz="1500" b="0" strike="noStrike" spc="-1" dirty="0">
                <a:solidFill>
                  <a:srgbClr val="000000"/>
                </a:solidFill>
                <a:latin typeface="Calibri"/>
                <a:ea typeface="Calibri"/>
              </a:rPr>
              <a:t>Implemented the Dashboard screen, including: Form status</a:t>
            </a:r>
            <a:endParaRPr lang="en-IN" sz="1500" b="0" strike="noStrike" spc="-1" dirty="0">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Implemented the locally saved forms screen with view and delete options.</a:t>
            </a:r>
            <a:endParaRPr lang="en-IN" sz="1500" b="0" strike="noStrike" spc="-1">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Updated JOFR form fields and conditions to match the latest online version.</a:t>
            </a:r>
            <a:endParaRPr lang="en-IN" sz="1500" b="0" strike="noStrike" spc="-1">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Form fields are rendered using JSON files from asset storage</a:t>
            </a:r>
            <a:endParaRPr lang="en-IN" sz="1500" b="0" strike="noStrike" spc="-1">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Added form field validation</a:t>
            </a:r>
            <a:endParaRPr lang="en-IN" sz="1500" b="0" strike="noStrike" spc="-1">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Released the latest version to the QA team.</a:t>
            </a:r>
            <a:endParaRPr lang="en-IN" sz="1500" b="0" strike="noStrike" spc="-1">
              <a:latin typeface="Calibri"/>
              <a:ea typeface="Calibri"/>
              <a:cs typeface="Calibri"/>
            </a:endParaRPr>
          </a:p>
          <a:p>
            <a:pPr marL="718185" lvl="2" indent="-285750">
              <a:lnSpc>
                <a:spcPct val="100000"/>
              </a:lnSpc>
              <a:spcBef>
                <a:spcPts val="1236"/>
              </a:spcBef>
              <a:spcAft>
                <a:spcPts val="1060"/>
              </a:spcAft>
              <a:buClr>
                <a:srgbClr val="000000"/>
              </a:buClr>
              <a:buSzPct val="45000"/>
              <a:buFont typeface="Arial"/>
              <a:buChar char="•"/>
            </a:pPr>
            <a:r>
              <a:rPr lang="en-IN" sz="1500" b="1" strike="noStrike" spc="-1">
                <a:solidFill>
                  <a:srgbClr val="000000"/>
                </a:solidFill>
                <a:latin typeface="Calibri"/>
                <a:ea typeface="Calibri"/>
              </a:rPr>
              <a:t>Upcoming Tasks:</a:t>
            </a:r>
            <a:endParaRPr lang="en-IN" sz="1500" b="0" strike="noStrike" spc="-1">
              <a:latin typeface="Calibri"/>
              <a:ea typeface="Calibri"/>
              <a:cs typeface="Calibri"/>
            </a:endParaRPr>
          </a:p>
          <a:p>
            <a:pPr marL="1149985" lvl="4" indent="-285750">
              <a:spcBef>
                <a:spcPts val="1236"/>
              </a:spcBef>
              <a:spcAft>
                <a:spcPts val="1060"/>
              </a:spcAft>
              <a:buClr>
                <a:srgbClr val="000000"/>
              </a:buClr>
              <a:buSzPct val="45000"/>
              <a:buFont typeface="Arial"/>
              <a:buChar char="•"/>
            </a:pPr>
            <a:r>
              <a:rPr lang="en-IN" sz="1500" b="0" strike="noStrike" spc="-1">
                <a:solidFill>
                  <a:srgbClr val="000000"/>
                </a:solidFill>
                <a:latin typeface="Calibri"/>
                <a:ea typeface="Calibri"/>
              </a:rPr>
              <a:t>Login </a:t>
            </a:r>
            <a:r>
              <a:rPr lang="en-IN" sz="1500" spc="-1">
                <a:solidFill>
                  <a:srgbClr val="000000"/>
                </a:solidFill>
                <a:latin typeface="Calibri"/>
                <a:ea typeface="Calibri"/>
              </a:rPr>
              <a:t>implementation and Online</a:t>
            </a:r>
            <a:r>
              <a:rPr lang="en-IN" sz="1500" b="0" strike="noStrike" spc="-1">
                <a:solidFill>
                  <a:srgbClr val="000000"/>
                </a:solidFill>
                <a:latin typeface="Calibri"/>
                <a:ea typeface="Calibri"/>
              </a:rPr>
              <a:t> sync process</a:t>
            </a:r>
            <a:endParaRPr lang="en-IN" sz="1500" b="0" strike="noStrike" spc="-1">
              <a:latin typeface="Calibri"/>
              <a:ea typeface="Calibri"/>
              <a:cs typeface="Calibri"/>
            </a:endParaRPr>
          </a:p>
          <a:p>
            <a:pPr marL="285750" indent="-285750">
              <a:lnSpc>
                <a:spcPct val="100000"/>
              </a:lnSpc>
              <a:spcBef>
                <a:spcPts val="1236"/>
              </a:spcBef>
              <a:spcAft>
                <a:spcPts val="1060"/>
              </a:spcAft>
              <a:buFont typeface="Arial"/>
              <a:buChar char="•"/>
            </a:pPr>
            <a:endParaRPr lang="en-IN" sz="1500" b="0" strike="noStrike" spc="-1">
              <a:latin typeface="Calibri"/>
              <a:ea typeface="Calibri"/>
              <a:cs typeface="Calibri"/>
            </a:endParaRPr>
          </a:p>
        </p:txBody>
      </p:sp>
    </p:spTree>
    <p:extLst>
      <p:ext uri="{BB962C8B-B14F-4D97-AF65-F5344CB8AC3E}">
        <p14:creationId xmlns:p14="http://schemas.microsoft.com/office/powerpoint/2010/main" val="1224300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CustomShape 1"/>
          <p:cNvSpPr/>
          <p:nvPr/>
        </p:nvSpPr>
        <p:spPr>
          <a:xfrm>
            <a:off x="694588" y="313720"/>
            <a:ext cx="11335892" cy="74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635">
              <a:lnSpc>
                <a:spcPct val="100000"/>
              </a:lnSpc>
              <a:buClr>
                <a:srgbClr val="000000"/>
              </a:buClr>
              <a:buSzPct val="45000"/>
            </a:pPr>
            <a:r>
              <a:rPr lang="en-IN" sz="3600" b="1" strike="noStrike" spc="-1">
                <a:solidFill>
                  <a:srgbClr val="000000"/>
                </a:solidFill>
                <a:latin typeface="Calibri"/>
                <a:ea typeface="Calibri"/>
              </a:rPr>
              <a:t>Portal App(Notification )</a:t>
            </a:r>
            <a:endParaRPr lang="en-IN" sz="3600" b="1" strike="noStrike" spc="-1">
              <a:latin typeface="Calibri"/>
              <a:ea typeface="Calibri"/>
              <a:cs typeface="Calibri"/>
            </a:endParaRPr>
          </a:p>
        </p:txBody>
      </p:sp>
      <p:sp>
        <p:nvSpPr>
          <p:cNvPr id="146" name="CustomShape 2"/>
          <p:cNvSpPr/>
          <p:nvPr/>
        </p:nvSpPr>
        <p:spPr>
          <a:xfrm>
            <a:off x="698137" y="1189240"/>
            <a:ext cx="11847600" cy="5509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2115"/>
              </a:spcBef>
              <a:spcAft>
                <a:spcPts val="1060"/>
              </a:spcAft>
              <a:tabLst>
                <a:tab pos="0" algn="l"/>
              </a:tabLst>
            </a:pPr>
            <a:r>
              <a:rPr lang="en-US" sz="1800" b="0" strike="noStrike" spc="-1">
                <a:latin typeface="Calibri"/>
                <a:ea typeface="Calibri"/>
              </a:rPr>
              <a:t>Developed the portal app, integrated Kafka messaging services, connected with Spring APIs for notification services.</a:t>
            </a:r>
            <a:endParaRPr lang="en-IN" sz="1800" b="0" strike="noStrike" spc="-1">
              <a:latin typeface="Calibri"/>
              <a:ea typeface="Calibri"/>
              <a:cs typeface="Calibri"/>
            </a:endParaRPr>
          </a:p>
          <a:p>
            <a:pPr>
              <a:lnSpc>
                <a:spcPct val="100000"/>
              </a:lnSpc>
              <a:spcBef>
                <a:spcPts val="2115"/>
              </a:spcBef>
              <a:spcAft>
                <a:spcPts val="1060"/>
              </a:spcAft>
              <a:tabLst>
                <a:tab pos="0" algn="l"/>
              </a:tabLst>
            </a:pPr>
            <a:r>
              <a:rPr lang="en-US" sz="1800" b="0" strike="noStrike" spc="-1">
                <a:latin typeface="Calibri"/>
                <a:ea typeface="Calibri"/>
              </a:rPr>
              <a:t>Learned Kafka fundamentals &amp; installation from zero. AI helped understand topic creation, producers, and consumers. Extracted key concepts from large documentation within minutes.</a:t>
            </a:r>
            <a:endParaRPr lang="en-IN" sz="1800" b="0" strike="noStrike" spc="-1">
              <a:latin typeface="Calibri"/>
              <a:ea typeface="Calibri"/>
              <a:cs typeface="Calibri"/>
            </a:endParaRPr>
          </a:p>
          <a:p>
            <a:pPr>
              <a:lnSpc>
                <a:spcPct val="100000"/>
              </a:lnSpc>
              <a:spcBef>
                <a:spcPts val="2115"/>
              </a:spcBef>
              <a:spcAft>
                <a:spcPts val="1060"/>
              </a:spcAft>
              <a:tabLst>
                <a:tab pos="0" algn="l"/>
              </a:tabLst>
            </a:pPr>
            <a:r>
              <a:rPr lang="en-US" sz="1800" b="1" strike="noStrike" spc="-1">
                <a:latin typeface="Calibri"/>
                <a:ea typeface="Calibri"/>
              </a:rPr>
              <a:t>Kafka Concepts Implementation</a:t>
            </a:r>
            <a:endParaRPr lang="en-IN" sz="1800" b="0" strike="noStrike" spc="-1">
              <a:latin typeface="Calibri"/>
              <a:ea typeface="Calibri"/>
              <a:cs typeface="Calibri"/>
            </a:endParaRPr>
          </a:p>
          <a:p>
            <a:pPr>
              <a:lnSpc>
                <a:spcPct val="100000"/>
              </a:lnSpc>
              <a:spcBef>
                <a:spcPts val="2115"/>
              </a:spcBef>
              <a:spcAft>
                <a:spcPts val="1060"/>
              </a:spcAft>
              <a:tabLst>
                <a:tab pos="0" algn="l"/>
              </a:tabLst>
            </a:pPr>
            <a:r>
              <a:rPr lang="en-US" sz="1800" b="0" strike="noStrike" spc="-1">
                <a:latin typeface="Calibri"/>
                <a:ea typeface="Calibri"/>
              </a:rPr>
              <a:t>Implemented Kafka topics, producers &amp; consumers within the project. Started with no prior Kafka experience and successfully understood producer-consumer flow, topic management &amp; Spring Boot Kafka integration.</a:t>
            </a:r>
            <a:endParaRPr lang="en-IN" sz="1800" b="0" strike="noStrike" spc="-1">
              <a:latin typeface="Calibri"/>
              <a:ea typeface="Calibri"/>
              <a:cs typeface="Calibri"/>
            </a:endParaRPr>
          </a:p>
          <a:p>
            <a:pPr>
              <a:lnSpc>
                <a:spcPct val="100000"/>
              </a:lnSpc>
              <a:spcBef>
                <a:spcPts val="2115"/>
              </a:spcBef>
              <a:spcAft>
                <a:spcPts val="1060"/>
              </a:spcAft>
              <a:tabLst>
                <a:tab pos="0" algn="l"/>
              </a:tabLst>
            </a:pPr>
            <a:r>
              <a:rPr lang="en-US" sz="1800" b="1" strike="noStrike" spc="-1">
                <a:latin typeface="Calibri"/>
                <a:ea typeface="Calibri"/>
              </a:rPr>
              <a:t>Integration with Real-Time App (Jikan APP)</a:t>
            </a:r>
            <a:endParaRPr lang="en-IN" sz="1800" b="0" strike="noStrike" spc="-1">
              <a:latin typeface="Calibri"/>
              <a:ea typeface="Calibri"/>
              <a:cs typeface="Calibri"/>
            </a:endParaRPr>
          </a:p>
          <a:p>
            <a:pPr>
              <a:lnSpc>
                <a:spcPct val="100000"/>
              </a:lnSpc>
              <a:spcBef>
                <a:spcPts val="2115"/>
              </a:spcBef>
              <a:spcAft>
                <a:spcPts val="1060"/>
              </a:spcAft>
              <a:tabLst>
                <a:tab pos="0" algn="l"/>
              </a:tabLst>
            </a:pPr>
            <a:r>
              <a:rPr lang="en-US" sz="1800" b="0" strike="noStrike" spc="-1">
                <a:latin typeface="Calibri"/>
                <a:ea typeface="Calibri"/>
              </a:rPr>
              <a:t>Integrated a real-time application using Spring Boot APIs to connect Kafka with the portal app for communication.</a:t>
            </a:r>
            <a:endParaRPr lang="en-IN" sz="1800" b="0" strike="noStrike" spc="-1">
              <a:latin typeface="Calibri"/>
              <a:ea typeface="Calibri"/>
              <a:cs typeface="Calibri"/>
            </a:endParaRPr>
          </a:p>
          <a:p>
            <a:pPr>
              <a:lnSpc>
                <a:spcPct val="100000"/>
              </a:lnSpc>
              <a:spcBef>
                <a:spcPts val="2115"/>
              </a:spcBef>
              <a:spcAft>
                <a:spcPts val="1060"/>
              </a:spcAft>
              <a:tabLst>
                <a:tab pos="0" algn="l"/>
              </a:tabLst>
            </a:pPr>
            <a:endParaRPr lang="en-IN" sz="1800" b="0" strike="noStrike" spc="-1">
              <a:latin typeface="Calibri"/>
              <a:ea typeface="Calibri"/>
              <a:cs typeface="Calibri"/>
            </a:endParaRPr>
          </a:p>
        </p:txBody>
      </p:sp>
    </p:spTree>
    <p:extLst>
      <p:ext uri="{BB962C8B-B14F-4D97-AF65-F5344CB8AC3E}">
        <p14:creationId xmlns:p14="http://schemas.microsoft.com/office/powerpoint/2010/main" val="3608903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127C-DB9C-A9F8-D22D-43B76DAB9EB5}"/>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2C71D5-9865-FC05-F4C5-EC6EE414028B}"/>
              </a:ext>
            </a:extLst>
          </p:cNvPr>
          <p:cNvSpPr/>
          <p:nvPr/>
        </p:nvSpPr>
        <p:spPr>
          <a:xfrm>
            <a:off x="565621" y="1685414"/>
            <a:ext cx="11060976" cy="3485977"/>
          </a:xfrm>
          <a:prstGeom prst="rect">
            <a:avLst/>
          </a:prstGeom>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4000" b="1">
                <a:solidFill>
                  <a:schemeClr val="bg1"/>
                </a:solidFill>
                <a:latin typeface="Calibri"/>
                <a:ea typeface="Calibri"/>
                <a:cs typeface="Calibri"/>
              </a:rPr>
              <a:t>Jikan</a:t>
            </a:r>
            <a:endParaRPr lang="en-US">
              <a:solidFill>
                <a:schemeClr val="bg1"/>
              </a:solidFill>
            </a:endParaRPr>
          </a:p>
        </p:txBody>
      </p:sp>
    </p:spTree>
    <p:extLst>
      <p:ext uri="{BB962C8B-B14F-4D97-AF65-F5344CB8AC3E}">
        <p14:creationId xmlns:p14="http://schemas.microsoft.com/office/powerpoint/2010/main" val="3044744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781674" y="444349"/>
            <a:ext cx="11249166" cy="748080"/>
          </a:xfrm>
          <a:prstGeom prst="rect">
            <a:avLst/>
          </a:prstGeom>
          <a:noFill/>
          <a:ln w="0">
            <a:noFill/>
          </a:ln>
        </p:spPr>
        <p:txBody>
          <a:bodyPr lIns="91440" tIns="45720" rIns="91440" bIns="45720" anchor="ctr">
            <a:noAutofit/>
          </a:bodyPr>
          <a:lstStyle/>
          <a:p>
            <a:pPr indent="0" algn="l" defTabSz="914400">
              <a:lnSpc>
                <a:spcPct val="90000"/>
              </a:lnSpc>
              <a:spcBef>
                <a:spcPts val="1191"/>
              </a:spcBef>
              <a:spcAft>
                <a:spcPts val="992"/>
              </a:spcAft>
              <a:buNone/>
              <a:tabLst>
                <a:tab pos="0" algn="l"/>
              </a:tabLst>
            </a:pPr>
            <a:r>
              <a:rPr lang="en-IN" sz="3600" b="1" u="none" strike="noStrike">
                <a:effectLst/>
                <a:uFillTx/>
                <a:latin typeface="Calibri"/>
                <a:ea typeface="Calibri"/>
              </a:rPr>
              <a:t> Appointment &amp; Resource Management System</a:t>
            </a:r>
            <a:endParaRPr lang="en-US" sz="3600" b="1" u="none" strike="noStrike">
              <a:effectLst/>
              <a:uFillTx/>
              <a:latin typeface="Calibri"/>
              <a:cs typeface="Calibri"/>
            </a:endParaRPr>
          </a:p>
        </p:txBody>
      </p:sp>
      <p:sp>
        <p:nvSpPr>
          <p:cNvPr id="71" name="PlaceHolder 2"/>
          <p:cNvSpPr>
            <a:spLocks noGrp="1"/>
          </p:cNvSpPr>
          <p:nvPr>
            <p:ph/>
          </p:nvPr>
        </p:nvSpPr>
        <p:spPr>
          <a:xfrm>
            <a:off x="777965" y="1319869"/>
            <a:ext cx="11252875" cy="5509440"/>
          </a:xfrm>
          <a:prstGeom prst="rect">
            <a:avLst/>
          </a:prstGeom>
          <a:noFill/>
          <a:ln w="0">
            <a:noFill/>
          </a:ln>
        </p:spPr>
        <p:txBody>
          <a:bodyPr lIns="91440" tIns="45720" rIns="91440" bIns="45720" anchor="t">
            <a:noAutofit/>
          </a:bodyPr>
          <a:lstStyle/>
          <a:p>
            <a:pPr marL="228600" indent="-228600" algn="l" defTabSz="914400">
              <a:lnSpc>
                <a:spcPct val="90000"/>
              </a:lnSpc>
              <a:spcBef>
                <a:spcPts val="1191"/>
              </a:spcBef>
              <a:spcAft>
                <a:spcPts val="992"/>
              </a:spcAft>
              <a:buClr>
                <a:srgbClr val="000000"/>
              </a:buClr>
              <a:buFont typeface="Arial"/>
              <a:buChar char="•"/>
            </a:pPr>
            <a:r>
              <a:rPr lang="en-IN" sz="2400" b="0" u="none" strike="noStrike">
                <a:effectLst/>
                <a:uFillTx/>
                <a:latin typeface="Calibri"/>
                <a:ea typeface="Calibri"/>
              </a:rPr>
              <a:t>Jikan is a healthcare appointment scheduling and resource management application designed to streamline clinical operations. It enables healthcare staff to efficiently schedule appointments, manage resources, and optimize patient workflows across multiple facilities.</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pPr>
            <a:r>
              <a:rPr lang="en-IN" sz="2400" b="1" u="none" strike="noStrike">
                <a:effectLst/>
                <a:uFillTx/>
                <a:latin typeface="Calibri"/>
                <a:ea typeface="Calibri"/>
              </a:rPr>
              <a:t>Key Objectives :</a:t>
            </a:r>
            <a:endParaRPr lang="en-US" sz="2400" b="0" u="none" strike="noStrike">
              <a:effectLst/>
              <a:uFillTx/>
              <a:latin typeface="Calibri"/>
              <a:cs typeface="Calibri"/>
            </a:endParaRPr>
          </a:p>
          <a:p>
            <a:pPr marL="228600" indent="-228600" algn="just" defTabSz="914400">
              <a:lnSpc>
                <a:spcPct val="90000"/>
              </a:lnSpc>
              <a:spcBef>
                <a:spcPts val="1191"/>
              </a:spcBef>
              <a:spcAft>
                <a:spcPts val="992"/>
              </a:spcAft>
              <a:buClr>
                <a:srgbClr val="000000"/>
              </a:buClr>
              <a:buSzPct val="45000"/>
              <a:buFont typeface="Arial" charset="2"/>
              <a:buChar char="•"/>
            </a:pPr>
            <a:r>
              <a:rPr lang="en-IN" sz="2400" b="0" u="none" strike="noStrike">
                <a:effectLst/>
                <a:uFillTx/>
                <a:latin typeface="Calibri"/>
                <a:ea typeface="Calibri"/>
              </a:rPr>
              <a:t>Simplify appointment scheduling </a:t>
            </a:r>
            <a:endParaRPr lang="en-US" sz="2400" b="0" u="none" strike="noStrike">
              <a:effectLst/>
              <a:uFillTx/>
              <a:latin typeface="Calibri"/>
              <a:cs typeface="Calibri"/>
            </a:endParaRPr>
          </a:p>
          <a:p>
            <a:pPr marL="342900" indent="-342900" algn="just" defTabSz="914400">
              <a:lnSpc>
                <a:spcPct val="90000"/>
              </a:lnSpc>
              <a:spcBef>
                <a:spcPts val="1191"/>
              </a:spcBef>
              <a:spcAft>
                <a:spcPts val="992"/>
              </a:spcAft>
              <a:buClr>
                <a:srgbClr val="000000"/>
              </a:buClr>
              <a:buSzPct val="45000"/>
              <a:buFont typeface="Arial" charset="2"/>
              <a:buChar char="•"/>
            </a:pPr>
            <a:r>
              <a:rPr lang="en-IN" sz="2400" b="0" u="none" strike="noStrike">
                <a:effectLst/>
                <a:uFillTx/>
                <a:latin typeface="Calibri"/>
                <a:ea typeface="Calibri"/>
              </a:rPr>
              <a:t>Improve resource utilization </a:t>
            </a:r>
            <a:endParaRPr lang="en-US" sz="2400" b="0" u="none" strike="noStrike">
              <a:effectLst/>
              <a:uFillTx/>
              <a:latin typeface="Calibri"/>
              <a:cs typeface="Calibri"/>
            </a:endParaRPr>
          </a:p>
          <a:p>
            <a:pPr marL="228600" indent="-228600" algn="just" defTabSz="914400">
              <a:lnSpc>
                <a:spcPct val="90000"/>
              </a:lnSpc>
              <a:spcBef>
                <a:spcPts val="1191"/>
              </a:spcBef>
              <a:spcAft>
                <a:spcPts val="992"/>
              </a:spcAft>
              <a:buClr>
                <a:srgbClr val="000000"/>
              </a:buClr>
              <a:buSzPct val="45000"/>
              <a:buFont typeface="Arial" charset="2"/>
              <a:buChar char="•"/>
            </a:pPr>
            <a:r>
              <a:rPr lang="en-IN" sz="2400" b="0" u="none" strike="noStrike">
                <a:effectLst/>
                <a:uFillTx/>
                <a:latin typeface="Calibri"/>
                <a:ea typeface="Calibri"/>
              </a:rPr>
              <a:t>Support recurring appointments </a:t>
            </a: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p:txBody>
      </p:sp>
    </p:spTree>
    <p:extLst>
      <p:ext uri="{BB962C8B-B14F-4D97-AF65-F5344CB8AC3E}">
        <p14:creationId xmlns:p14="http://schemas.microsoft.com/office/powerpoint/2010/main" val="3813422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p:nvPr>
        </p:nvSpPr>
        <p:spPr>
          <a:xfrm>
            <a:off x="786485" y="706914"/>
            <a:ext cx="11405275" cy="5342526"/>
          </a:xfrm>
          <a:prstGeom prst="rect">
            <a:avLst/>
          </a:prstGeom>
          <a:noFill/>
          <a:ln w="0">
            <a:noFill/>
          </a:ln>
        </p:spPr>
        <p:txBody>
          <a:bodyPr lIns="91440" tIns="45720" rIns="91440" bIns="45720" anchor="t">
            <a:noAutofit/>
          </a:bodyPr>
          <a:lstStyle/>
          <a:p>
            <a:pPr marL="228600" indent="-228600" algn="l" defTabSz="914400">
              <a:lnSpc>
                <a:spcPct val="90000"/>
              </a:lnSpc>
              <a:spcBef>
                <a:spcPts val="1191"/>
              </a:spcBef>
              <a:spcAft>
                <a:spcPts val="992"/>
              </a:spcAft>
              <a:buClr>
                <a:srgbClr val="000000"/>
              </a:buClr>
              <a:buFont typeface="Arial"/>
              <a:buChar char="•"/>
            </a:pPr>
            <a:r>
              <a:rPr lang="en-IN" sz="2400" b="0" u="none" strike="noStrike">
                <a:effectLst/>
                <a:uFillTx/>
                <a:latin typeface="Calibri"/>
                <a:ea typeface="Calibri"/>
              </a:rPr>
              <a:t>Manage multiple healthcare facilities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pPr>
            <a:r>
              <a:rPr lang="en-IN" sz="2400" b="0" u="none" strike="noStrike">
                <a:effectLst/>
                <a:uFillTx/>
                <a:latin typeface="Calibri"/>
                <a:ea typeface="Calibri"/>
              </a:rPr>
              <a:t>Provide real-time appointment updates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pPr>
            <a:r>
              <a:rPr lang="en-IN" sz="2400" b="0" u="none" strike="noStrike">
                <a:effectLst/>
                <a:uFillTx/>
                <a:latin typeface="Calibri"/>
                <a:ea typeface="Calibri"/>
              </a:rPr>
              <a:t>Enhance operational efficiency</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pPr>
            <a:r>
              <a:rPr lang="en-IN" sz="2400" b="1" u="none" strike="noStrike">
                <a:effectLst/>
                <a:uFillTx/>
                <a:latin typeface="Calibri"/>
                <a:ea typeface="Calibri"/>
              </a:rPr>
              <a:t>Key Features :</a:t>
            </a:r>
            <a:endParaRPr lang="en-US" sz="2400" b="0" u="none" strike="noStrike">
              <a:effectLst/>
              <a:uFillTx/>
              <a:latin typeface="Calibri"/>
              <a:cs typeface="Calibri"/>
            </a:endParaRPr>
          </a:p>
          <a:p>
            <a:pPr marL="228600" indent="0" algn="just" defTabSz="914400">
              <a:lnSpc>
                <a:spcPct val="90000"/>
              </a:lnSpc>
              <a:spcBef>
                <a:spcPts val="1191"/>
              </a:spcBef>
              <a:spcAft>
                <a:spcPts val="992"/>
              </a:spcAft>
              <a:buNone/>
              <a:tabLst>
                <a:tab pos="0" algn="l"/>
              </a:tabLst>
            </a:pPr>
            <a:r>
              <a:rPr lang="en-IN" sz="2400" b="1" u="none" strike="noStrike">
                <a:effectLst/>
                <a:uFillTx/>
                <a:latin typeface="Calibri"/>
                <a:ea typeface="Calibri"/>
              </a:rPr>
              <a:t>Appointment Management :</a:t>
            </a:r>
            <a:endParaRPr lang="en-US" sz="2400" b="0" u="none" strike="noStrike">
              <a:effectLst/>
              <a:uFillTx/>
              <a:latin typeface="Calibri"/>
              <a:cs typeface="Calibri"/>
            </a:endParaRPr>
          </a:p>
          <a:p>
            <a:pPr marL="228600" indent="-228600" algn="just" defTabSz="914400">
              <a:lnSpc>
                <a:spcPct val="90000"/>
              </a:lnSpc>
              <a:spcBef>
                <a:spcPts val="1191"/>
              </a:spcBef>
              <a:spcAft>
                <a:spcPts val="992"/>
              </a:spcAft>
              <a:buClr>
                <a:srgbClr val="000000"/>
              </a:buClr>
              <a:buSzPct val="45000"/>
              <a:buFont typeface="Arial" charset="2"/>
              <a:buChar char="•"/>
              <a:tabLst>
                <a:tab pos="0" algn="l"/>
              </a:tabLst>
            </a:pPr>
            <a:r>
              <a:rPr lang="en-IN" sz="2400" b="0" u="none" strike="noStrike">
                <a:effectLst/>
                <a:uFillTx/>
                <a:latin typeface="Calibri"/>
                <a:ea typeface="Calibri"/>
              </a:rPr>
              <a:t>Create, edit, and cancel appointments </a:t>
            </a:r>
            <a:endParaRPr lang="en-US" sz="2400" b="0" u="none" strike="noStrike">
              <a:effectLst/>
              <a:uFillTx/>
              <a:latin typeface="Calibri"/>
              <a:cs typeface="Calibri"/>
            </a:endParaRPr>
          </a:p>
          <a:p>
            <a:pPr marL="228600" indent="-228600" algn="just" defTabSz="914400">
              <a:lnSpc>
                <a:spcPct val="90000"/>
              </a:lnSpc>
              <a:spcBef>
                <a:spcPts val="1191"/>
              </a:spcBef>
              <a:spcAft>
                <a:spcPts val="992"/>
              </a:spcAft>
              <a:buClr>
                <a:srgbClr val="000000"/>
              </a:buClr>
              <a:buSzPct val="45000"/>
              <a:buFont typeface="Arial" charset="2"/>
              <a:buChar char="•"/>
              <a:tabLst>
                <a:tab pos="0" algn="l"/>
              </a:tabLst>
            </a:pPr>
            <a:r>
              <a:rPr lang="en-IN" sz="2400" b="0" u="none" strike="noStrike">
                <a:effectLst/>
                <a:uFillTx/>
                <a:latin typeface="Calibri"/>
                <a:ea typeface="Calibri"/>
              </a:rPr>
              <a:t>Reinstate eligible cancelled appointments </a:t>
            </a:r>
            <a:endParaRPr lang="en-US" sz="2400" b="0" u="none" strike="noStrike">
              <a:effectLst/>
              <a:uFillTx/>
              <a:latin typeface="Calibri"/>
              <a:cs typeface="Calibri"/>
            </a:endParaRPr>
          </a:p>
          <a:p>
            <a:pPr marL="342900" indent="-342900" algn="just" defTabSz="914400">
              <a:lnSpc>
                <a:spcPct val="90000"/>
              </a:lnSpc>
              <a:spcBef>
                <a:spcPts val="1191"/>
              </a:spcBef>
              <a:spcAft>
                <a:spcPts val="992"/>
              </a:spcAft>
              <a:buClr>
                <a:srgbClr val="000000"/>
              </a:buClr>
              <a:buSzPct val="45000"/>
              <a:buFont typeface="Arial" charset="2"/>
              <a:buChar char="•"/>
              <a:tabLst>
                <a:tab pos="0" algn="l"/>
              </a:tabLst>
            </a:pPr>
            <a:r>
              <a:rPr lang="en-IN" sz="2400" b="0" u="none" strike="noStrike">
                <a:effectLst/>
                <a:uFillTx/>
                <a:latin typeface="Calibri"/>
                <a:ea typeface="Calibri"/>
              </a:rPr>
              <a:t>Search and filter appointments</a:t>
            </a:r>
            <a:endParaRPr lang="en-US" sz="2400" b="0" u="none" strike="noStrike">
              <a:effectLst/>
              <a:uFillTx/>
              <a:latin typeface="Calibri"/>
              <a:cs typeface="Calibri"/>
            </a:endParaRPr>
          </a:p>
          <a:p>
            <a:pPr marL="228600" indent="0" algn="just"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p:txBody>
      </p:sp>
    </p:spTree>
    <p:extLst>
      <p:ext uri="{BB962C8B-B14F-4D97-AF65-F5344CB8AC3E}">
        <p14:creationId xmlns:p14="http://schemas.microsoft.com/office/powerpoint/2010/main" val="1465551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p:nvPr>
        </p:nvSpPr>
        <p:spPr>
          <a:xfrm>
            <a:off x="779228" y="540000"/>
            <a:ext cx="11412532" cy="5509440"/>
          </a:xfrm>
          <a:prstGeom prst="rect">
            <a:avLst/>
          </a:prstGeom>
          <a:noFill/>
          <a:ln w="0">
            <a:noFill/>
          </a:ln>
        </p:spPr>
        <p:txBody>
          <a:bodyPr lIns="91440" tIns="45720" rIns="91440" bIns="45720" anchor="t">
            <a:noAutofit/>
          </a:bodyPr>
          <a:lstStyle/>
          <a:p>
            <a:pPr marL="228600" indent="0" algn="l" defTabSz="914400">
              <a:lnSpc>
                <a:spcPct val="90000"/>
              </a:lnSpc>
              <a:spcBef>
                <a:spcPts val="1191"/>
              </a:spcBef>
              <a:spcAft>
                <a:spcPts val="992"/>
              </a:spcAft>
              <a:buNone/>
              <a:tabLst>
                <a:tab pos="0" algn="l"/>
              </a:tabLst>
            </a:pPr>
            <a:r>
              <a:rPr lang="en-IN" sz="2400" b="1" u="none" strike="noStrike">
                <a:effectLst/>
                <a:uFillTx/>
                <a:latin typeface="Calibri"/>
                <a:ea typeface="Calibri"/>
              </a:rPr>
              <a:t>Calendar Management</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Day, Week, and Month views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Facility-based calendar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Time zone support</a:t>
            </a: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r>
              <a:rPr lang="en-IN" sz="2400" b="1" u="none" strike="noStrike">
                <a:effectLst/>
                <a:uFillTx/>
                <a:latin typeface="Calibri"/>
                <a:ea typeface="Calibri"/>
              </a:rPr>
              <a:t>Resource Management</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Physician assignment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Operator assignment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Equipment and room allocation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Resource availability validation</a:t>
            </a: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just"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p:txBody>
      </p:sp>
    </p:spTree>
    <p:extLst>
      <p:ext uri="{BB962C8B-B14F-4D97-AF65-F5344CB8AC3E}">
        <p14:creationId xmlns:p14="http://schemas.microsoft.com/office/powerpoint/2010/main" val="3961106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p:nvPr>
        </p:nvSpPr>
        <p:spPr>
          <a:xfrm>
            <a:off x="815514" y="540000"/>
            <a:ext cx="11376246" cy="5509440"/>
          </a:xfrm>
          <a:prstGeom prst="rect">
            <a:avLst/>
          </a:prstGeom>
          <a:noFill/>
          <a:ln w="0">
            <a:noFill/>
          </a:ln>
        </p:spPr>
        <p:txBody>
          <a:bodyPr lIns="91440" tIns="45720" rIns="91440" bIns="45720" anchor="t">
            <a:noAutofit/>
          </a:bodyPr>
          <a:lstStyle/>
          <a:p>
            <a:pPr marL="228600" indent="0" algn="l" defTabSz="914400">
              <a:lnSpc>
                <a:spcPct val="90000"/>
              </a:lnSpc>
              <a:spcBef>
                <a:spcPts val="1191"/>
              </a:spcBef>
              <a:spcAft>
                <a:spcPts val="992"/>
              </a:spcAft>
              <a:buNone/>
              <a:tabLst>
                <a:tab pos="0" algn="l"/>
              </a:tabLst>
            </a:pPr>
            <a:r>
              <a:rPr lang="en-IN" sz="2400" b="1" u="none" strike="noStrike">
                <a:effectLst/>
                <a:uFillTx/>
                <a:latin typeface="Calibri"/>
                <a:ea typeface="Calibri"/>
              </a:rPr>
              <a:t>User Management</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Secure login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Forgot Password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Role-based permissions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Session timeout handling</a:t>
            </a: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r>
              <a:rPr lang="en-IN" sz="2400" b="1" u="none" strike="noStrike">
                <a:effectLst/>
                <a:uFillTx/>
                <a:latin typeface="Calibri"/>
                <a:ea typeface="Calibri"/>
              </a:rPr>
              <a:t>Recurring Appointments and Complex Appointments</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Add Recurring Appointments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Edit Recurring Appointments</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Complex </a:t>
            </a:r>
            <a:r>
              <a:rPr lang="en-IN" sz="2400" b="0" u="none" strike="noStrike" err="1">
                <a:effectLst/>
                <a:uFillTx/>
                <a:latin typeface="Calibri"/>
                <a:ea typeface="Calibri"/>
              </a:rPr>
              <a:t>Appoitments</a:t>
            </a:r>
            <a:endParaRPr lang="en-US" sz="2400" b="0" u="none" strike="noStrike" err="1">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just"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p:txBody>
      </p:sp>
    </p:spTree>
    <p:extLst>
      <p:ext uri="{BB962C8B-B14F-4D97-AF65-F5344CB8AC3E}">
        <p14:creationId xmlns:p14="http://schemas.microsoft.com/office/powerpoint/2010/main" val="624571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p:nvPr>
        </p:nvSpPr>
        <p:spPr>
          <a:xfrm>
            <a:off x="815514" y="540000"/>
            <a:ext cx="11376246" cy="5509440"/>
          </a:xfrm>
          <a:prstGeom prst="rect">
            <a:avLst/>
          </a:prstGeom>
          <a:noFill/>
          <a:ln w="0">
            <a:noFill/>
          </a:ln>
        </p:spPr>
        <p:txBody>
          <a:bodyPr lIns="91440" tIns="45720" rIns="91440" bIns="45720" anchor="t">
            <a:noAutofit/>
          </a:bodyPr>
          <a:lstStyle/>
          <a:p>
            <a:pPr marL="228600" indent="0" algn="l" defTabSz="914400">
              <a:lnSpc>
                <a:spcPct val="90000"/>
              </a:lnSpc>
              <a:spcBef>
                <a:spcPts val="1191"/>
              </a:spcBef>
              <a:spcAft>
                <a:spcPts val="992"/>
              </a:spcAft>
              <a:buNone/>
              <a:tabLst>
                <a:tab pos="0" algn="l"/>
              </a:tabLst>
            </a:pPr>
            <a:r>
              <a:rPr lang="en-IN" sz="2400" b="1" u="none" strike="noStrike">
                <a:effectLst/>
                <a:uFillTx/>
                <a:latin typeface="Calibri"/>
                <a:ea typeface="Calibri"/>
              </a:rPr>
              <a:t>Technology Used </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Programming Language - Swift</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UI Framework - </a:t>
            </a:r>
            <a:r>
              <a:rPr lang="en-IN" sz="2400" b="0" u="none" strike="noStrike" err="1">
                <a:effectLst/>
                <a:uFillTx/>
                <a:latin typeface="Calibri"/>
                <a:ea typeface="Calibri"/>
              </a:rPr>
              <a:t>UIKit</a:t>
            </a:r>
            <a:endParaRPr lang="en-US" sz="2400" b="0" u="none" strike="noStrike" err="1">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Architecture Pattern - MVVM (Model–View–</a:t>
            </a:r>
            <a:r>
              <a:rPr lang="en-IN" sz="2400" b="0" u="none" strike="noStrike" err="1">
                <a:effectLst/>
                <a:uFillTx/>
                <a:latin typeface="Calibri"/>
                <a:ea typeface="Calibri"/>
              </a:rPr>
              <a:t>ViewModel</a:t>
            </a:r>
            <a:r>
              <a:rPr lang="en-IN" sz="2400" b="0" u="none" strike="noStrike">
                <a:effectLst/>
                <a:uFillTx/>
                <a:latin typeface="Calibri"/>
                <a:ea typeface="Calibri"/>
              </a:rPr>
              <a:t>)</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API Format - REST APIs</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Authentication - Token-based Authentication</a:t>
            </a:r>
            <a:endParaRPr lang="en-US" sz="2400" b="0" u="none" strike="noStrike">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Secure Storage - </a:t>
            </a:r>
            <a:r>
              <a:rPr lang="en-IN" sz="2400" b="0" u="none" strike="noStrike" err="1">
                <a:effectLst/>
                <a:uFillTx/>
                <a:latin typeface="Calibri"/>
                <a:ea typeface="Calibri"/>
              </a:rPr>
              <a:t>KeychainSwift</a:t>
            </a:r>
            <a:endParaRPr lang="en-US" sz="2400" b="0" u="none" strike="noStrike" err="1">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Local Storage - </a:t>
            </a:r>
            <a:r>
              <a:rPr lang="en-IN" sz="2400" b="0" u="none" strike="noStrike" err="1">
                <a:effectLst/>
                <a:uFillTx/>
                <a:latin typeface="Calibri"/>
                <a:ea typeface="Calibri"/>
              </a:rPr>
              <a:t>UserDefaults</a:t>
            </a:r>
            <a:endParaRPr lang="en-US" sz="2400" b="0" u="none" strike="noStrike" err="1">
              <a:effectLst/>
              <a:uFillTx/>
              <a:latin typeface="Calibri"/>
              <a:cs typeface="Calibri"/>
            </a:endParaRPr>
          </a:p>
          <a:p>
            <a:pPr marL="228600" indent="-228600" algn="l" defTabSz="914400">
              <a:lnSpc>
                <a:spcPct val="90000"/>
              </a:lnSpc>
              <a:spcBef>
                <a:spcPts val="1191"/>
              </a:spcBef>
              <a:spcAft>
                <a:spcPts val="992"/>
              </a:spcAft>
              <a:buClr>
                <a:srgbClr val="000000"/>
              </a:buClr>
              <a:buFont typeface="Arial"/>
              <a:buChar char="•"/>
              <a:tabLst>
                <a:tab pos="0" algn="l"/>
              </a:tabLst>
            </a:pPr>
            <a:r>
              <a:rPr lang="en-IN" sz="2400" b="0" u="none" strike="noStrike">
                <a:effectLst/>
                <a:uFillTx/>
                <a:latin typeface="Calibri"/>
                <a:ea typeface="Calibri"/>
              </a:rPr>
              <a:t>IDE (Integrated Development Environment) - Xcode</a:t>
            </a: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just"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a:p>
            <a:pPr marL="228600" indent="0" algn="l" defTabSz="914400">
              <a:lnSpc>
                <a:spcPct val="90000"/>
              </a:lnSpc>
              <a:spcBef>
                <a:spcPts val="1191"/>
              </a:spcBef>
              <a:spcAft>
                <a:spcPts val="992"/>
              </a:spcAft>
              <a:buNone/>
              <a:tabLst>
                <a:tab pos="0" algn="l"/>
              </a:tabLst>
            </a:pPr>
            <a:endParaRPr lang="en-US" sz="2400" b="0" u="none" strike="noStrike">
              <a:effectLst/>
              <a:uFillTx/>
              <a:latin typeface="Calibri"/>
              <a:cs typeface="Calibri"/>
            </a:endParaRPr>
          </a:p>
        </p:txBody>
      </p:sp>
    </p:spTree>
    <p:extLst>
      <p:ext uri="{BB962C8B-B14F-4D97-AF65-F5344CB8AC3E}">
        <p14:creationId xmlns:p14="http://schemas.microsoft.com/office/powerpoint/2010/main" val="3067909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38</Slides>
  <Notes>0</Notes>
  <HiddenSlides>0</HiddenSlides>
  <ScaleCrop>false</ScaleCrop>
  <HeadingPairs>
    <vt:vector size="4" baseType="variant">
      <vt:variant>
        <vt:lpstr>Theme</vt:lpstr>
      </vt:variant>
      <vt:variant>
        <vt:i4>3</vt:i4>
      </vt:variant>
      <vt:variant>
        <vt:lpstr>Slide Titles</vt:lpstr>
      </vt:variant>
      <vt:variant>
        <vt:i4>38</vt:i4>
      </vt:variant>
    </vt:vector>
  </HeadingPairs>
  <TitlesOfParts>
    <vt:vector size="41" baseType="lpstr">
      <vt:lpstr>Office Theme</vt:lpstr>
      <vt:lpstr>Office Theme</vt:lpstr>
      <vt:lpstr>Office Theme</vt:lpstr>
      <vt:lpstr>UI/UX Teams Updates</vt:lpstr>
      <vt:lpstr>PowerPoint Presentation</vt:lpstr>
      <vt:lpstr>Agenda</vt:lpstr>
      <vt:lpstr>Aithent Website — Progress, Comparison</vt:lpstr>
      <vt:lpstr>AI Integration — Chatbot &amp; Strategy </vt:lpstr>
      <vt:lpstr>QuinteFT, A2ORU &amp; Upcoming Projects </vt:lpstr>
      <vt:lpstr>Roadmap &amp; Timeline </vt:lpstr>
      <vt:lpstr>PowerPoint Presentation</vt:lpstr>
      <vt:lpstr>nCartes — What Was Implemented &amp; Impact</vt:lpstr>
      <vt:lpstr>IDS, Analytics &amp; Communications — What Was Implemented &amp; Impact</vt:lpstr>
      <vt:lpstr>QuinteFT — What Was Implemented &amp; Impact, and Overall Business Impact</vt:lpstr>
      <vt:lpstr>PowerPoint Presentation</vt:lpstr>
      <vt:lpstr>ADC Components – Updates and Improvements</vt:lpstr>
      <vt:lpstr>ADC Components - Enhancements</vt:lpstr>
      <vt:lpstr>ADC Components – New Creations</vt:lpstr>
      <vt:lpstr>Rich Text Editor</vt:lpstr>
      <vt:lpstr>PowerPoint Presentation</vt:lpstr>
      <vt:lpstr>PowerPoint Presentation</vt:lpstr>
      <vt:lpstr>PowerPoint Presentation</vt:lpstr>
      <vt:lpstr>Executive Summary</vt:lpstr>
      <vt:lpstr>Dashboard &amp; Library Growth</vt:lpstr>
      <vt:lpstr>ADC Editor Backend &amp; Cross-Team Impact</vt:lpstr>
      <vt:lpstr>AI-Assisted Development</vt:lpstr>
      <vt:lpstr>Challenges &amp; Learnings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Appointment &amp; Resource Management System</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Ancen Abraham</dc:creator>
  <dc:description/>
  <cp:revision>44</cp:revision>
  <dcterms:created xsi:type="dcterms:W3CDTF">2024-12-17T12:28:27Z</dcterms:created>
  <dcterms:modified xsi:type="dcterms:W3CDTF">2026-07-17T10:15:02Z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vt:i4>
  </property>
</Properties>
</file>